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accent-rule Layout"/>
          <p:cNvSpPr/>
          <p:nvPr/>
        </p:nvSpPr>
        <p:spPr>
          <a:xfrm>
            <a:off x="533400" y="13335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layout-bottom-divider Layout"/>
          <p:cNvSpPr/>
          <p:nvPr/>
        </p:nvSpPr>
        <p:spPr>
          <a:xfrm>
            <a:off x="533400" y="64008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itle-slot Placeholder"/>
          <p:cNvSpPr>
            <a:spLocks noGrp="1"/>
          </p:cNvSpPr>
          <p:nvPr>
            <p:ph type="title"/>
          </p:nvPr>
        </p:nvSpPr>
        <p:spPr>
          <a:xfrm>
            <a:off x="533400" y="2705100"/>
            <a:ext cx="11125200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4200"/>
            </a:lvl1pPr>
          </a:lstStyle>
          <a:p>
            <a:r>
              <a:rPr lang="ko-KR" sz="4200" spc="-126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subtitle-slot Placeholder"/>
          <p:cNvSpPr>
            <a:spLocks noGrp="1"/>
          </p:cNvSpPr>
          <p:nvPr>
            <p:ph type="subTitle" idx="2"/>
          </p:nvPr>
        </p:nvSpPr>
        <p:spPr>
          <a:xfrm>
            <a:off x="533400" y="4229100"/>
            <a:ext cx="111252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 marL="0" indent="0">
              <a:buNone/>
              <a:defRPr sz="1380"/>
            </a:lvl1pPr>
          </a:lstStyle>
          <a:p>
            <a:pPr marL="0" indent="0">
              <a:buNone/>
            </a:pPr>
            <a:r>
              <a:rPr lang="ko-KR" sz="13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subtitle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headline-rule Layout"/>
          <p:cNvSpPr/>
          <p:nvPr/>
        </p:nvSpPr>
        <p:spPr>
          <a:xfrm>
            <a:off x="533400" y="1333500"/>
            <a:ext cx="457200" cy="190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itle-slot Placeholder"/>
          <p:cNvSpPr>
            <a:spLocks noGrp="1"/>
          </p:cNvSpPr>
          <p:nvPr>
            <p:ph type="title"/>
          </p:nvPr>
        </p:nvSpPr>
        <p:spPr>
          <a:xfrm>
            <a:off x="533400" y="590550"/>
            <a:ext cx="111252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2400"/>
            </a:lvl1pPr>
          </a:lstStyle>
          <a:p>
            <a:r>
              <a:rPr lang="ko-KR" sz="2400" b="1" spc="-48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age-number-slot Placeholder"/>
          <p:cNvSpPr>
            <a:spLocks noGrp="1"/>
          </p:cNvSpPr>
          <p:nvPr>
            <p:ph type="sldNum" idx="3"/>
          </p:nvPr>
        </p:nvSpPr>
        <p:spPr>
          <a:xfrm>
            <a:off x="10477500" y="6496050"/>
            <a:ext cx="11811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960"/>
            </a:lvl1pPr>
          </a:lstStyle>
          <a:p>
            <a:fld id="{6A770B6F-2CA2-4559-9527-0D6F14786286}" type="slidenum">
              <a:rPr lang="en-US" sz="9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-accent-rule Layout"/>
          <p:cNvSpPr/>
          <p:nvPr/>
        </p:nvSpPr>
        <p:spPr>
          <a:xfrm>
            <a:off x="533400" y="13335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layout-bottom-divider Layout"/>
          <p:cNvSpPr/>
          <p:nvPr/>
        </p:nvSpPr>
        <p:spPr>
          <a:xfrm>
            <a:off x="533400" y="640080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</p:sp>
      <p:sp>
        <p:nvSpPr>
          <p:cNvPr id="4" name="title-slot Placeholder"/>
          <p:cNvSpPr>
            <a:spLocks noGrp="1"/>
          </p:cNvSpPr>
          <p:nvPr>
            <p:ph type="title"/>
          </p:nvPr>
        </p:nvSpPr>
        <p:spPr>
          <a:xfrm>
            <a:off x="533400" y="2705100"/>
            <a:ext cx="11125200" cy="647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>
            <a:lvl1pPr>
              <a:defRPr sz="4200"/>
            </a:lvl1pPr>
          </a:lstStyle>
          <a:p>
            <a:r>
              <a:rPr lang="ko-KR" sz="4200" spc="-126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Jangp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14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4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14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4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4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4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4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14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1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1140"/>
      </a:defPPr>
      <a:lvl1pPr marL="0" algn="l" defTabSz="457200" rtl="0" eaLnBrk="1" latinLnBrk="0" hangingPunct="1">
        <a:defRPr sz="114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4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14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4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4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4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4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14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1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-slot Placeholder Carrier"/>
          <p:cNvSpPr txBox="1">
            <a:spLocks noGrp="1"/>
          </p:cNvSpPr>
          <p:nvPr>
            <p:ph type="title"/>
          </p:nvPr>
        </p:nvSpPr>
        <p:spPr>
          <a:xfrm>
            <a:off x="514350" y="2785110"/>
            <a:ext cx="5961374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4200" spc="-126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Elasticsearch 기반 RAG</a:t>
            </a:r>
          </a:p>
        </p:txBody>
      </p:sp>
      <p:sp>
        <p:nvSpPr>
          <p:cNvPr id="6" name="subtitle-slot Placeholder Carrier"/>
          <p:cNvSpPr txBox="1">
            <a:spLocks noGrp="1"/>
          </p:cNvSpPr>
          <p:nvPr>
            <p:ph type="subTitle" idx="2"/>
          </p:nvPr>
        </p:nvSpPr>
        <p:spPr>
          <a:xfrm>
            <a:off x="526390" y="4327779"/>
            <a:ext cx="4008196" cy="269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indent="0" algn="l">
              <a:buNone/>
            </a:pPr>
            <a:r>
              <a:rPr lang="ko-KR" sz="13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색인부터 평가까지 직접 구현하는 실전 프로젝트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28523" y="1610868"/>
            <a:ext cx="1532291" cy="187757"/>
            <a:chOff x="528523" y="1610868"/>
            <a:chExt cx="1532291" cy="187757"/>
          </a:xfrm>
        </p:grpSpPr>
        <p:sp>
          <p:nvSpPr>
            <p:cNvPr id="8" name="TextBox 8"/>
            <p:cNvSpPr txBox="1"/>
            <p:nvPr/>
          </p:nvSpPr>
          <p:spPr>
            <a:xfrm>
              <a:off x="528523" y="1610868"/>
              <a:ext cx="1532291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spc="48" dirty="0">
                  <a:solidFill>
                    <a:schemeClr val="dk2"/>
                  </a:solidFill>
                  <a:latin typeface="Pretendard SemiBold"/>
                  <a:ea typeface="Pretendard SemiBold"/>
                  <a:cs typeface="Pretendard SemiBold"/>
                </a:rPr>
                <a:t>PRACTICAL PROJECT IV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8160" y="3581400"/>
            <a:ext cx="2922118" cy="586740"/>
            <a:chOff x="518160" y="3581400"/>
            <a:chExt cx="2922118" cy="586740"/>
          </a:xfrm>
        </p:grpSpPr>
        <p:sp>
          <p:nvSpPr>
            <p:cNvPr id="10" name="TextBox 10"/>
            <p:cNvSpPr txBox="1"/>
            <p:nvPr/>
          </p:nvSpPr>
          <p:spPr>
            <a:xfrm>
              <a:off x="518160" y="3581400"/>
              <a:ext cx="292211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000" spc="-60" dirty="0">
                  <a:solidFill>
                    <a:schemeClr val="accent2"/>
                  </a:solidFill>
                  <a:latin typeface="Pretendard ExtraBold"/>
                  <a:ea typeface="Pretendard ExtraBold"/>
                  <a:cs typeface="Pretendard ExtraBold"/>
                </a:rPr>
                <a:t>검색 파이프라인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76250" y="5200650"/>
            <a:ext cx="3790950" cy="484175"/>
            <a:chOff x="476250" y="5200650"/>
            <a:chExt cx="3790950" cy="484175"/>
          </a:xfrm>
        </p:grpSpPr>
        <p:sp>
          <p:nvSpPr>
            <p:cNvPr id="12" name="Line 12"/>
            <p:cNvSpPr/>
            <p:nvPr/>
          </p:nvSpPr>
          <p:spPr>
            <a:xfrm>
              <a:off x="533400" y="5276850"/>
              <a:ext cx="3657600" cy="9525"/>
            </a:xfrm>
            <a:custGeom>
              <a:avLst/>
              <a:gdLst/>
              <a:ahLst/>
              <a:cxnLst/>
              <a:rect l="l" t="t" r="r" b="b"/>
              <a:pathLst>
                <a:path w="3657600" h="9525">
                  <a:moveTo>
                    <a:pt x="0" y="0"/>
                  </a:moveTo>
                  <a:lnTo>
                    <a:pt x="3657600" y="0"/>
                  </a:lnTo>
                </a:path>
              </a:pathLst>
            </a:custGeom>
            <a:noFill/>
            <a:ln w="19050">
              <a:solidFill>
                <a:srgbClr val="D4D4D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Ellipse 13"/>
            <p:cNvSpPr/>
            <p:nvPr/>
          </p:nvSpPr>
          <p:spPr>
            <a:xfrm>
              <a:off x="476250" y="5219700"/>
              <a:ext cx="114300" cy="114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Ellipse 14"/>
            <p:cNvSpPr/>
            <p:nvPr/>
          </p:nvSpPr>
          <p:spPr>
            <a:xfrm>
              <a:off x="1390650" y="5219700"/>
              <a:ext cx="114300" cy="114300"/>
            </a:xfrm>
            <a:prstGeom prst="ellipse">
              <a:avLst/>
            </a:prstGeom>
            <a:solidFill>
              <a:srgbClr val="D4D4D4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Ellipse 15"/>
            <p:cNvSpPr/>
            <p:nvPr/>
          </p:nvSpPr>
          <p:spPr>
            <a:xfrm>
              <a:off x="2305050" y="5219700"/>
              <a:ext cx="114300" cy="114300"/>
            </a:xfrm>
            <a:prstGeom prst="ellipse">
              <a:avLst/>
            </a:prstGeom>
            <a:solidFill>
              <a:srgbClr val="D4D4D4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Ellipse 16"/>
            <p:cNvSpPr/>
            <p:nvPr/>
          </p:nvSpPr>
          <p:spPr>
            <a:xfrm>
              <a:off x="3219450" y="5219700"/>
              <a:ext cx="114300" cy="114300"/>
            </a:xfrm>
            <a:prstGeom prst="ellipse">
              <a:avLst/>
            </a:prstGeom>
            <a:solidFill>
              <a:srgbClr val="D4D4D4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Ellipse 17"/>
            <p:cNvSpPr/>
            <p:nvPr/>
          </p:nvSpPr>
          <p:spPr>
            <a:xfrm>
              <a:off x="4114800" y="52006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8523" y="5497068"/>
              <a:ext cx="268224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문서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76573" y="5497068"/>
              <a:ext cx="268224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960" dirty="0">
                  <a:solidFill>
                    <a:schemeClr val="accent2"/>
                  </a:solidFill>
                  <a:latin typeface="Pretendard Medium"/>
                  <a:ea typeface="Pretendard Medium"/>
                  <a:cs typeface="Pretendard Medium"/>
                </a:rPr>
                <a:t>검색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527609" y="6125337"/>
            <a:ext cx="2338487" cy="2229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114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실전프로젝트 IV · 2026년 2학기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-slot Placeholder Carrier"/>
          <p:cNvSpPr txBox="1">
            <a:spLocks noGrp="1"/>
          </p:cNvSpPr>
          <p:nvPr>
            <p:ph type="title"/>
          </p:nvPr>
        </p:nvSpPr>
        <p:spPr>
          <a:xfrm>
            <a:off x="521208" y="655320"/>
            <a:ext cx="442045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400" b="1" spc="-48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RAG에서 우리가 만드는 부분</a:t>
            </a:r>
          </a:p>
        </p:txBody>
      </p:sp>
      <p:sp>
        <p:nvSpPr>
          <p:cNvPr id="5" name="page-number-slot Placeholder Carrier"/>
          <p:cNvSpPr txBox="1">
            <a:spLocks noGrp="1"/>
          </p:cNvSpPr>
          <p:nvPr>
            <p:ph type="sldNum" idx="3"/>
          </p:nvPr>
        </p:nvSpPr>
        <p:spPr>
          <a:xfrm>
            <a:off x="11220785" y="6525768"/>
            <a:ext cx="442692" cy="1877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02 / 08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43000" y="3009900"/>
            <a:ext cx="9753600" cy="9525"/>
            <a:chOff x="1143000" y="3009900"/>
            <a:chExt cx="9753600" cy="9525"/>
          </a:xfrm>
        </p:grpSpPr>
        <p:sp>
          <p:nvSpPr>
            <p:cNvPr id="6" name="Line 6"/>
            <p:cNvSpPr/>
            <p:nvPr/>
          </p:nvSpPr>
          <p:spPr>
            <a:xfrm>
              <a:off x="1143000" y="30099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9050">
              <a:solidFill>
                <a:srgbClr val="D4D4D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5800" y="2552700"/>
            <a:ext cx="914400" cy="1608125"/>
            <a:chOff x="685800" y="2552700"/>
            <a:chExt cx="914400" cy="1608125"/>
          </a:xfrm>
        </p:grpSpPr>
        <p:sp>
          <p:nvSpPr>
            <p:cNvPr id="8" name="Ellipse 8"/>
            <p:cNvSpPr/>
            <p:nvPr/>
          </p:nvSpPr>
          <p:spPr>
            <a:xfrm>
              <a:off x="685800" y="2552700"/>
              <a:ext cx="914400" cy="9144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4D4D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1009650" y="2838450"/>
              <a:ext cx="266700" cy="342900"/>
              <a:chOff x="1009650" y="2838450"/>
              <a:chExt cx="266700" cy="3429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181100" y="283845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86721"/>
                      <a:pt x="8529" y="95250"/>
                      <a:pt x="19050" y="95250"/>
                    </a:cubicBezTo>
                    <a:lnTo>
                      <a:pt x="95250" y="9525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009650" y="2838450"/>
                <a:ext cx="2667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42900">
                    <a:moveTo>
                      <a:pt x="228600" y="342900"/>
                    </a:moveTo>
                    <a:lnTo>
                      <a:pt x="38100" y="342900"/>
                    </a:lnTo>
                    <a:cubicBezTo>
                      <a:pt x="17058" y="342900"/>
                      <a:pt x="0" y="325842"/>
                      <a:pt x="0" y="3048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171450" y="0"/>
                    </a:lnTo>
                    <a:lnTo>
                      <a:pt x="266700" y="95250"/>
                    </a:lnTo>
                    <a:lnTo>
                      <a:pt x="266700" y="304800"/>
                    </a:lnTo>
                    <a:cubicBezTo>
                      <a:pt x="266700" y="325842"/>
                      <a:pt x="249642" y="342900"/>
                      <a:pt x="228600" y="342900"/>
                    </a:cubicBez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1" name="Freeform 11"/>
              <p:cNvSpPr/>
              <p:nvPr/>
            </p:nvSpPr>
            <p:spPr>
              <a:xfrm>
                <a:off x="1085850" y="29527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1085850" y="30289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1085850" y="31051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736572" y="3584829"/>
              <a:ext cx="812856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문서 수집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0268" y="3973068"/>
              <a:ext cx="565465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원문 확보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124200" y="2552700"/>
            <a:ext cx="914400" cy="1608125"/>
            <a:chOff x="3124200" y="2552700"/>
            <a:chExt cx="914400" cy="1608125"/>
          </a:xfrm>
        </p:grpSpPr>
        <p:sp>
          <p:nvSpPr>
            <p:cNvPr id="18" name="Ellipse 18"/>
            <p:cNvSpPr/>
            <p:nvPr/>
          </p:nvSpPr>
          <p:spPr>
            <a:xfrm>
              <a:off x="3124200" y="2552700"/>
              <a:ext cx="914400" cy="9144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4D4D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3409950" y="2857500"/>
              <a:ext cx="342900" cy="304800"/>
              <a:chOff x="3409950" y="2857500"/>
              <a:chExt cx="342900" cy="304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409950" y="2933700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76200" y="0"/>
                    </a:moveTo>
                    <a:lnTo>
                      <a:pt x="0" y="76200"/>
                    </a:lnTo>
                    <a:lnTo>
                      <a:pt x="76200" y="15240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3676650" y="2933700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0" y="0"/>
                    </a:moveTo>
                    <a:lnTo>
                      <a:pt x="76200" y="76200"/>
                    </a:lnTo>
                    <a:lnTo>
                      <a:pt x="0" y="15240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3543300" y="2857500"/>
                <a:ext cx="762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04800">
                    <a:moveTo>
                      <a:pt x="76200" y="0"/>
                    </a:moveTo>
                    <a:lnTo>
                      <a:pt x="0" y="30480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3151750" y="3584829"/>
              <a:ext cx="859300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파싱·청킹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50047" y="3973068"/>
              <a:ext cx="862706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검색 단위 생성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497262" y="2552700"/>
            <a:ext cx="1045075" cy="1608125"/>
            <a:chOff x="5497262" y="2552700"/>
            <a:chExt cx="1045075" cy="1608125"/>
          </a:xfrm>
        </p:grpSpPr>
        <p:sp>
          <p:nvSpPr>
            <p:cNvPr id="26" name="Ellipse 26"/>
            <p:cNvSpPr/>
            <p:nvPr/>
          </p:nvSpPr>
          <p:spPr>
            <a:xfrm>
              <a:off x="5562600" y="2552700"/>
              <a:ext cx="914400" cy="9144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4D4D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5867400" y="2838450"/>
              <a:ext cx="304800" cy="342900"/>
              <a:chOff x="5867400" y="2838450"/>
              <a:chExt cx="304800" cy="3429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5867400" y="2838450"/>
                <a:ext cx="3048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14300">
                    <a:moveTo>
                      <a:pt x="0" y="57150"/>
                    </a:moveTo>
                    <a:cubicBezTo>
                      <a:pt x="0" y="88713"/>
                      <a:pt x="68232" y="114300"/>
                      <a:pt x="152400" y="114300"/>
                    </a:cubicBezTo>
                    <a:cubicBezTo>
                      <a:pt x="236568" y="114300"/>
                      <a:pt x="304800" y="88713"/>
                      <a:pt x="304800" y="57150"/>
                    </a:cubicBezTo>
                    <a:cubicBezTo>
                      <a:pt x="304800" y="25587"/>
                      <a:pt x="236568" y="0"/>
                      <a:pt x="152400" y="0"/>
                    </a:cubicBezTo>
                    <a:cubicBezTo>
                      <a:pt x="68232" y="0"/>
                      <a:pt x="0" y="25587"/>
                      <a:pt x="0" y="57150"/>
                    </a:cubicBez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5867400" y="289560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9" name="Freeform 29"/>
              <p:cNvSpPr/>
              <p:nvPr/>
            </p:nvSpPr>
            <p:spPr>
              <a:xfrm>
                <a:off x="5867400" y="300990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5497262" y="3584829"/>
              <a:ext cx="1045075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임베딩·색인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504444" y="3973068"/>
              <a:ext cx="1030712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두 검색 방식 준비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962229" y="2552700"/>
            <a:ext cx="991941" cy="1608125"/>
            <a:chOff x="7962229" y="2552700"/>
            <a:chExt cx="991941" cy="1608125"/>
          </a:xfrm>
        </p:grpSpPr>
        <p:sp>
          <p:nvSpPr>
            <p:cNvPr id="34" name="Ellipse 34"/>
            <p:cNvSpPr/>
            <p:nvPr/>
          </p:nvSpPr>
          <p:spPr>
            <a:xfrm>
              <a:off x="8001000" y="2552700"/>
              <a:ext cx="914400" cy="9144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4D4D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8286750" y="2838450"/>
              <a:ext cx="342900" cy="342900"/>
              <a:chOff x="8286750" y="2838450"/>
              <a:chExt cx="342900" cy="3429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286750" y="283845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0" y="133350"/>
                    </a:moveTo>
                    <a:cubicBezTo>
                      <a:pt x="0" y="206997"/>
                      <a:pt x="59703" y="266700"/>
                      <a:pt x="133350" y="266700"/>
                    </a:cubicBezTo>
                    <a:cubicBezTo>
                      <a:pt x="206997" y="266700"/>
                      <a:pt x="266700" y="206997"/>
                      <a:pt x="266700" y="133350"/>
                    </a:cubicBezTo>
                    <a:cubicBezTo>
                      <a:pt x="266700" y="59703"/>
                      <a:pt x="206997" y="0"/>
                      <a:pt x="133350" y="0"/>
                    </a:cubicBezTo>
                    <a:cubicBezTo>
                      <a:pt x="59703" y="0"/>
                      <a:pt x="0" y="59703"/>
                      <a:pt x="0" y="133350"/>
                    </a:cubicBez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6" name="Freeform 36"/>
              <p:cNvSpPr/>
              <p:nvPr/>
            </p:nvSpPr>
            <p:spPr>
              <a:xfrm>
                <a:off x="8515350" y="30670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14300" y="11430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8265414" y="3584829"/>
              <a:ext cx="385572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검색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62229" y="3973068"/>
              <a:ext cx="991941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질문에 맞는 문서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281175" y="2514600"/>
            <a:ext cx="1230851" cy="1646225"/>
            <a:chOff x="10281175" y="2514600"/>
            <a:chExt cx="1230851" cy="1646225"/>
          </a:xfrm>
        </p:grpSpPr>
        <p:sp>
          <p:nvSpPr>
            <p:cNvPr id="41" name="Ellipse 41"/>
            <p:cNvSpPr/>
            <p:nvPr/>
          </p:nvSpPr>
          <p:spPr>
            <a:xfrm>
              <a:off x="10401300" y="2514600"/>
              <a:ext cx="990600" cy="990600"/>
            </a:xfrm>
            <a:prstGeom prst="ellipse">
              <a:avLst/>
            </a:prstGeom>
            <a:solidFill>
              <a:srgbClr val="E8E5FC"/>
            </a:solidFill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10763250" y="2838450"/>
              <a:ext cx="266700" cy="342900"/>
              <a:chOff x="10763250" y="2838450"/>
              <a:chExt cx="266700" cy="3429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0934700" y="283845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86721"/>
                      <a:pt x="8529" y="95250"/>
                      <a:pt x="19050" y="95250"/>
                    </a:cubicBezTo>
                    <a:lnTo>
                      <a:pt x="95250" y="95250"/>
                    </a:lnTo>
                  </a:path>
                </a:pathLst>
              </a:custGeom>
              <a:noFill/>
              <a:ln w="38100">
                <a:solidFill>
                  <a:srgbClr val="2E1FB3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10763250" y="2838450"/>
                <a:ext cx="2667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42900">
                    <a:moveTo>
                      <a:pt x="228600" y="342900"/>
                    </a:moveTo>
                    <a:lnTo>
                      <a:pt x="38100" y="342900"/>
                    </a:lnTo>
                    <a:cubicBezTo>
                      <a:pt x="17058" y="342900"/>
                      <a:pt x="0" y="325842"/>
                      <a:pt x="0" y="3048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171450" y="0"/>
                    </a:lnTo>
                    <a:lnTo>
                      <a:pt x="266700" y="95250"/>
                    </a:lnTo>
                    <a:lnTo>
                      <a:pt x="266700" y="304800"/>
                    </a:lnTo>
                    <a:cubicBezTo>
                      <a:pt x="266700" y="325842"/>
                      <a:pt x="249642" y="342900"/>
                      <a:pt x="228600" y="342900"/>
                    </a:cubicBezTo>
                  </a:path>
                </a:pathLst>
              </a:custGeom>
              <a:noFill/>
              <a:ln w="38100">
                <a:solidFill>
                  <a:srgbClr val="2E1FB3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4" name="Freeform 44"/>
              <p:cNvSpPr/>
              <p:nvPr/>
            </p:nvSpPr>
            <p:spPr>
              <a:xfrm>
                <a:off x="10839450" y="295275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38100">
                <a:solidFill>
                  <a:srgbClr val="2E1FB3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10839450" y="30289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38100">
                <a:solidFill>
                  <a:srgbClr val="2E1FB3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10839450" y="31051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38100">
                <a:solidFill>
                  <a:srgbClr val="2E1FB3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10281175" y="3584829"/>
              <a:ext cx="1230851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컨텍스트·원문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613868" y="3973068"/>
              <a:ext cx="565465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완료 지점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26390" y="4762500"/>
            <a:ext cx="11132210" cy="444395"/>
            <a:chOff x="526390" y="4762500"/>
            <a:chExt cx="11132210" cy="444395"/>
          </a:xfrm>
        </p:grpSpPr>
        <p:sp>
          <p:nvSpPr>
            <p:cNvPr id="51" name="Line 51"/>
            <p:cNvSpPr/>
            <p:nvPr/>
          </p:nvSpPr>
          <p:spPr>
            <a:xfrm>
              <a:off x="533400" y="47625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4D4D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26390" y="4994529"/>
              <a:ext cx="2644955" cy="2123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검색 결과와 원문 정보를 구성하는 단계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608936" y="6353937"/>
            <a:ext cx="2974129" cy="222961"/>
            <a:chOff x="4608936" y="6353937"/>
            <a:chExt cx="2974129" cy="222961"/>
          </a:xfrm>
        </p:grpSpPr>
        <p:sp>
          <p:nvSpPr>
            <p:cNvPr id="55" name="TextBox 55"/>
            <p:cNvSpPr txBox="1"/>
            <p:nvPr/>
          </p:nvSpPr>
          <p:spPr>
            <a:xfrm>
              <a:off x="4608936" y="6353937"/>
              <a:ext cx="2974129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검색 품질이 RAG의 출발점을 결정한다.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-slot Placeholder Carrier"/>
          <p:cNvSpPr txBox="1">
            <a:spLocks noGrp="1"/>
          </p:cNvSpPr>
          <p:nvPr>
            <p:ph type="title"/>
          </p:nvPr>
        </p:nvSpPr>
        <p:spPr>
          <a:xfrm>
            <a:off x="521208" y="655320"/>
            <a:ext cx="416798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400" b="1" spc="-48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수업을 마치면 할 수 있는 것</a:t>
            </a:r>
          </a:p>
        </p:txBody>
      </p:sp>
      <p:sp>
        <p:nvSpPr>
          <p:cNvPr id="5" name="page-number-slot Placeholder Carrier"/>
          <p:cNvSpPr txBox="1">
            <a:spLocks noGrp="1"/>
          </p:cNvSpPr>
          <p:nvPr>
            <p:ph type="sldNum" idx="3"/>
          </p:nvPr>
        </p:nvSpPr>
        <p:spPr>
          <a:xfrm>
            <a:off x="11220785" y="6525768"/>
            <a:ext cx="442692" cy="1877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03 / 08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14350" y="2190750"/>
            <a:ext cx="1083717" cy="1740179"/>
            <a:chOff x="514350" y="2190750"/>
            <a:chExt cx="1083717" cy="1740179"/>
          </a:xfrm>
        </p:grpSpPr>
        <p:sp>
          <p:nvSpPr>
            <p:cNvPr id="6" name="TextBox 6"/>
            <p:cNvSpPr txBox="1"/>
            <p:nvPr/>
          </p:nvSpPr>
          <p:spPr>
            <a:xfrm>
              <a:off x="514350" y="2190750"/>
              <a:ext cx="704469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0" dirty="0">
                  <a:solidFill>
                    <a:srgbClr val="E8E5FC"/>
                  </a:solidFill>
                  <a:latin typeface="Pretendard ExtraBold"/>
                  <a:ea typeface="Pretendard ExtraBold"/>
                  <a:cs typeface="Pretendard ExtraBold"/>
                </a:rPr>
                <a:t>5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2590" y="3394329"/>
              <a:ext cx="828629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80" dirty="0">
                  <a:solidFill>
                    <a:schemeClr val="dk2"/>
                  </a:solidFill>
                  <a:latin typeface="Pretendard SemiBold"/>
                  <a:ea typeface="Pretendard SemiBold"/>
                  <a:cs typeface="Pretendard SemiBold"/>
                </a:rPr>
                <a:t>LEARNING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2590" y="3661029"/>
              <a:ext cx="995477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80" dirty="0">
                  <a:solidFill>
                    <a:schemeClr val="dk2"/>
                  </a:solidFill>
                  <a:latin typeface="Pretendard SemiBold"/>
                  <a:ea typeface="Pretendard SemiBold"/>
                  <a:cs typeface="Pretendard SemiBold"/>
                </a:rPr>
                <a:t>OUTCOMES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090623" y="1752600"/>
            <a:ext cx="9567977" cy="463829"/>
            <a:chOff x="2090623" y="1752600"/>
            <a:chExt cx="9567977" cy="463829"/>
          </a:xfrm>
        </p:grpSpPr>
        <p:sp>
          <p:nvSpPr>
            <p:cNvPr id="10" name="Line 10"/>
            <p:cNvSpPr/>
            <p:nvPr/>
          </p:nvSpPr>
          <p:spPr>
            <a:xfrm>
              <a:off x="2095500" y="1752600"/>
              <a:ext cx="9563100" cy="9525"/>
            </a:xfrm>
            <a:custGeom>
              <a:avLst/>
              <a:gdLst/>
              <a:ahLst/>
              <a:cxnLst/>
              <a:rect l="l" t="t" r="r" b="b"/>
              <a:pathLst>
                <a:path w="9563100" h="9525">
                  <a:moveTo>
                    <a:pt x="0" y="0"/>
                  </a:moveTo>
                  <a:lnTo>
                    <a:pt x="95631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90623" y="1991868"/>
              <a:ext cx="151912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850490" y="1946529"/>
              <a:ext cx="859300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매핑·색인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47209" y="1972437"/>
              <a:ext cx="3464207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Elasticsearch 매핑을 설계하고 문서를 색인한다.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090623" y="2514600"/>
            <a:ext cx="9567977" cy="463829"/>
            <a:chOff x="2090623" y="2514600"/>
            <a:chExt cx="9567977" cy="463829"/>
          </a:xfrm>
        </p:grpSpPr>
        <p:sp>
          <p:nvSpPr>
            <p:cNvPr id="15" name="Line 15"/>
            <p:cNvSpPr/>
            <p:nvPr/>
          </p:nvSpPr>
          <p:spPr>
            <a:xfrm>
              <a:off x="2095500" y="2514600"/>
              <a:ext cx="9563100" cy="9525"/>
            </a:xfrm>
            <a:custGeom>
              <a:avLst/>
              <a:gdLst/>
              <a:ahLst/>
              <a:cxnLst/>
              <a:rect l="l" t="t" r="r" b="b"/>
              <a:pathLst>
                <a:path w="9563100" h="9525">
                  <a:moveTo>
                    <a:pt x="0" y="0"/>
                  </a:moveTo>
                  <a:lnTo>
                    <a:pt x="95631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90623" y="2753868"/>
              <a:ext cx="151912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50490" y="2708529"/>
              <a:ext cx="812856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검색 구현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47209" y="2734437"/>
              <a:ext cx="2582151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키워드 검색과 벡터 검색을 구현한다.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090623" y="3276600"/>
            <a:ext cx="9567977" cy="463829"/>
            <a:chOff x="2090623" y="3276600"/>
            <a:chExt cx="9567977" cy="463829"/>
          </a:xfrm>
        </p:grpSpPr>
        <p:sp>
          <p:nvSpPr>
            <p:cNvPr id="20" name="Line 20"/>
            <p:cNvSpPr/>
            <p:nvPr/>
          </p:nvSpPr>
          <p:spPr>
            <a:xfrm>
              <a:off x="2095500" y="3276600"/>
              <a:ext cx="9563100" cy="9525"/>
            </a:xfrm>
            <a:custGeom>
              <a:avLst/>
              <a:gdLst/>
              <a:ahLst/>
              <a:cxnLst/>
              <a:rect l="l" t="t" r="r" b="b"/>
              <a:pathLst>
                <a:path w="9563100" h="9525">
                  <a:moveTo>
                    <a:pt x="0" y="0"/>
                  </a:moveTo>
                  <a:lnTo>
                    <a:pt x="95631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90623" y="3515868"/>
              <a:ext cx="151912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50490" y="3470529"/>
              <a:ext cx="859300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파싱·청킹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47209" y="3496437"/>
              <a:ext cx="2781658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긴 문서를 나누고 원문 정보를 유지한다.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090623" y="4038600"/>
            <a:ext cx="9567977" cy="463829"/>
            <a:chOff x="2090623" y="4038600"/>
            <a:chExt cx="9567977" cy="463829"/>
          </a:xfrm>
        </p:grpSpPr>
        <p:sp>
          <p:nvSpPr>
            <p:cNvPr id="25" name="Line 25"/>
            <p:cNvSpPr/>
            <p:nvPr/>
          </p:nvSpPr>
          <p:spPr>
            <a:xfrm>
              <a:off x="2095500" y="4038600"/>
              <a:ext cx="9563100" cy="9525"/>
            </a:xfrm>
            <a:custGeom>
              <a:avLst/>
              <a:gdLst/>
              <a:ahLst/>
              <a:cxnLst/>
              <a:rect l="l" t="t" r="r" b="b"/>
              <a:pathLst>
                <a:path w="9563100" h="9525">
                  <a:moveTo>
                    <a:pt x="0" y="0"/>
                  </a:moveTo>
                  <a:lnTo>
                    <a:pt x="95631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90623" y="4277868"/>
              <a:ext cx="151912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850490" y="4232529"/>
              <a:ext cx="740298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검색 API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47209" y="4258437"/>
              <a:ext cx="2792517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임베딩과 검색 기능을 API로 제공한다.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090623" y="4800600"/>
            <a:ext cx="9567977" cy="771525"/>
            <a:chOff x="2090623" y="4800600"/>
            <a:chExt cx="9567977" cy="771525"/>
          </a:xfrm>
        </p:grpSpPr>
        <p:sp>
          <p:nvSpPr>
            <p:cNvPr id="30" name="Line 30"/>
            <p:cNvSpPr/>
            <p:nvPr/>
          </p:nvSpPr>
          <p:spPr>
            <a:xfrm>
              <a:off x="2095500" y="4800600"/>
              <a:ext cx="9563100" cy="9525"/>
            </a:xfrm>
            <a:custGeom>
              <a:avLst/>
              <a:gdLst/>
              <a:ahLst/>
              <a:cxnLst/>
              <a:rect l="l" t="t" r="r" b="b"/>
              <a:pathLst>
                <a:path w="9563100" h="9525">
                  <a:moveTo>
                    <a:pt x="0" y="0"/>
                  </a:moveTo>
                  <a:lnTo>
                    <a:pt x="95631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90623" y="5039868"/>
              <a:ext cx="151912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05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50490" y="4994529"/>
              <a:ext cx="812856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결과 평가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47209" y="5020437"/>
              <a:ext cx="3096265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결과·점수·원문 정보·평가 지표를 분석한다.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2095500" y="5562600"/>
              <a:ext cx="9563100" cy="9525"/>
            </a:xfrm>
            <a:custGeom>
              <a:avLst/>
              <a:gdLst/>
              <a:ahLst/>
              <a:cxnLst/>
              <a:rect l="l" t="t" r="r" b="b"/>
              <a:pathLst>
                <a:path w="9563100" h="9525">
                  <a:moveTo>
                    <a:pt x="0" y="0"/>
                  </a:moveTo>
                  <a:lnTo>
                    <a:pt x="95631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-slot Placeholder Carrier"/>
          <p:cNvSpPr txBox="1">
            <a:spLocks noGrp="1"/>
          </p:cNvSpPr>
          <p:nvPr>
            <p:ph type="title"/>
          </p:nvPr>
        </p:nvSpPr>
        <p:spPr>
          <a:xfrm>
            <a:off x="521208" y="655320"/>
            <a:ext cx="321649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400" b="1" spc="-48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실습에 사용하는 도구</a:t>
            </a:r>
          </a:p>
        </p:txBody>
      </p:sp>
      <p:sp>
        <p:nvSpPr>
          <p:cNvPr id="5" name="page-number-slot Placeholder Carrier"/>
          <p:cNvSpPr txBox="1">
            <a:spLocks noGrp="1"/>
          </p:cNvSpPr>
          <p:nvPr>
            <p:ph type="sldNum" idx="3"/>
          </p:nvPr>
        </p:nvSpPr>
        <p:spPr>
          <a:xfrm>
            <a:off x="11220785" y="6525768"/>
            <a:ext cx="442692" cy="1877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04 / 08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28523" y="1648968"/>
            <a:ext cx="11130077" cy="2780157"/>
            <a:chOff x="528523" y="1648968"/>
            <a:chExt cx="11130077" cy="2780157"/>
          </a:xfrm>
        </p:grpSpPr>
        <p:sp>
          <p:nvSpPr>
            <p:cNvPr id="6" name="TextBox 6"/>
            <p:cNvSpPr txBox="1"/>
            <p:nvPr/>
          </p:nvSpPr>
          <p:spPr>
            <a:xfrm>
              <a:off x="528523" y="1648968"/>
              <a:ext cx="1081674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spc="48" dirty="0">
                  <a:solidFill>
                    <a:schemeClr val="dk2"/>
                  </a:solidFill>
                  <a:latin typeface="Pretendard SemiBold"/>
                  <a:ea typeface="Pretendard SemiBold"/>
                  <a:cs typeface="Pretendard SemiBold"/>
                </a:rPr>
                <a:t>TOOLS BY ROLE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33400" y="19812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Line 8"/>
            <p:cNvSpPr/>
            <p:nvPr/>
          </p:nvSpPr>
          <p:spPr>
            <a:xfrm>
              <a:off x="3162300" y="1981200"/>
              <a:ext cx="9525" cy="2438400"/>
            </a:xfrm>
            <a:custGeom>
              <a:avLst/>
              <a:gdLst/>
              <a:ahLst/>
              <a:cxnLst/>
              <a:rect l="l" t="t" r="r" b="b"/>
              <a:pathLst>
                <a:path w="9525" h="2438400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Line 9"/>
            <p:cNvSpPr/>
            <p:nvPr/>
          </p:nvSpPr>
          <p:spPr>
            <a:xfrm>
              <a:off x="5943600" y="1981200"/>
              <a:ext cx="9525" cy="2438400"/>
            </a:xfrm>
            <a:custGeom>
              <a:avLst/>
              <a:gdLst/>
              <a:ahLst/>
              <a:cxnLst/>
              <a:rect l="l" t="t" r="r" b="b"/>
              <a:pathLst>
                <a:path w="9525" h="2438400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Line 10"/>
            <p:cNvSpPr/>
            <p:nvPr/>
          </p:nvSpPr>
          <p:spPr>
            <a:xfrm>
              <a:off x="8724900" y="1981200"/>
              <a:ext cx="9525" cy="2438400"/>
            </a:xfrm>
            <a:custGeom>
              <a:avLst/>
              <a:gdLst/>
              <a:ahLst/>
              <a:cxnLst/>
              <a:rect l="l" t="t" r="r" b="b"/>
              <a:pathLst>
                <a:path w="9525" h="2438400">
                  <a:moveTo>
                    <a:pt x="0" y="0"/>
                  </a:moveTo>
                  <a:lnTo>
                    <a:pt x="0" y="24384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533400" y="44196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26390" y="2266950"/>
            <a:ext cx="1037799" cy="1147648"/>
            <a:chOff x="526390" y="2266950"/>
            <a:chExt cx="1037799" cy="1147648"/>
          </a:xfrm>
        </p:grpSpPr>
        <p:grpSp>
          <p:nvGrpSpPr>
            <p:cNvPr id="16" name="Group 16"/>
            <p:cNvGrpSpPr/>
            <p:nvPr/>
          </p:nvGrpSpPr>
          <p:grpSpPr>
            <a:xfrm>
              <a:off x="609600" y="2266950"/>
              <a:ext cx="304800" cy="342900"/>
              <a:chOff x="609600" y="2266950"/>
              <a:chExt cx="304800" cy="3429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609600" y="2266950"/>
                <a:ext cx="3048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14300">
                    <a:moveTo>
                      <a:pt x="0" y="57150"/>
                    </a:moveTo>
                    <a:cubicBezTo>
                      <a:pt x="0" y="88713"/>
                      <a:pt x="68232" y="114300"/>
                      <a:pt x="152400" y="114300"/>
                    </a:cubicBezTo>
                    <a:cubicBezTo>
                      <a:pt x="236568" y="114300"/>
                      <a:pt x="304800" y="88713"/>
                      <a:pt x="304800" y="57150"/>
                    </a:cubicBezTo>
                    <a:cubicBezTo>
                      <a:pt x="304800" y="25587"/>
                      <a:pt x="236568" y="0"/>
                      <a:pt x="152400" y="0"/>
                    </a:cubicBezTo>
                    <a:cubicBezTo>
                      <a:pt x="68232" y="0"/>
                      <a:pt x="0" y="25587"/>
                      <a:pt x="0" y="57150"/>
                    </a:cubicBezTo>
                  </a:path>
                </a:pathLst>
              </a:custGeom>
              <a:noFill/>
              <a:ln w="38100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609600" y="232410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38100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609600" y="243840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38100">
                <a:solidFill>
                  <a:schemeClr val="accent2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162050" y="2266950"/>
              <a:ext cx="342900" cy="342900"/>
              <a:chOff x="1162050" y="2266950"/>
              <a:chExt cx="342900" cy="3429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1162050" y="226695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0" y="133350"/>
                    </a:moveTo>
                    <a:cubicBezTo>
                      <a:pt x="0" y="206997"/>
                      <a:pt x="59703" y="266700"/>
                      <a:pt x="133350" y="266700"/>
                    </a:cubicBezTo>
                    <a:cubicBezTo>
                      <a:pt x="206997" y="266700"/>
                      <a:pt x="266700" y="206997"/>
                      <a:pt x="266700" y="133350"/>
                    </a:cubicBezTo>
                    <a:cubicBezTo>
                      <a:pt x="266700" y="59703"/>
                      <a:pt x="206997" y="0"/>
                      <a:pt x="133350" y="0"/>
                    </a:cubicBezTo>
                    <a:cubicBezTo>
                      <a:pt x="59703" y="0"/>
                      <a:pt x="0" y="59703"/>
                      <a:pt x="0" y="133350"/>
                    </a:cubicBez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1390650" y="24955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14300" y="11430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526390" y="2746629"/>
              <a:ext cx="859300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저장·검색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7609" y="3191637"/>
              <a:ext cx="1036580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Elasticsearch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307690" y="2266950"/>
            <a:ext cx="969035" cy="1452448"/>
            <a:chOff x="3307690" y="2266950"/>
            <a:chExt cx="969035" cy="1452448"/>
          </a:xfrm>
        </p:grpSpPr>
        <p:grpSp>
          <p:nvGrpSpPr>
            <p:cNvPr id="28" name="Group 28"/>
            <p:cNvGrpSpPr/>
            <p:nvPr/>
          </p:nvGrpSpPr>
          <p:grpSpPr>
            <a:xfrm>
              <a:off x="3371850" y="2266950"/>
              <a:ext cx="342900" cy="342900"/>
              <a:chOff x="3371850" y="2266950"/>
              <a:chExt cx="342900" cy="3429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3371850" y="2381250"/>
                <a:ext cx="1714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52400">
                    <a:moveTo>
                      <a:pt x="171450" y="0"/>
                    </a:moveTo>
                    <a:lnTo>
                      <a:pt x="38100" y="0"/>
                    </a:lnTo>
                    <a:cubicBezTo>
                      <a:pt x="17058" y="0"/>
                      <a:pt x="0" y="17058"/>
                      <a:pt x="0" y="38100"/>
                    </a:cubicBezTo>
                    <a:lnTo>
                      <a:pt x="0" y="114300"/>
                    </a:lnTo>
                    <a:cubicBezTo>
                      <a:pt x="0" y="135342"/>
                      <a:pt x="17058" y="152400"/>
                      <a:pt x="38100" y="152400"/>
                    </a:cubicBezTo>
                    <a:lnTo>
                      <a:pt x="95250" y="15240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3543300" y="2343150"/>
                <a:ext cx="1714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52400">
                    <a:moveTo>
                      <a:pt x="0" y="152400"/>
                    </a:moveTo>
                    <a:lnTo>
                      <a:pt x="133350" y="152400"/>
                    </a:lnTo>
                    <a:cubicBezTo>
                      <a:pt x="154392" y="152400"/>
                      <a:pt x="171450" y="135342"/>
                      <a:pt x="171450" y="114300"/>
                    </a:cubicBezTo>
                    <a:lnTo>
                      <a:pt x="171450" y="38100"/>
                    </a:lnTo>
                    <a:cubicBezTo>
                      <a:pt x="171450" y="17058"/>
                      <a:pt x="154392" y="0"/>
                      <a:pt x="133350" y="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3467100" y="2266950"/>
                <a:ext cx="1524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342900">
                    <a:moveTo>
                      <a:pt x="0" y="11430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114300" y="0"/>
                    </a:lnTo>
                    <a:cubicBezTo>
                      <a:pt x="135342" y="0"/>
                      <a:pt x="152400" y="17058"/>
                      <a:pt x="152400" y="38100"/>
                    </a:cubicBezTo>
                    <a:lnTo>
                      <a:pt x="152400" y="133350"/>
                    </a:lnTo>
                    <a:cubicBezTo>
                      <a:pt x="152400" y="154392"/>
                      <a:pt x="135342" y="171450"/>
                      <a:pt x="114300" y="171450"/>
                    </a:cubicBezTo>
                    <a:lnTo>
                      <a:pt x="38100" y="171450"/>
                    </a:lnTo>
                    <a:cubicBezTo>
                      <a:pt x="17058" y="171450"/>
                      <a:pt x="0" y="188508"/>
                      <a:pt x="0" y="209550"/>
                    </a:cubicBezTo>
                    <a:lnTo>
                      <a:pt x="0" y="304800"/>
                    </a:lnTo>
                    <a:cubicBezTo>
                      <a:pt x="0" y="325842"/>
                      <a:pt x="17058" y="342900"/>
                      <a:pt x="38100" y="342900"/>
                    </a:cubicBezTo>
                    <a:lnTo>
                      <a:pt x="114300" y="342900"/>
                    </a:lnTo>
                    <a:cubicBezTo>
                      <a:pt x="135342" y="342900"/>
                      <a:pt x="152400" y="325842"/>
                      <a:pt x="152400" y="304800"/>
                    </a:cubicBezTo>
                    <a:lnTo>
                      <a:pt x="152400" y="22860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3524250" y="2324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1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" name="Freeform 27"/>
              <p:cNvSpPr/>
              <p:nvPr/>
            </p:nvSpPr>
            <p:spPr>
              <a:xfrm>
                <a:off x="3562350" y="25527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3962400" y="2362200"/>
              <a:ext cx="314325" cy="152400"/>
              <a:chOff x="3962400" y="2362200"/>
              <a:chExt cx="314325" cy="1524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3962400" y="245745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4114800" y="2362200"/>
                <a:ext cx="952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52400">
                    <a:moveTo>
                      <a:pt x="0" y="152400"/>
                    </a:moveTo>
                    <a:lnTo>
                      <a:pt x="0" y="0"/>
                    </a:lnTo>
                    <a:lnTo>
                      <a:pt x="57150" y="0"/>
                    </a:lnTo>
                    <a:cubicBezTo>
                      <a:pt x="78192" y="0"/>
                      <a:pt x="95250" y="17058"/>
                      <a:pt x="95250" y="38100"/>
                    </a:cubicBezTo>
                    <a:lnTo>
                      <a:pt x="95250" y="57150"/>
                    </a:lnTo>
                    <a:cubicBezTo>
                      <a:pt x="95250" y="78192"/>
                      <a:pt x="78192" y="95250"/>
                      <a:pt x="57150" y="95250"/>
                    </a:cubicBezTo>
                    <a:lnTo>
                      <a:pt x="0" y="9525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1" name="Freeform 31"/>
              <p:cNvSpPr/>
              <p:nvPr/>
            </p:nvSpPr>
            <p:spPr>
              <a:xfrm>
                <a:off x="4267200" y="23622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3962400" y="2362200"/>
                <a:ext cx="952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52400">
                    <a:moveTo>
                      <a:pt x="95250" y="152400"/>
                    </a:moveTo>
                    <a:lnTo>
                      <a:pt x="95250" y="47625"/>
                    </a:ln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  <a:lnTo>
                      <a:pt x="0" y="15240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3307690" y="2746629"/>
              <a:ext cx="789371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처리·API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308909" y="3191637"/>
              <a:ext cx="461665" cy="175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40" dirty="0" err="1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Python</a:t>
              </a:r>
              <a:endParaRPr lang="ko-KR" sz="114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08909" y="3496437"/>
              <a:ext cx="611551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검색 API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88990" y="2286000"/>
            <a:ext cx="1354378" cy="1433398"/>
            <a:chOff x="6088990" y="2286000"/>
            <a:chExt cx="1354378" cy="1433398"/>
          </a:xfrm>
        </p:grpSpPr>
        <p:grpSp>
          <p:nvGrpSpPr>
            <p:cNvPr id="41" name="Group 41"/>
            <p:cNvGrpSpPr/>
            <p:nvPr/>
          </p:nvGrpSpPr>
          <p:grpSpPr>
            <a:xfrm>
              <a:off x="6153150" y="2286000"/>
              <a:ext cx="342900" cy="304800"/>
              <a:chOff x="6153150" y="2286000"/>
              <a:chExt cx="342900" cy="304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153150" y="2362200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76200" y="0"/>
                    </a:moveTo>
                    <a:lnTo>
                      <a:pt x="0" y="76200"/>
                    </a:lnTo>
                    <a:lnTo>
                      <a:pt x="76200" y="15240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6419850" y="2362200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0" y="0"/>
                    </a:moveTo>
                    <a:lnTo>
                      <a:pt x="76200" y="76200"/>
                    </a:lnTo>
                    <a:lnTo>
                      <a:pt x="0" y="15240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0" name="Freeform 40"/>
              <p:cNvSpPr/>
              <p:nvPr/>
            </p:nvSpPr>
            <p:spPr>
              <a:xfrm>
                <a:off x="6286500" y="2286000"/>
                <a:ext cx="762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04800">
                    <a:moveTo>
                      <a:pt x="76200" y="0"/>
                    </a:moveTo>
                    <a:lnTo>
                      <a:pt x="0" y="30480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762750" y="2286000"/>
              <a:ext cx="285750" cy="304800"/>
              <a:chOff x="6762750" y="2286000"/>
              <a:chExt cx="285750" cy="3048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762750" y="25146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6762750" y="22860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4" name="Freeform 44"/>
              <p:cNvSpPr/>
              <p:nvPr/>
            </p:nvSpPr>
            <p:spPr>
              <a:xfrm>
                <a:off x="6953250" y="22860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6800850" y="236220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6" name="Freeform 46"/>
              <p:cNvSpPr/>
              <p:nvPr/>
            </p:nvSpPr>
            <p:spPr>
              <a:xfrm>
                <a:off x="6838950" y="2419350"/>
                <a:ext cx="1524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33350">
                    <a:moveTo>
                      <a:pt x="0" y="133350"/>
                    </a:moveTo>
                    <a:lnTo>
                      <a:pt x="114300" y="133350"/>
                    </a:lnTo>
                    <a:cubicBezTo>
                      <a:pt x="135342" y="133350"/>
                      <a:pt x="152400" y="116292"/>
                      <a:pt x="152400" y="952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6934200" y="2419350"/>
                <a:ext cx="1143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7150">
                    <a:moveTo>
                      <a:pt x="0" y="57150"/>
                    </a:moveTo>
                    <a:lnTo>
                      <a:pt x="57150" y="0"/>
                    </a:lnTo>
                    <a:lnTo>
                      <a:pt x="114300" y="5715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6088990" y="2746629"/>
              <a:ext cx="859300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개발·협업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90209" y="3191637"/>
              <a:ext cx="1353159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Visual Studio Code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90209" y="3496437"/>
              <a:ext cx="230490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Git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8870290" y="2266950"/>
            <a:ext cx="978560" cy="1100120"/>
            <a:chOff x="8870290" y="2266950"/>
            <a:chExt cx="978560" cy="1100120"/>
          </a:xfrm>
        </p:grpSpPr>
        <p:grpSp>
          <p:nvGrpSpPr>
            <p:cNvPr id="56" name="Group 56"/>
            <p:cNvGrpSpPr/>
            <p:nvPr/>
          </p:nvGrpSpPr>
          <p:grpSpPr>
            <a:xfrm>
              <a:off x="8972550" y="2286000"/>
              <a:ext cx="266700" cy="342900"/>
              <a:chOff x="8972550" y="2286000"/>
              <a:chExt cx="266700" cy="3429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8972550" y="2286000"/>
                <a:ext cx="2667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42900">
                    <a:moveTo>
                      <a:pt x="19050" y="0"/>
                    </a:moveTo>
                    <a:lnTo>
                      <a:pt x="228600" y="0"/>
                    </a:lnTo>
                    <a:cubicBezTo>
                      <a:pt x="249642" y="0"/>
                      <a:pt x="266700" y="17058"/>
                      <a:pt x="266700" y="38100"/>
                    </a:cubicBezTo>
                    <a:lnTo>
                      <a:pt x="266700" y="266700"/>
                    </a:lnTo>
                    <a:cubicBezTo>
                      <a:pt x="266700" y="287742"/>
                      <a:pt x="249642" y="304800"/>
                      <a:pt x="228600" y="304800"/>
                    </a:cubicBezTo>
                    <a:lnTo>
                      <a:pt x="19050" y="304800"/>
                    </a:lnTo>
                    <a:cubicBezTo>
                      <a:pt x="8529" y="304800"/>
                      <a:pt x="0" y="296271"/>
                      <a:pt x="0" y="2857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moveTo>
                      <a:pt x="76200" y="0"/>
                    </a:moveTo>
                    <a:lnTo>
                      <a:pt x="76200" y="34290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4" name="Freeform 54"/>
              <p:cNvSpPr/>
              <p:nvPr/>
            </p:nvSpPr>
            <p:spPr>
              <a:xfrm>
                <a:off x="9124950" y="236220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5" name="Freeform 55"/>
              <p:cNvSpPr/>
              <p:nvPr/>
            </p:nvSpPr>
            <p:spPr>
              <a:xfrm>
                <a:off x="9124950" y="243840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38100">
                <a:solidFill>
                  <a:schemeClr val="dk1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9505950" y="2266950"/>
              <a:ext cx="342900" cy="342900"/>
              <a:chOff x="9505950" y="2266950"/>
              <a:chExt cx="342900" cy="3429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9505950" y="22669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57150" y="0"/>
                    </a:lnTo>
                    <a:cubicBezTo>
                      <a:pt x="67671" y="0"/>
                      <a:pt x="76200" y="8529"/>
                      <a:pt x="76200" y="19050"/>
                    </a:cubicBezTo>
                    <a:lnTo>
                      <a:pt x="76200" y="57150"/>
                    </a:lnTo>
                    <a:cubicBezTo>
                      <a:pt x="76200" y="67671"/>
                      <a:pt x="67671" y="76200"/>
                      <a:pt x="57150" y="76200"/>
                    </a:cubicBezTo>
                    <a:lnTo>
                      <a:pt x="19050" y="76200"/>
                    </a:lnTo>
                    <a:cubicBezTo>
                      <a:pt x="8529" y="76200"/>
                      <a:pt x="0" y="67671"/>
                      <a:pt x="0" y="571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8" name="Freeform 58"/>
              <p:cNvSpPr/>
              <p:nvPr/>
            </p:nvSpPr>
            <p:spPr>
              <a:xfrm>
                <a:off x="9772650" y="22669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57150" y="0"/>
                    </a:lnTo>
                    <a:cubicBezTo>
                      <a:pt x="67671" y="0"/>
                      <a:pt x="76200" y="8529"/>
                      <a:pt x="76200" y="19050"/>
                    </a:cubicBezTo>
                    <a:lnTo>
                      <a:pt x="76200" y="57150"/>
                    </a:lnTo>
                    <a:cubicBezTo>
                      <a:pt x="76200" y="67671"/>
                      <a:pt x="67671" y="76200"/>
                      <a:pt x="57150" y="76200"/>
                    </a:cubicBezTo>
                    <a:lnTo>
                      <a:pt x="19050" y="76200"/>
                    </a:lnTo>
                    <a:cubicBezTo>
                      <a:pt x="8529" y="76200"/>
                      <a:pt x="0" y="67671"/>
                      <a:pt x="0" y="571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9" name="Freeform 59"/>
              <p:cNvSpPr/>
              <p:nvPr/>
            </p:nvSpPr>
            <p:spPr>
              <a:xfrm>
                <a:off x="9772650" y="25336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57150" y="0"/>
                    </a:lnTo>
                    <a:cubicBezTo>
                      <a:pt x="67671" y="0"/>
                      <a:pt x="76200" y="8529"/>
                      <a:pt x="76200" y="19050"/>
                    </a:cubicBezTo>
                    <a:lnTo>
                      <a:pt x="76200" y="57150"/>
                    </a:lnTo>
                    <a:cubicBezTo>
                      <a:pt x="76200" y="67671"/>
                      <a:pt x="67671" y="76200"/>
                      <a:pt x="57150" y="76200"/>
                    </a:cubicBezTo>
                    <a:lnTo>
                      <a:pt x="19050" y="76200"/>
                    </a:lnTo>
                    <a:cubicBezTo>
                      <a:pt x="8529" y="76200"/>
                      <a:pt x="0" y="67671"/>
                      <a:pt x="0" y="571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0" name="Freeform 60"/>
              <p:cNvSpPr/>
              <p:nvPr/>
            </p:nvSpPr>
            <p:spPr>
              <a:xfrm>
                <a:off x="9505950" y="25336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57150" y="0"/>
                    </a:lnTo>
                    <a:cubicBezTo>
                      <a:pt x="67671" y="0"/>
                      <a:pt x="76200" y="8529"/>
                      <a:pt x="76200" y="19050"/>
                    </a:cubicBezTo>
                    <a:lnTo>
                      <a:pt x="76200" y="57150"/>
                    </a:lnTo>
                    <a:cubicBezTo>
                      <a:pt x="76200" y="67671"/>
                      <a:pt x="67671" y="76200"/>
                      <a:pt x="57150" y="76200"/>
                    </a:cubicBezTo>
                    <a:lnTo>
                      <a:pt x="19050" y="76200"/>
                    </a:lnTo>
                    <a:cubicBezTo>
                      <a:pt x="8529" y="76200"/>
                      <a:pt x="0" y="67671"/>
                      <a:pt x="0" y="571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1" name="Freeform 61"/>
              <p:cNvSpPr/>
              <p:nvPr/>
            </p:nvSpPr>
            <p:spPr>
              <a:xfrm>
                <a:off x="9544050" y="2343150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2" name="Freeform 62"/>
              <p:cNvSpPr/>
              <p:nvPr/>
            </p:nvSpPr>
            <p:spPr>
              <a:xfrm>
                <a:off x="9810750" y="2343150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3" name="Freeform 63"/>
              <p:cNvSpPr/>
              <p:nvPr/>
            </p:nvSpPr>
            <p:spPr>
              <a:xfrm>
                <a:off x="9582150" y="230505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4" name="Freeform 64"/>
              <p:cNvSpPr/>
              <p:nvPr/>
            </p:nvSpPr>
            <p:spPr>
              <a:xfrm>
                <a:off x="9582150" y="257175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38100">
                <a:solidFill>
                  <a:schemeClr val="dk2"/>
                </a:solidFill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66" name="TextBox 66"/>
            <p:cNvSpPr txBox="1"/>
            <p:nvPr/>
          </p:nvSpPr>
          <p:spPr>
            <a:xfrm>
              <a:off x="8870290" y="2746629"/>
              <a:ext cx="859300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분석·평가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871509" y="3191637"/>
              <a:ext cx="458459" cy="175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40" dirty="0">
                  <a:solidFill>
                    <a:schemeClr val="dk2"/>
                  </a:solidFill>
                </a:rPr>
                <a:t>python</a:t>
              </a:r>
              <a:endParaRPr lang="en-US" sz="114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26390" y="4953000"/>
            <a:ext cx="11132210" cy="463829"/>
            <a:chOff x="526390" y="4953000"/>
            <a:chExt cx="11132210" cy="463829"/>
          </a:xfrm>
        </p:grpSpPr>
        <p:sp>
          <p:nvSpPr>
            <p:cNvPr id="70" name="Line 70"/>
            <p:cNvSpPr/>
            <p:nvPr/>
          </p:nvSpPr>
          <p:spPr>
            <a:xfrm>
              <a:off x="533400" y="4953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4D4D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26390" y="5146929"/>
              <a:ext cx="5763776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각 도구의 사용법보다 데이터가 다음 단계로 넘어가는 흐름을 익힌다.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4208898" y="6353937"/>
            <a:ext cx="3774205" cy="222961"/>
            <a:chOff x="4208898" y="6353937"/>
            <a:chExt cx="3774205" cy="222961"/>
          </a:xfrm>
        </p:grpSpPr>
        <p:sp>
          <p:nvSpPr>
            <p:cNvPr id="73" name="TextBox 73"/>
            <p:cNvSpPr txBox="1"/>
            <p:nvPr/>
          </p:nvSpPr>
          <p:spPr>
            <a:xfrm>
              <a:off x="4208898" y="6353937"/>
              <a:ext cx="3774205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도구보다 각 단계의 연결을 이해하는 것이 중요하다.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-slot Placeholder Carrier"/>
          <p:cNvSpPr txBox="1">
            <a:spLocks noGrp="1"/>
          </p:cNvSpPr>
          <p:nvPr>
            <p:ph type="title"/>
          </p:nvPr>
        </p:nvSpPr>
        <p:spPr>
          <a:xfrm>
            <a:off x="521208" y="655320"/>
            <a:ext cx="1104148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altLang="en-US" b="1" spc="-48" dirty="0">
                <a:solidFill>
                  <a:schemeClr val="dk1"/>
                </a:solidFill>
              </a:rPr>
              <a:t>주요 일정</a:t>
            </a:r>
            <a:endParaRPr lang="ko-KR" sz="2400" b="1" spc="-48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page-number-slot Placeholder Carrier"/>
          <p:cNvSpPr txBox="1">
            <a:spLocks noGrp="1"/>
          </p:cNvSpPr>
          <p:nvPr>
            <p:ph type="sldNum" idx="3"/>
          </p:nvPr>
        </p:nvSpPr>
        <p:spPr>
          <a:xfrm>
            <a:off x="11220785" y="6525768"/>
            <a:ext cx="442692" cy="1877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05 / 08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191000" y="1752600"/>
            <a:ext cx="7467600" cy="3467100"/>
            <a:chOff x="4191000" y="1752600"/>
            <a:chExt cx="7467600" cy="3467100"/>
          </a:xfrm>
        </p:grpSpPr>
        <p:sp>
          <p:nvSpPr>
            <p:cNvPr id="6" name="Line 6"/>
            <p:cNvSpPr/>
            <p:nvPr/>
          </p:nvSpPr>
          <p:spPr>
            <a:xfrm>
              <a:off x="4191000" y="1752600"/>
              <a:ext cx="9525" cy="3467100"/>
            </a:xfrm>
            <a:custGeom>
              <a:avLst/>
              <a:gdLst/>
              <a:ahLst/>
              <a:cxnLst/>
              <a:rect l="l" t="t" r="r" b="b"/>
              <a:pathLst>
                <a:path w="9525" h="3467100">
                  <a:moveTo>
                    <a:pt x="0" y="0"/>
                  </a:moveTo>
                  <a:lnTo>
                    <a:pt x="0" y="3467100"/>
                  </a:lnTo>
                </a:path>
              </a:pathLst>
            </a:custGeom>
            <a:noFill/>
            <a:ln w="9525">
              <a:solidFill>
                <a:srgbClr val="D4D4D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Line 7"/>
            <p:cNvSpPr/>
            <p:nvPr/>
          </p:nvSpPr>
          <p:spPr>
            <a:xfrm>
              <a:off x="4648200" y="1752600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Line 8"/>
            <p:cNvSpPr/>
            <p:nvPr/>
          </p:nvSpPr>
          <p:spPr>
            <a:xfrm>
              <a:off x="4648200" y="2819400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Line 9"/>
            <p:cNvSpPr/>
            <p:nvPr/>
          </p:nvSpPr>
          <p:spPr>
            <a:xfrm>
              <a:off x="4648200" y="3886200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Line 10"/>
            <p:cNvSpPr/>
            <p:nvPr/>
          </p:nvSpPr>
          <p:spPr>
            <a:xfrm>
              <a:off x="4648200" y="4953000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8160" y="1801368"/>
            <a:ext cx="2473833" cy="1994230"/>
            <a:chOff x="518160" y="1801368"/>
            <a:chExt cx="2473833" cy="1994230"/>
          </a:xfrm>
        </p:grpSpPr>
        <p:sp>
          <p:nvSpPr>
            <p:cNvPr id="12" name="TextBox 12"/>
            <p:cNvSpPr txBox="1"/>
            <p:nvPr/>
          </p:nvSpPr>
          <p:spPr>
            <a:xfrm>
              <a:off x="528523" y="1801368"/>
              <a:ext cx="521818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spc="48" dirty="0">
                  <a:solidFill>
                    <a:schemeClr val="dk2"/>
                  </a:solidFill>
                  <a:latin typeface="Pretendard SemiBold"/>
                  <a:ea typeface="Pretendard SemiBold"/>
                  <a:cs typeface="Pretendard SemiBold"/>
                </a:rPr>
                <a:t>WEEKLY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8160" y="2381250"/>
              <a:ext cx="247383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dirty="0">
                  <a:solidFill>
                    <a:schemeClr val="dk1"/>
                  </a:solidFill>
                  <a:latin typeface="Pretendard ExtraBold"/>
                  <a:ea typeface="Pretendard ExtraBold"/>
                  <a:cs typeface="Pretendard ExtraBold"/>
                </a:rPr>
                <a:t>12:00–15:00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6390" y="3089529"/>
              <a:ext cx="998631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매주 금요일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7609" y="3572637"/>
              <a:ext cx="1431150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국민대 미래관 424호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641190" y="2060829"/>
            <a:ext cx="2068637" cy="269900"/>
            <a:chOff x="4641190" y="2060829"/>
            <a:chExt cx="2068637" cy="269900"/>
          </a:xfrm>
        </p:grpSpPr>
        <p:sp>
          <p:nvSpPr>
            <p:cNvPr id="17" name="TextBox 17"/>
            <p:cNvSpPr txBox="1"/>
            <p:nvPr/>
          </p:nvSpPr>
          <p:spPr>
            <a:xfrm>
              <a:off x="4641190" y="2060829"/>
              <a:ext cx="524904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09/25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66409" y="2086737"/>
              <a:ext cx="543418" cy="175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추석 휴강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641190" y="3127629"/>
            <a:ext cx="3894725" cy="269900"/>
            <a:chOff x="4641190" y="3127629"/>
            <a:chExt cx="3894725" cy="269900"/>
          </a:xfrm>
        </p:grpSpPr>
        <p:sp>
          <p:nvSpPr>
            <p:cNvPr id="20" name="TextBox 20"/>
            <p:cNvSpPr txBox="1"/>
            <p:nvPr/>
          </p:nvSpPr>
          <p:spPr>
            <a:xfrm>
              <a:off x="4641190" y="3127629"/>
              <a:ext cx="524904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80" dirty="0">
                  <a:solidFill>
                    <a:schemeClr val="accent2"/>
                  </a:solidFill>
                  <a:latin typeface="Pretendard SemiBold"/>
                  <a:ea typeface="Pretendard SemiBold"/>
                  <a:cs typeface="Pretendard SemiBold"/>
                </a:rPr>
                <a:t>10/09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66409" y="3153537"/>
              <a:ext cx="2369506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한글날, 실시간 Zoom 온라인 수업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641190" y="4194429"/>
            <a:ext cx="2657109" cy="269900"/>
            <a:chOff x="4641190" y="4194429"/>
            <a:chExt cx="2657109" cy="269900"/>
          </a:xfrm>
        </p:grpSpPr>
        <p:sp>
          <p:nvSpPr>
            <p:cNvPr id="23" name="TextBox 23"/>
            <p:cNvSpPr txBox="1"/>
            <p:nvPr/>
          </p:nvSpPr>
          <p:spPr>
            <a:xfrm>
              <a:off x="4641190" y="4194429"/>
              <a:ext cx="524904" cy="269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12/18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66409" y="4220337"/>
              <a:ext cx="1131890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14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최종평가와 발표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-slot Placeholder Carrier"/>
          <p:cNvSpPr txBox="1">
            <a:spLocks noGrp="1"/>
          </p:cNvSpPr>
          <p:nvPr>
            <p:ph type="title"/>
          </p:nvPr>
        </p:nvSpPr>
        <p:spPr>
          <a:xfrm>
            <a:off x="521208" y="655320"/>
            <a:ext cx="403229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400" b="1" spc="-48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2~7주차: 검색 기반 다지기</a:t>
            </a:r>
          </a:p>
        </p:txBody>
      </p:sp>
      <p:sp>
        <p:nvSpPr>
          <p:cNvPr id="5" name="page-number-slot Placeholder Carrier"/>
          <p:cNvSpPr txBox="1">
            <a:spLocks noGrp="1"/>
          </p:cNvSpPr>
          <p:nvPr>
            <p:ph type="sldNum" idx="3"/>
          </p:nvPr>
        </p:nvSpPr>
        <p:spPr>
          <a:xfrm>
            <a:off x="11220785" y="6525768"/>
            <a:ext cx="442692" cy="1877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06 / 08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28523" y="1648968"/>
            <a:ext cx="10329977" cy="2359457"/>
            <a:chOff x="528523" y="1648968"/>
            <a:chExt cx="10329977" cy="2359457"/>
          </a:xfrm>
        </p:grpSpPr>
        <p:sp>
          <p:nvSpPr>
            <p:cNvPr id="6" name="TextBox 6"/>
            <p:cNvSpPr txBox="1"/>
            <p:nvPr/>
          </p:nvSpPr>
          <p:spPr>
            <a:xfrm>
              <a:off x="528523" y="1648968"/>
              <a:ext cx="842711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spc="48" dirty="0">
                  <a:solidFill>
                    <a:schemeClr val="dk2"/>
                  </a:solidFill>
                  <a:latin typeface="Pretendard SemiBold"/>
                  <a:ea typeface="Pretendard SemiBold"/>
                  <a:cs typeface="Pretendard SemiBold"/>
                </a:rPr>
                <a:t>FOUNDATION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952500" y="34290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rgbClr val="D4D4D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Line 8"/>
            <p:cNvSpPr/>
            <p:nvPr/>
          </p:nvSpPr>
          <p:spPr>
            <a:xfrm>
              <a:off x="4267200" y="33147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9525">
              <a:solidFill>
                <a:srgbClr val="D4D4D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Ellipse 9"/>
            <p:cNvSpPr/>
            <p:nvPr/>
          </p:nvSpPr>
          <p:spPr>
            <a:xfrm>
              <a:off x="4219575" y="3381375"/>
              <a:ext cx="95250" cy="95250"/>
            </a:xfrm>
            <a:prstGeom prst="ellipse">
              <a:avLst/>
            </a:prstGeom>
            <a:solidFill>
              <a:schemeClr val="lt1"/>
            </a:solidFill>
            <a:ln w="9525">
              <a:solidFill>
                <a:srgbClr val="9CA3AF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787384" y="3820668"/>
              <a:ext cx="959632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09/25 추석 휴강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19710" y="2106168"/>
            <a:ext cx="1065581" cy="1749857"/>
            <a:chOff x="419710" y="2106168"/>
            <a:chExt cx="1065581" cy="1749857"/>
          </a:xfrm>
        </p:grpSpPr>
        <p:sp>
          <p:nvSpPr>
            <p:cNvPr id="12" name="Line 12"/>
            <p:cNvSpPr/>
            <p:nvPr/>
          </p:nvSpPr>
          <p:spPr>
            <a:xfrm>
              <a:off x="952500" y="27813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Ellipse 13"/>
            <p:cNvSpPr/>
            <p:nvPr/>
          </p:nvSpPr>
          <p:spPr>
            <a:xfrm>
              <a:off x="904875" y="3381375"/>
              <a:ext cx="95250" cy="9525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2848" y="2106168"/>
              <a:ext cx="339303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2주차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9710" y="2429637"/>
              <a:ext cx="1065581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RAG 구조·환경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9925" y="3668268"/>
              <a:ext cx="36515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09/11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933355" y="3381375"/>
            <a:ext cx="1391091" cy="1252423"/>
            <a:chOff x="1933355" y="3381375"/>
            <a:chExt cx="1391091" cy="1252423"/>
          </a:xfrm>
        </p:grpSpPr>
        <p:sp>
          <p:nvSpPr>
            <p:cNvPr id="18" name="Line 18"/>
            <p:cNvSpPr/>
            <p:nvPr/>
          </p:nvSpPr>
          <p:spPr>
            <a:xfrm>
              <a:off x="2628900" y="3505200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Ellipse 19"/>
            <p:cNvSpPr/>
            <p:nvPr/>
          </p:nvSpPr>
          <p:spPr>
            <a:xfrm>
              <a:off x="2581275" y="3381375"/>
              <a:ext cx="95250" cy="9525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46325" y="3668268"/>
              <a:ext cx="36515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09/18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59248" y="4163568"/>
              <a:ext cx="339303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3주차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33355" y="4410837"/>
              <a:ext cx="1391091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Elasticsearch 개론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569755" y="2106168"/>
            <a:ext cx="671490" cy="1749857"/>
            <a:chOff x="5569755" y="2106168"/>
            <a:chExt cx="671490" cy="1749857"/>
          </a:xfrm>
        </p:grpSpPr>
        <p:sp>
          <p:nvSpPr>
            <p:cNvPr id="24" name="Line 24"/>
            <p:cNvSpPr/>
            <p:nvPr/>
          </p:nvSpPr>
          <p:spPr>
            <a:xfrm>
              <a:off x="5905500" y="27813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Ellipse 25"/>
            <p:cNvSpPr/>
            <p:nvPr/>
          </p:nvSpPr>
          <p:spPr>
            <a:xfrm>
              <a:off x="5857875" y="3381375"/>
              <a:ext cx="95250" cy="9525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35848" y="2106168"/>
              <a:ext cx="339303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4주차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69755" y="2429637"/>
              <a:ext cx="671490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문서 색인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22925" y="3668268"/>
              <a:ext cx="36515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10/02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169422" y="3381375"/>
            <a:ext cx="824956" cy="1252423"/>
            <a:chOff x="7169422" y="3381375"/>
            <a:chExt cx="824956" cy="1252423"/>
          </a:xfrm>
        </p:grpSpPr>
        <p:sp>
          <p:nvSpPr>
            <p:cNvPr id="30" name="Line 30"/>
            <p:cNvSpPr/>
            <p:nvPr/>
          </p:nvSpPr>
          <p:spPr>
            <a:xfrm>
              <a:off x="7581900" y="3505200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Ellipse 31"/>
            <p:cNvSpPr/>
            <p:nvPr/>
          </p:nvSpPr>
          <p:spPr>
            <a:xfrm>
              <a:off x="7534275" y="3381375"/>
              <a:ext cx="95250" cy="9525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99325" y="3668268"/>
              <a:ext cx="36515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10/09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12248" y="4163568"/>
              <a:ext cx="339303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5주차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69422" y="4410837"/>
              <a:ext cx="824956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키워드 검색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563767" y="2106168"/>
            <a:ext cx="1312865" cy="1749857"/>
            <a:chOff x="8563767" y="2106168"/>
            <a:chExt cx="1312865" cy="1749857"/>
          </a:xfrm>
        </p:grpSpPr>
        <p:sp>
          <p:nvSpPr>
            <p:cNvPr id="36" name="Line 36"/>
            <p:cNvSpPr/>
            <p:nvPr/>
          </p:nvSpPr>
          <p:spPr>
            <a:xfrm>
              <a:off x="9220200" y="27813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Ellipse 37"/>
            <p:cNvSpPr/>
            <p:nvPr/>
          </p:nvSpPr>
          <p:spPr>
            <a:xfrm>
              <a:off x="9172575" y="3381375"/>
              <a:ext cx="95250" cy="9525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50548" y="2106168"/>
              <a:ext cx="339303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6주차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63767" y="2429637"/>
              <a:ext cx="1312865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Python·파싱·청킹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37625" y="3668268"/>
              <a:ext cx="36515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10/16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796254" y="3362325"/>
            <a:ext cx="2244821" cy="1271473"/>
            <a:chOff x="8796254" y="3362325"/>
            <a:chExt cx="2244821" cy="1271473"/>
          </a:xfrm>
        </p:grpSpPr>
        <p:sp>
          <p:nvSpPr>
            <p:cNvPr id="42" name="Line 42"/>
            <p:cNvSpPr/>
            <p:nvPr/>
          </p:nvSpPr>
          <p:spPr>
            <a:xfrm>
              <a:off x="10858500" y="3505200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Ellipse 43"/>
            <p:cNvSpPr/>
            <p:nvPr/>
          </p:nvSpPr>
          <p:spPr>
            <a:xfrm>
              <a:off x="10791825" y="33623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675925" y="3668268"/>
              <a:ext cx="36515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10/23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688848" y="4163568"/>
              <a:ext cx="339303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accent2"/>
                  </a:solidFill>
                  <a:latin typeface="Pretendard Medium"/>
                  <a:ea typeface="Pretendard Medium"/>
                  <a:cs typeface="Pretendard Medium"/>
                </a:rPr>
                <a:t>7주차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796254" y="4410837"/>
              <a:ext cx="2068038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11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임베딩·벡터·하이브리드 검색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-slot Placeholder Carrier"/>
          <p:cNvSpPr txBox="1">
            <a:spLocks noGrp="1"/>
          </p:cNvSpPr>
          <p:nvPr>
            <p:ph type="title"/>
          </p:nvPr>
        </p:nvSpPr>
        <p:spPr>
          <a:xfrm>
            <a:off x="521208" y="655320"/>
            <a:ext cx="444988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2400" b="1" spc="-48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8~15주차: 평가하고 통합하기</a:t>
            </a:r>
          </a:p>
        </p:txBody>
      </p:sp>
      <p:sp>
        <p:nvSpPr>
          <p:cNvPr id="5" name="page-number-slot Placeholder Carrier"/>
          <p:cNvSpPr txBox="1">
            <a:spLocks noGrp="1"/>
          </p:cNvSpPr>
          <p:nvPr>
            <p:ph type="sldNum" idx="3"/>
          </p:nvPr>
        </p:nvSpPr>
        <p:spPr>
          <a:xfrm>
            <a:off x="11220785" y="6525768"/>
            <a:ext cx="442692" cy="1877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6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07 / 08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28523" y="1801368"/>
            <a:ext cx="10520477" cy="875157"/>
            <a:chOff x="528523" y="1801368"/>
            <a:chExt cx="10520477" cy="875157"/>
          </a:xfrm>
        </p:grpSpPr>
        <p:sp>
          <p:nvSpPr>
            <p:cNvPr id="6" name="TextBox 6"/>
            <p:cNvSpPr txBox="1"/>
            <p:nvPr/>
          </p:nvSpPr>
          <p:spPr>
            <a:xfrm>
              <a:off x="528523" y="1801368"/>
              <a:ext cx="1293327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spc="48" dirty="0">
                  <a:solidFill>
                    <a:schemeClr val="dk2"/>
                  </a:solidFill>
                  <a:latin typeface="Pretendard SemiBold"/>
                  <a:ea typeface="Pretendard SemiBold"/>
                  <a:cs typeface="Pretendard SemiBold"/>
                </a:rPr>
                <a:t>EVALUATE · DESIGN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143000" y="26670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rgbClr val="D4D4D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11275" y="2258568"/>
            <a:ext cx="625450" cy="1079830"/>
            <a:chOff x="1211275" y="2258568"/>
            <a:chExt cx="625450" cy="1079830"/>
          </a:xfrm>
        </p:grpSpPr>
        <p:sp>
          <p:nvSpPr>
            <p:cNvPr id="9" name="Ellipse 9"/>
            <p:cNvSpPr/>
            <p:nvPr/>
          </p:nvSpPr>
          <p:spPr>
            <a:xfrm>
              <a:off x="1476375" y="2619375"/>
              <a:ext cx="95250" cy="9525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41425" y="2258568"/>
              <a:ext cx="36515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10/30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4348" y="2868168"/>
              <a:ext cx="339303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8주차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11275" y="3115437"/>
              <a:ext cx="625450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중간평가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320788" y="2258568"/>
            <a:ext cx="978423" cy="1079830"/>
            <a:chOff x="3320788" y="2258568"/>
            <a:chExt cx="978423" cy="1079830"/>
          </a:xfrm>
        </p:grpSpPr>
        <p:sp>
          <p:nvSpPr>
            <p:cNvPr id="14" name="Ellipse 14"/>
            <p:cNvSpPr/>
            <p:nvPr/>
          </p:nvSpPr>
          <p:spPr>
            <a:xfrm>
              <a:off x="3762375" y="2619375"/>
              <a:ext cx="95250" cy="9525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27425" y="2258568"/>
              <a:ext cx="36515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11/06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40348" y="2868168"/>
              <a:ext cx="339303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9주차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20788" y="3115437"/>
              <a:ext cx="978423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프로젝트 착수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90225" y="2258568"/>
            <a:ext cx="611551" cy="1079830"/>
            <a:chOff x="5790225" y="2258568"/>
            <a:chExt cx="611551" cy="1079830"/>
          </a:xfrm>
        </p:grpSpPr>
        <p:sp>
          <p:nvSpPr>
            <p:cNvPr id="19" name="Ellipse 19"/>
            <p:cNvSpPr/>
            <p:nvPr/>
          </p:nvSpPr>
          <p:spPr>
            <a:xfrm>
              <a:off x="6048375" y="2619375"/>
              <a:ext cx="95250" cy="9525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13425" y="2258568"/>
              <a:ext cx="36515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11/13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90809" y="2868168"/>
              <a:ext cx="410383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10주차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90225" y="3115437"/>
              <a:ext cx="611551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검색 API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046255" y="2258568"/>
            <a:ext cx="671490" cy="1079830"/>
            <a:chOff x="8046255" y="2258568"/>
            <a:chExt cx="671490" cy="1079830"/>
          </a:xfrm>
        </p:grpSpPr>
        <p:sp>
          <p:nvSpPr>
            <p:cNvPr id="24" name="Ellipse 24"/>
            <p:cNvSpPr/>
            <p:nvPr/>
          </p:nvSpPr>
          <p:spPr>
            <a:xfrm>
              <a:off x="8334375" y="2619375"/>
              <a:ext cx="95250" cy="9525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99425" y="2258568"/>
              <a:ext cx="36515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11/20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76809" y="2868168"/>
              <a:ext cx="410383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11주차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46255" y="3115437"/>
              <a:ext cx="671490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품질 평가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332255" y="2258568"/>
            <a:ext cx="671490" cy="1079830"/>
            <a:chOff x="10332255" y="2258568"/>
            <a:chExt cx="671490" cy="1079830"/>
          </a:xfrm>
        </p:grpSpPr>
        <p:sp>
          <p:nvSpPr>
            <p:cNvPr id="29" name="Ellipse 29"/>
            <p:cNvSpPr/>
            <p:nvPr/>
          </p:nvSpPr>
          <p:spPr>
            <a:xfrm>
              <a:off x="10620375" y="2619375"/>
              <a:ext cx="95250" cy="9525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485425" y="2258568"/>
              <a:ext cx="36515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11/27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62809" y="2868168"/>
              <a:ext cx="410383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12주차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32255" y="3115437"/>
              <a:ext cx="671490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결과 분석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28523" y="3820668"/>
            <a:ext cx="10520477" cy="798957"/>
            <a:chOff x="528523" y="3820668"/>
            <a:chExt cx="10520477" cy="798957"/>
          </a:xfrm>
        </p:grpSpPr>
        <p:sp>
          <p:nvSpPr>
            <p:cNvPr id="34" name="TextBox 34"/>
            <p:cNvSpPr txBox="1"/>
            <p:nvPr/>
          </p:nvSpPr>
          <p:spPr>
            <a:xfrm>
              <a:off x="528523" y="3820668"/>
              <a:ext cx="1457188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spc="48" dirty="0">
                  <a:solidFill>
                    <a:schemeClr val="dk2"/>
                  </a:solidFill>
                  <a:latin typeface="Pretendard SemiBold"/>
                  <a:ea typeface="Pretendard SemiBold"/>
                  <a:cs typeface="Pretendard SemiBold"/>
                </a:rPr>
                <a:t>INTEGRATE · PRESENT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1143000" y="46101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rgbClr val="D4D4D4"/>
              </a:solidFill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8055" y="4239768"/>
            <a:ext cx="1131890" cy="1041730"/>
            <a:chOff x="958055" y="4239768"/>
            <a:chExt cx="1131890" cy="1041730"/>
          </a:xfrm>
        </p:grpSpPr>
        <p:sp>
          <p:nvSpPr>
            <p:cNvPr id="37" name="Ellipse 37"/>
            <p:cNvSpPr/>
            <p:nvPr/>
          </p:nvSpPr>
          <p:spPr>
            <a:xfrm>
              <a:off x="1476375" y="4562475"/>
              <a:ext cx="95250" cy="9525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41425" y="4239768"/>
              <a:ext cx="36515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12/04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18809" y="4811268"/>
              <a:ext cx="410383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13주차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58055" y="5058537"/>
              <a:ext cx="1131890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파이프라인 통합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664338" y="4239768"/>
            <a:ext cx="863323" cy="1041730"/>
            <a:chOff x="5664338" y="4239768"/>
            <a:chExt cx="863323" cy="1041730"/>
          </a:xfrm>
        </p:grpSpPr>
        <p:sp>
          <p:nvSpPr>
            <p:cNvPr id="42" name="Ellipse 42"/>
            <p:cNvSpPr/>
            <p:nvPr/>
          </p:nvSpPr>
          <p:spPr>
            <a:xfrm>
              <a:off x="6048375" y="4562475"/>
              <a:ext cx="95250" cy="9525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913425" y="4239768"/>
              <a:ext cx="36515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12/11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890809" y="4811268"/>
              <a:ext cx="410383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dk2"/>
                  </a:solidFill>
                  <a:latin typeface="Pretendard Medium"/>
                  <a:ea typeface="Pretendard Medium"/>
                  <a:cs typeface="Pretendard Medium"/>
                </a:rPr>
                <a:t>14주차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64338" y="5058537"/>
              <a:ext cx="863323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평가·안정화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159605" y="4239768"/>
            <a:ext cx="1016790" cy="1041730"/>
            <a:chOff x="10159605" y="4239768"/>
            <a:chExt cx="1016790" cy="1041730"/>
          </a:xfrm>
        </p:grpSpPr>
        <p:sp>
          <p:nvSpPr>
            <p:cNvPr id="47" name="Ellipse 47"/>
            <p:cNvSpPr/>
            <p:nvPr/>
          </p:nvSpPr>
          <p:spPr>
            <a:xfrm>
              <a:off x="10601325" y="45434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485425" y="4239768"/>
              <a:ext cx="36515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60" dirty="0">
                  <a:solidFill>
                    <a:schemeClr val="accent6"/>
                  </a:solidFill>
                  <a:latin typeface="Pretendard Medium"/>
                  <a:ea typeface="Pretendard Medium"/>
                  <a:cs typeface="Pretendard Medium"/>
                </a:rPr>
                <a:t>12/18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462809" y="4811268"/>
              <a:ext cx="410383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960" dirty="0">
                  <a:solidFill>
                    <a:schemeClr val="accent2"/>
                  </a:solidFill>
                  <a:latin typeface="Pretendard Medium"/>
                  <a:ea typeface="Pretendard Medium"/>
                  <a:cs typeface="Pretendard Medium"/>
                </a:rPr>
                <a:t>15주차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159605" y="5058537"/>
              <a:ext cx="1016790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최종평가·발표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886617" y="6353937"/>
            <a:ext cx="4418765" cy="222961"/>
            <a:chOff x="3886617" y="6353937"/>
            <a:chExt cx="4418765" cy="222961"/>
          </a:xfrm>
        </p:grpSpPr>
        <p:sp>
          <p:nvSpPr>
            <p:cNvPr id="52" name="TextBox 52"/>
            <p:cNvSpPr txBox="1"/>
            <p:nvPr/>
          </p:nvSpPr>
          <p:spPr>
            <a:xfrm>
              <a:off x="3886617" y="6353937"/>
              <a:ext cx="4418765" cy="2229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1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검색 결과를 설명하고 개선하는 과정이 프로젝트의 핵심이다.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-slot Placeholder Carrier"/>
          <p:cNvSpPr txBox="1">
            <a:spLocks noGrp="1"/>
          </p:cNvSpPr>
          <p:nvPr>
            <p:ph type="title"/>
          </p:nvPr>
        </p:nvSpPr>
        <p:spPr>
          <a:xfrm>
            <a:off x="514350" y="2785110"/>
            <a:ext cx="4747915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4200" spc="-126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답변 생성보다 먼저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28523" y="1610868"/>
            <a:ext cx="1429878" cy="187757"/>
            <a:chOff x="528523" y="1610868"/>
            <a:chExt cx="1429878" cy="187757"/>
          </a:xfrm>
        </p:grpSpPr>
        <p:sp>
          <p:nvSpPr>
            <p:cNvPr id="6" name="TextBox 6"/>
            <p:cNvSpPr txBox="1"/>
            <p:nvPr/>
          </p:nvSpPr>
          <p:spPr>
            <a:xfrm>
              <a:off x="528523" y="1610868"/>
              <a:ext cx="1429878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spc="48" dirty="0">
                  <a:solidFill>
                    <a:schemeClr val="dk2"/>
                  </a:solidFill>
                  <a:latin typeface="Pretendard SemiBold"/>
                  <a:ea typeface="Pretendard SemiBold"/>
                  <a:cs typeface="Pretendard SemiBold"/>
                </a:rPr>
                <a:t>COURSE DESTINATION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18160" y="3581400"/>
            <a:ext cx="4731410" cy="586740"/>
            <a:chOff x="518160" y="3581400"/>
            <a:chExt cx="4731410" cy="586740"/>
          </a:xfrm>
        </p:grpSpPr>
        <p:sp>
          <p:nvSpPr>
            <p:cNvPr id="8" name="TextBox 8"/>
            <p:cNvSpPr txBox="1"/>
            <p:nvPr/>
          </p:nvSpPr>
          <p:spPr>
            <a:xfrm>
              <a:off x="518160" y="3581400"/>
              <a:ext cx="47314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000" spc="-60" dirty="0">
                  <a:solidFill>
                    <a:schemeClr val="accent2"/>
                  </a:solidFill>
                  <a:latin typeface="Pretendard ExtraBold"/>
                  <a:ea typeface="Pretendard ExtraBold"/>
                  <a:cs typeface="Pretendard ExtraBold"/>
                </a:rPr>
                <a:t>잘 찾는 시스템을 완성한다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26390" y="4327779"/>
            <a:ext cx="3733394" cy="212366"/>
            <a:chOff x="526390" y="4327779"/>
            <a:chExt cx="3733394" cy="212366"/>
          </a:xfrm>
        </p:grpSpPr>
        <p:sp>
          <p:nvSpPr>
            <p:cNvPr id="10" name="TextBox 10"/>
            <p:cNvSpPr txBox="1"/>
            <p:nvPr/>
          </p:nvSpPr>
          <p:spPr>
            <a:xfrm>
              <a:off x="526390" y="4327779"/>
              <a:ext cx="3733394" cy="2123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80" dirty="0">
                  <a:solidFill>
                    <a:schemeClr val="dk1"/>
                  </a:solidFill>
                  <a:latin typeface="Pretendard SemiBold"/>
                  <a:ea typeface="Pretendard SemiBold"/>
                  <a:cs typeface="Pretendard SemiBold"/>
                </a:rPr>
                <a:t>통합 파이프라인 · 실행 가능한 API · 평가 · 최종 보고서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28523" y="6525768"/>
            <a:ext cx="1969252" cy="1877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ko-KR" sz="960" dirty="0">
                <a:solidFill>
                  <a:schemeClr val="accent6"/>
                </a:solidFill>
                <a:latin typeface="Pretendard Medium"/>
                <a:ea typeface="Pretendard Medium"/>
                <a:cs typeface="Pretendard Medium"/>
              </a:rPr>
              <a:t>실전프로젝트 IV · 2026년 2학기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1A1A"/>
      </a:dk1>
      <a:lt1>
        <a:srgbClr val="FAFAF9"/>
      </a:lt1>
      <a:dk2>
        <a:srgbClr val="6B7280"/>
      </a:dk2>
      <a:lt2>
        <a:srgbClr val="FAFAF9"/>
      </a:lt2>
      <a:accent1>
        <a:srgbClr val="4633E3"/>
      </a:accent1>
      <a:accent2>
        <a:srgbClr val="4633E3"/>
      </a:accent2>
      <a:accent3>
        <a:srgbClr val="4633E3"/>
      </a:accent3>
      <a:accent4>
        <a:srgbClr val="E5E7EB"/>
      </a:accent4>
      <a:accent5>
        <a:srgbClr val="F5F5F4"/>
      </a:accent5>
      <a:accent6>
        <a:srgbClr val="9CA3AF"/>
      </a:accent6>
      <a:hlink>
        <a:srgbClr val="4633E3"/>
      </a:hlink>
      <a:folHlink>
        <a:srgbClr val="4633E3"/>
      </a:folHlink>
    </a:clrScheme>
    <a:fontScheme name="PPT Master">
      <a:maj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Pretendard"/>
        <a:cs typeface="Pretendard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352</Words>
  <Application>Microsoft Office PowerPoint</Application>
  <PresentationFormat>와이드스크린</PresentationFormat>
  <Paragraphs>124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Pretendard</vt:lpstr>
      <vt:lpstr>Pretendard ExtraBold</vt:lpstr>
      <vt:lpstr>Pretendard Medium</vt:lpstr>
      <vt:lpstr>Pretendard SemiBold</vt:lpstr>
      <vt:lpstr>Arial</vt:lpstr>
      <vt:lpstr>Office Theme</vt:lpstr>
      <vt:lpstr>Elasticsearch 기반 RAG</vt:lpstr>
      <vt:lpstr>RAG에서 우리가 만드는 부분</vt:lpstr>
      <vt:lpstr>수업을 마치면 할 수 있는 것</vt:lpstr>
      <vt:lpstr>실습에 사용하는 도구</vt:lpstr>
      <vt:lpstr>주요 일정</vt:lpstr>
      <vt:lpstr>2~7주차: 검색 기반 다지기</vt:lpstr>
      <vt:lpstr>8~15주차: 평가하고 통합하기</vt:lpstr>
      <vt:lpstr>답변 생성보다 먼저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정 명곤</cp:lastModifiedBy>
  <cp:revision>2</cp:revision>
  <dcterms:created xsi:type="dcterms:W3CDTF">2026-09-09T15:12:49Z</dcterms:created>
  <dcterms:modified xsi:type="dcterms:W3CDTF">2026-09-10T23:26:25Z</dcterms:modified>
  <cp:category/>
  <cp:contentStatus/>
  <dc:language/>
</cp:coreProperties>
</file>