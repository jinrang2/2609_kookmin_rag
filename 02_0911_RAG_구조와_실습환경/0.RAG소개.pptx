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0" r:id="rId2"/>
  </p:sldMasterIdLst>
  <p:notesMasterIdLst>
    <p:notesMasterId r:id="rId9"/>
  </p:notesMasterIdLst>
  <p:sldIdLst>
    <p:sldId id="256" r:id="rId3"/>
    <p:sldId id="257" r:id="rId4"/>
    <p:sldId id="258" r:id="rId5"/>
    <p:sldId id="259" r:id="rId6"/>
    <p:sldId id="260" r:id="rId7"/>
    <p:sldId id="261" r:id="rId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6697" autoAdjust="0"/>
  </p:normalViewPr>
  <p:slideViewPr>
    <p:cSldViewPr snapToGrid="0">
      <p:cViewPr varScale="1">
        <p:scale>
          <a:sx n="101" d="100"/>
          <a:sy n="101" d="100"/>
        </p:scale>
        <p:origin x="95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viewProps" Target="viewProps.xml"/><Relationship Id="rId5" Type="http://schemas.openxmlformats.org/officeDocument/2006/relationships/slide" Target="slides/slide3.xml"/><Relationship Id="rId10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RAG를 깊은 모델 이론보다 ‘질문에 맞는 근거를 찾아 답변에 붙이는 시스템’으로 소개합니다.</a:t>
            </a:r>
          </a:p>
          <a:p>
            <a:r>
              <a:t>오늘의 초점은 생성 모델보다 검색과 파이프라인입니다.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RAG는 질문과 관련된 외부 문서를 검색하고, 그 문서를 생성 모델의 입력 근거로 넣는 방식입니다.</a:t>
            </a:r>
          </a:p>
          <a:p>
            <a:r>
              <a:t>원 논문: https://arxiv.org/abs/2005.11401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현대 RAG는 오프라인 문서 준비와 온라인 검색·생성 파이프라인을 나누어 생각하면 이해하기 쉽습니다.</a:t>
            </a:r>
          </a:p>
          <a:p>
            <a:r>
              <a:t>키워드 검색과 벡터 검색을 함께 쓰고, 상위 후보에만 더 무거운 재순위 모델을 적용하는 다단계 검색이 일반적입니다.</a:t>
            </a:r>
          </a:p>
          <a:p>
            <a:r>
              <a:t>참고: https://www.elastic.co/docs/solutions/search/hybrid-search</a:t>
            </a:r>
          </a:p>
          <a:p>
            <a:r>
              <a:t>참고: https://www.elastic.co/docs/solutions/search/ranking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커리큘럼 원문에 따라 구현 범위는 문서 준비부터 검색 결과와 원문 정보를 포함한 컨텍스트 구성까지입니다.</a:t>
            </a:r>
          </a:p>
          <a:p>
            <a:r>
              <a:t>검색 결과를 API로 제공하고 Notebook에서 Hit@k와 MRR로 평가합니다.</a:t>
            </a:r>
          </a:p>
          <a:p>
            <a:r>
              <a:t>LLM 답변 생성과 에이전트 구현은 이번 강의 범위에서 제외합니다.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같은 질문도 어떤 문서를 검색했는지에 따라 답변 가능 여부가 달라집니다.</a:t>
            </a:r>
          </a:p>
          <a:p>
            <a:r>
              <a:t>왼쪽 검색 결과에는 예외 일정만 있으므로, 근거에 충실한 답변은 평소 장소를 알 수 없다고 해야 합니다.</a:t>
            </a:r>
          </a:p>
          <a:p>
            <a:r>
              <a:t>오른쪽은 정규 장소와 예외 일정을 함께 검색했기 때문에 질문에 답할 수 있습니다.</a:t>
            </a:r>
          </a:p>
          <a:p>
            <a:r>
              <a:t>그래서 생성 모델을 붙이기 전에 검색 결과 자체를 Hit@k, MRR, 원문 정보로 점검합니다.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파이프라인은 여러 도구를 연결하는 코드만 뜻하지 않습니다.</a:t>
            </a:r>
          </a:p>
          <a:p>
            <a:r>
              <a:t>입력 데이터와 설정을 고정하고, 한 단계만 바꾼 뒤 같은 API와 평가 Notebook으로 결과를 비교하는 실험 구조입니다.</a:t>
            </a:r>
          </a:p>
          <a:p>
            <a:r>
              <a:t>Elasticsearch는 키워드 검색과 벡터 검색 결과를 RRF 등으로 결합할 수 있습니다.</a:t>
            </a:r>
          </a:p>
          <a:p>
            <a:r>
              <a:t>참고: https://www.elastic.co/docs/solutions/search/hybrid-search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ver-bottom-divider">
            <a:extLst>
              <a:ext uri="{FF2B5EF4-FFF2-40B4-BE49-F238E27FC236}">
                <a16:creationId xmlns:a16="http://schemas.microsoft.com/office/drawing/2014/main" id="{2857ABB7-52AC-421A-BC1E-E572C8F97DC1}"/>
              </a:ext>
            </a:extLst>
          </p:cNvPr>
          <p:cNvSpPr>
            <a:spLocks noGrp="1"/>
          </p:cNvSpPr>
          <p:nvPr/>
        </p:nvSpPr>
        <p:spPr>
          <a:xfrm>
            <a:off x="533400" y="6400800"/>
            <a:ext cx="11125200" cy="9525"/>
          </a:xfrm>
          <a:prstGeom prst="rect">
            <a:avLst/>
          </a:prstGeom>
          <a:solidFill>
            <a:srgbClr val="E5E7EB"/>
          </a:solidFill>
          <a:ln w="0">
            <a:solidFill>
              <a:srgbClr val="E5E7EB"/>
            </a:solidFill>
          </a:ln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_1">
            <a:extLst>
              <a:ext uri="{FF2B5EF4-FFF2-40B4-BE49-F238E27FC236}">
                <a16:creationId xmlns:a16="http://schemas.microsoft.com/office/drawing/2014/main" id="{0435C254-62A2-409C-A43F-523F3B9750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552450"/>
            <a:ext cx="111252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>
              <a:defRPr sz="240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페이지 제목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Jangpm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over-eyebrow">
            <a:extLst>
              <a:ext uri="{FF2B5EF4-FFF2-40B4-BE49-F238E27FC236}">
                <a16:creationId xmlns:a16="http://schemas.microsoft.com/office/drawing/2014/main" id="{0434F8A3-E2EE-480B-BE51-C13C8846D483}"/>
              </a:ext>
            </a:extLst>
          </p:cNvPr>
          <p:cNvSpPr>
            <a:spLocks noGrp="1"/>
          </p:cNvSpPr>
          <p:nvPr/>
        </p:nvSpPr>
        <p:spPr>
          <a:xfrm>
            <a:off x="533400" y="1571625"/>
            <a:ext cx="40005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buNone/>
              <a:defRPr sz="960" b="1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pPr>
            <a:r>
              <a:rPr sz="960" b="1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PRACTICAL PROJECT IV</a:t>
            </a:r>
          </a:p>
        </p:txBody>
      </p:sp>
      <p:sp>
        <p:nvSpPr>
          <p:cNvPr id="2" name="cover-title">
            <a:extLst>
              <a:ext uri="{FF2B5EF4-FFF2-40B4-BE49-F238E27FC236}">
                <a16:creationId xmlns:a16="http://schemas.microsoft.com/office/drawing/2014/main" id="{BAC26CBD-BEBF-4C4D-A7BB-214637DEE755}"/>
              </a:ext>
            </a:extLst>
          </p:cNvPr>
          <p:cNvSpPr>
            <a:spLocks noGrp="1"/>
          </p:cNvSpPr>
          <p:nvPr/>
        </p:nvSpPr>
        <p:spPr>
          <a:xfrm>
            <a:off x="533400" y="2571750"/>
            <a:ext cx="106680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buNone/>
              <a:defRPr sz="420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420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RAG</a:t>
            </a:r>
          </a:p>
        </p:txBody>
      </p:sp>
      <p:sp>
        <p:nvSpPr>
          <p:cNvPr id="3" name="cover-accent">
            <a:extLst>
              <a:ext uri="{FF2B5EF4-FFF2-40B4-BE49-F238E27FC236}">
                <a16:creationId xmlns:a16="http://schemas.microsoft.com/office/drawing/2014/main" id="{6DDCF1B3-C59F-444B-8F90-CE58A759CA64}"/>
              </a:ext>
            </a:extLst>
          </p:cNvPr>
          <p:cNvSpPr>
            <a:spLocks noGrp="1"/>
          </p:cNvSpPr>
          <p:nvPr/>
        </p:nvSpPr>
        <p:spPr>
          <a:xfrm>
            <a:off x="533400" y="3333750"/>
            <a:ext cx="1066800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3000" b="1">
                <a:solidFill>
                  <a:srgbClr val="4633E3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4633E3"/>
                </a:solidFill>
                <a:latin typeface="Malgun Gothic"/>
                <a:ea typeface="Malgun Gothic"/>
                <a:cs typeface="Malgun Gothic"/>
              </a:rPr>
              <a:t>검색에서 시작하는 생성형 AI</a:t>
            </a:r>
          </a:p>
        </p:txBody>
      </p:sp>
      <p:sp>
        <p:nvSpPr>
          <p:cNvPr id="4" name="cover-subtitle">
            <a:extLst>
              <a:ext uri="{FF2B5EF4-FFF2-40B4-BE49-F238E27FC236}">
                <a16:creationId xmlns:a16="http://schemas.microsoft.com/office/drawing/2014/main" id="{7F19113E-118D-4C5E-B315-BBEFDC9FA2DE}"/>
              </a:ext>
            </a:extLst>
          </p:cNvPr>
          <p:cNvSpPr>
            <a:spLocks noGrp="1"/>
          </p:cNvSpPr>
          <p:nvPr/>
        </p:nvSpPr>
        <p:spPr>
          <a:xfrm>
            <a:off x="533400" y="4171950"/>
            <a:ext cx="76200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buNone/>
              <a:defRPr sz="138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380" b="1" dirty="0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RAG </a:t>
            </a:r>
            <a:r>
              <a:rPr sz="1380" b="1" dirty="0" err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구조와</a:t>
            </a:r>
            <a:r>
              <a:rPr sz="1380" b="1" dirty="0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380" b="1" dirty="0" err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구현</a:t>
            </a:r>
            <a:r>
              <a:rPr sz="1380" b="1" dirty="0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380" b="1" dirty="0" err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범위</a:t>
            </a:r>
            <a:endParaRPr sz="1380" b="1" dirty="0">
              <a:solidFill>
                <a:srgbClr val="1A1A1A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5" name="cover-rail">
            <a:extLst>
              <a:ext uri="{FF2B5EF4-FFF2-40B4-BE49-F238E27FC236}">
                <a16:creationId xmlns:a16="http://schemas.microsoft.com/office/drawing/2014/main" id="{EF804CA0-FB2F-4D3E-B165-329B22CFD042}"/>
              </a:ext>
            </a:extLst>
          </p:cNvPr>
          <p:cNvSpPr>
            <a:spLocks noGrp="1"/>
          </p:cNvSpPr>
          <p:nvPr/>
        </p:nvSpPr>
        <p:spPr>
          <a:xfrm>
            <a:off x="533400" y="5238750"/>
            <a:ext cx="5334000" cy="19050"/>
          </a:xfrm>
          <a:prstGeom prst="rect">
            <a:avLst/>
          </a:prstGeom>
          <a:solidFill>
            <a:srgbClr val="D4D4D4"/>
          </a:solidFill>
          <a:ln w="0">
            <a:solidFill>
              <a:srgbClr val="D4D4D4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cover-dot-1">
            <a:extLst>
              <a:ext uri="{FF2B5EF4-FFF2-40B4-BE49-F238E27FC236}">
                <a16:creationId xmlns:a16="http://schemas.microsoft.com/office/drawing/2014/main" id="{BF5A6177-D5EA-42B1-8BA5-49C6874A7F6E}"/>
              </a:ext>
            </a:extLst>
          </p:cNvPr>
          <p:cNvSpPr>
            <a:spLocks noGrp="1"/>
          </p:cNvSpPr>
          <p:nvPr/>
        </p:nvSpPr>
        <p:spPr>
          <a:xfrm>
            <a:off x="476250" y="5181600"/>
            <a:ext cx="114300" cy="114300"/>
          </a:xfrm>
          <a:prstGeom prst="ellipse">
            <a:avLst/>
          </a:prstGeom>
          <a:solidFill>
            <a:srgbClr val="1A1A1A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cover-dot-2">
            <a:extLst>
              <a:ext uri="{FF2B5EF4-FFF2-40B4-BE49-F238E27FC236}">
                <a16:creationId xmlns:a16="http://schemas.microsoft.com/office/drawing/2014/main" id="{571FEEC2-02A3-4B1E-A768-3EC54024EA0F}"/>
              </a:ext>
            </a:extLst>
          </p:cNvPr>
          <p:cNvSpPr>
            <a:spLocks noGrp="1"/>
          </p:cNvSpPr>
          <p:nvPr/>
        </p:nvSpPr>
        <p:spPr>
          <a:xfrm>
            <a:off x="1809750" y="5181600"/>
            <a:ext cx="114300" cy="114300"/>
          </a:xfrm>
          <a:prstGeom prst="ellipse">
            <a:avLst/>
          </a:prstGeom>
          <a:solidFill>
            <a:srgbClr val="D4D4D4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cover-dot-3">
            <a:extLst>
              <a:ext uri="{FF2B5EF4-FFF2-40B4-BE49-F238E27FC236}">
                <a16:creationId xmlns:a16="http://schemas.microsoft.com/office/drawing/2014/main" id="{71D9DDC8-99DD-4EED-9F5C-2D90662955A0}"/>
              </a:ext>
            </a:extLst>
          </p:cNvPr>
          <p:cNvSpPr>
            <a:spLocks noGrp="1"/>
          </p:cNvSpPr>
          <p:nvPr/>
        </p:nvSpPr>
        <p:spPr>
          <a:xfrm>
            <a:off x="3143250" y="5181600"/>
            <a:ext cx="114300" cy="114300"/>
          </a:xfrm>
          <a:prstGeom prst="ellipse">
            <a:avLst/>
          </a:prstGeom>
          <a:solidFill>
            <a:srgbClr val="D4D4D4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cover-dot-4">
            <a:extLst>
              <a:ext uri="{FF2B5EF4-FFF2-40B4-BE49-F238E27FC236}">
                <a16:creationId xmlns:a16="http://schemas.microsoft.com/office/drawing/2014/main" id="{5B1B4B7D-A84D-45CE-856C-345F62A7004D}"/>
              </a:ext>
            </a:extLst>
          </p:cNvPr>
          <p:cNvSpPr>
            <a:spLocks noGrp="1"/>
          </p:cNvSpPr>
          <p:nvPr/>
        </p:nvSpPr>
        <p:spPr>
          <a:xfrm>
            <a:off x="4476750" y="5181600"/>
            <a:ext cx="114300" cy="114300"/>
          </a:xfrm>
          <a:prstGeom prst="ellipse">
            <a:avLst/>
          </a:prstGeom>
          <a:solidFill>
            <a:srgbClr val="D4D4D4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cover-dot-5">
            <a:extLst>
              <a:ext uri="{FF2B5EF4-FFF2-40B4-BE49-F238E27FC236}">
                <a16:creationId xmlns:a16="http://schemas.microsoft.com/office/drawing/2014/main" id="{B4E4C5B8-00DE-4D4C-A857-A5B276F82BAC}"/>
              </a:ext>
            </a:extLst>
          </p:cNvPr>
          <p:cNvSpPr>
            <a:spLocks noGrp="1"/>
          </p:cNvSpPr>
          <p:nvPr/>
        </p:nvSpPr>
        <p:spPr>
          <a:xfrm>
            <a:off x="5791200" y="5162550"/>
            <a:ext cx="152400" cy="152400"/>
          </a:xfrm>
          <a:prstGeom prst="ellipse">
            <a:avLst/>
          </a:prstGeom>
          <a:solidFill>
            <a:srgbClr val="4633E3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cover-rail-left">
            <a:extLst>
              <a:ext uri="{FF2B5EF4-FFF2-40B4-BE49-F238E27FC236}">
                <a16:creationId xmlns:a16="http://schemas.microsoft.com/office/drawing/2014/main" id="{2DA4D058-BE77-4871-8B8D-5BEC79C7130E}"/>
              </a:ext>
            </a:extLst>
          </p:cNvPr>
          <p:cNvSpPr>
            <a:spLocks noGrp="1"/>
          </p:cNvSpPr>
          <p:nvPr/>
        </p:nvSpPr>
        <p:spPr>
          <a:xfrm>
            <a:off x="533400" y="5448300"/>
            <a:ext cx="7620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960" b="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pPr>
            <a:r>
              <a:rPr sz="960" b="0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문서</a:t>
            </a:r>
          </a:p>
        </p:txBody>
      </p:sp>
      <p:sp>
        <p:nvSpPr>
          <p:cNvPr id="12" name="cover-rail-right">
            <a:extLst>
              <a:ext uri="{FF2B5EF4-FFF2-40B4-BE49-F238E27FC236}">
                <a16:creationId xmlns:a16="http://schemas.microsoft.com/office/drawing/2014/main" id="{134C5247-92F4-409B-ACE9-4598CF4C343C}"/>
              </a:ext>
            </a:extLst>
          </p:cNvPr>
          <p:cNvSpPr>
            <a:spLocks noGrp="1"/>
          </p:cNvSpPr>
          <p:nvPr/>
        </p:nvSpPr>
        <p:spPr>
          <a:xfrm>
            <a:off x="5486400" y="5448300"/>
            <a:ext cx="3810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  <a:buNone/>
              <a:defRPr sz="960" b="1">
                <a:solidFill>
                  <a:srgbClr val="4633E3"/>
                </a:solidFill>
                <a:latin typeface="Malgun Gothic"/>
                <a:ea typeface="Malgun Gothic"/>
                <a:cs typeface="Malgun Gothic"/>
              </a:defRPr>
            </a:pPr>
            <a:r>
              <a:rPr sz="960" b="1">
                <a:solidFill>
                  <a:srgbClr val="4633E3"/>
                </a:solidFill>
                <a:latin typeface="Malgun Gothic"/>
                <a:ea typeface="Malgun Gothic"/>
                <a:cs typeface="Malgun Gothic"/>
              </a:rPr>
              <a:t>답변</a:t>
            </a:r>
          </a:p>
        </p:txBody>
      </p:sp>
      <p:sp>
        <p:nvSpPr>
          <p:cNvPr id="13" name="cover-footer">
            <a:extLst>
              <a:ext uri="{FF2B5EF4-FFF2-40B4-BE49-F238E27FC236}">
                <a16:creationId xmlns:a16="http://schemas.microsoft.com/office/drawing/2014/main" id="{64C08B49-DD1A-4A76-A6F4-93B3888A7BF7}"/>
              </a:ext>
            </a:extLst>
          </p:cNvPr>
          <p:cNvSpPr>
            <a:spLocks noGrp="1"/>
          </p:cNvSpPr>
          <p:nvPr/>
        </p:nvSpPr>
        <p:spPr>
          <a:xfrm>
            <a:off x="533400" y="6096000"/>
            <a:ext cx="57150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buNone/>
              <a:defRPr sz="1140" b="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pPr>
            <a:r>
              <a:rPr sz="1140" b="0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실전프로젝트 IV · 2026년 2학기</a:t>
            </a:r>
          </a:p>
        </p:txBody>
      </p:sp>
    </p:spTree>
    <p:extLst>
      <p:ext uri="{BB962C8B-B14F-4D97-AF65-F5344CB8AC3E}">
        <p14:creationId xmlns:p14="http://schemas.microsoft.com/office/powerpoint/2010/main" val="10781297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_1">
            <a:extLst>
              <a:ext uri="{FF2B5EF4-FFF2-40B4-BE49-F238E27FC236}">
                <a16:creationId xmlns:a16="http://schemas.microsoft.com/office/drawing/2014/main" id="{0435C254-62A2-409C-A43F-523F3B975077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>
              <a:defRPr sz="240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RAG는 질문에 맞는 자료를 먼저 찾는다</a:t>
            </a:r>
          </a:p>
        </p:txBody>
      </p:sp>
      <p:sp>
        <p:nvSpPr>
          <p:cNvPr id="2" name="eyebrow-2">
            <a:extLst>
              <a:ext uri="{FF2B5EF4-FFF2-40B4-BE49-F238E27FC236}">
                <a16:creationId xmlns:a16="http://schemas.microsoft.com/office/drawing/2014/main" id="{998D1435-4605-46F5-81D8-DCB2E96F901B}"/>
              </a:ext>
            </a:extLst>
          </p:cNvPr>
          <p:cNvSpPr>
            <a:spLocks noGrp="1"/>
          </p:cNvSpPr>
          <p:nvPr/>
        </p:nvSpPr>
        <p:spPr>
          <a:xfrm>
            <a:off x="533400" y="1028700"/>
            <a:ext cx="49530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buNone/>
              <a:defRPr sz="960" b="1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pPr>
            <a:r>
              <a:rPr sz="960" b="1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RAG IN ONE MINUTE</a:t>
            </a:r>
          </a:p>
        </p:txBody>
      </p:sp>
      <p:sp>
        <p:nvSpPr>
          <p:cNvPr id="3" name="gm-2">
            <a:extLst>
              <a:ext uri="{FF2B5EF4-FFF2-40B4-BE49-F238E27FC236}">
                <a16:creationId xmlns:a16="http://schemas.microsoft.com/office/drawing/2014/main" id="{82FB0647-8E21-4106-9343-AE0DCD6E6EC8}"/>
              </a:ext>
            </a:extLst>
          </p:cNvPr>
          <p:cNvSpPr>
            <a:spLocks noGrp="1"/>
          </p:cNvSpPr>
          <p:nvPr/>
        </p:nvSpPr>
        <p:spPr>
          <a:xfrm>
            <a:off x="1809750" y="6229350"/>
            <a:ext cx="85725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140" b="1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pPr>
            <a:r>
              <a:rPr sz="1140" b="1" dirty="0" err="1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외부</a:t>
            </a:r>
            <a:r>
              <a:rPr sz="1140" b="1" dirty="0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140" b="1" dirty="0" err="1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문서를</a:t>
            </a:r>
            <a:r>
              <a:rPr sz="1140" b="1" dirty="0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140" b="1" dirty="0" err="1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근거로</a:t>
            </a:r>
            <a:r>
              <a:rPr sz="1140" b="1" dirty="0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140" b="1" dirty="0" err="1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사용하면</a:t>
            </a:r>
            <a:r>
              <a:rPr sz="1140" b="1" dirty="0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140" b="1" dirty="0" err="1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답변을</a:t>
            </a:r>
            <a:r>
              <a:rPr sz="1140" b="1" dirty="0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140" b="1" dirty="0" err="1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최신</a:t>
            </a:r>
            <a:r>
              <a:rPr sz="1140" b="1" dirty="0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140" b="1" dirty="0" err="1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정보에</a:t>
            </a:r>
            <a:r>
              <a:rPr sz="1140" b="1" dirty="0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140" b="1" dirty="0" err="1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연결할</a:t>
            </a:r>
            <a:r>
              <a:rPr sz="1140" b="1" dirty="0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 수 </a:t>
            </a:r>
            <a:r>
              <a:rPr sz="1140" b="1" dirty="0" err="1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있다</a:t>
            </a:r>
            <a:r>
              <a:rPr sz="1140" b="1" dirty="0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.</a:t>
            </a:r>
          </a:p>
        </p:txBody>
      </p:sp>
      <p:sp>
        <p:nvSpPr>
          <p:cNvPr id="4" name="page-2">
            <a:extLst>
              <a:ext uri="{FF2B5EF4-FFF2-40B4-BE49-F238E27FC236}">
                <a16:creationId xmlns:a16="http://schemas.microsoft.com/office/drawing/2014/main" id="{F139ED1A-1DFC-43EF-9E45-5D2DD8ED12AC}"/>
              </a:ext>
            </a:extLst>
          </p:cNvPr>
          <p:cNvSpPr>
            <a:spLocks noGrp="1"/>
          </p:cNvSpPr>
          <p:nvPr/>
        </p:nvSpPr>
        <p:spPr>
          <a:xfrm>
            <a:off x="10191750" y="6496050"/>
            <a:ext cx="13716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  <a:buNone/>
              <a:defRPr sz="960" b="0">
                <a:solidFill>
                  <a:srgbClr val="9CA3AF"/>
                </a:solidFill>
                <a:latin typeface="Malgun Gothic"/>
                <a:ea typeface="Malgun Gothic"/>
                <a:cs typeface="Malgun Gothic"/>
              </a:defRPr>
            </a:pPr>
            <a:r>
              <a:rPr sz="960" b="0">
                <a:solidFill>
                  <a:srgbClr val="9CA3AF"/>
                </a:solidFill>
                <a:latin typeface="Malgun Gothic"/>
                <a:ea typeface="Malgun Gothic"/>
                <a:cs typeface="Malgun Gothic"/>
              </a:rPr>
              <a:t>02 / 06</a:t>
            </a:r>
          </a:p>
        </p:txBody>
      </p:sp>
      <p:sp>
        <p:nvSpPr>
          <p:cNvPr id="5" name="rag-1-box">
            <a:extLst>
              <a:ext uri="{FF2B5EF4-FFF2-40B4-BE49-F238E27FC236}">
                <a16:creationId xmlns:a16="http://schemas.microsoft.com/office/drawing/2014/main" id="{11AAE3B2-699A-4AA7-9E7D-88265EFEC63D}"/>
              </a:ext>
            </a:extLst>
          </p:cNvPr>
          <p:cNvSpPr>
            <a:spLocks noGrp="1"/>
          </p:cNvSpPr>
          <p:nvPr/>
        </p:nvSpPr>
        <p:spPr>
          <a:xfrm>
            <a:off x="533400" y="2305050"/>
            <a:ext cx="1657350" cy="10668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D4D4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rag-1-title">
            <a:extLst>
              <a:ext uri="{FF2B5EF4-FFF2-40B4-BE49-F238E27FC236}">
                <a16:creationId xmlns:a16="http://schemas.microsoft.com/office/drawing/2014/main" id="{B071919B-AE1D-4F2F-A49D-071A872B9589}"/>
              </a:ext>
            </a:extLst>
          </p:cNvPr>
          <p:cNvSpPr>
            <a:spLocks noGrp="1"/>
          </p:cNvSpPr>
          <p:nvPr/>
        </p:nvSpPr>
        <p:spPr>
          <a:xfrm>
            <a:off x="628650" y="2428875"/>
            <a:ext cx="14668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38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38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질문</a:t>
            </a:r>
          </a:p>
        </p:txBody>
      </p:sp>
      <p:sp>
        <p:nvSpPr>
          <p:cNvPr id="7" name="rag-1-subtitle">
            <a:extLst>
              <a:ext uri="{FF2B5EF4-FFF2-40B4-BE49-F238E27FC236}">
                <a16:creationId xmlns:a16="http://schemas.microsoft.com/office/drawing/2014/main" id="{6F2E9916-B3BB-4083-BB5A-DC141E721DD8}"/>
              </a:ext>
            </a:extLst>
          </p:cNvPr>
          <p:cNvSpPr>
            <a:spLocks noGrp="1"/>
          </p:cNvSpPr>
          <p:nvPr/>
        </p:nvSpPr>
        <p:spPr>
          <a:xfrm>
            <a:off x="619125" y="2859786"/>
            <a:ext cx="1485900" cy="454914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960" b="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pPr>
            <a:r>
              <a:rPr sz="960" b="0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사용자가 묻는다</a:t>
            </a:r>
          </a:p>
        </p:txBody>
      </p:sp>
      <p:sp>
        <p:nvSpPr>
          <p:cNvPr id="8" name="rag-2-box">
            <a:extLst>
              <a:ext uri="{FF2B5EF4-FFF2-40B4-BE49-F238E27FC236}">
                <a16:creationId xmlns:a16="http://schemas.microsoft.com/office/drawing/2014/main" id="{574FD13C-66C3-409A-BB9D-087D14F61C39}"/>
              </a:ext>
            </a:extLst>
          </p:cNvPr>
          <p:cNvSpPr>
            <a:spLocks noGrp="1"/>
          </p:cNvSpPr>
          <p:nvPr/>
        </p:nvSpPr>
        <p:spPr>
          <a:xfrm>
            <a:off x="2781300" y="2305050"/>
            <a:ext cx="1657350" cy="1066800"/>
          </a:xfrm>
          <a:prstGeom prst="roundRect">
            <a:avLst>
              <a:gd name="adj" fmla="val 7143"/>
            </a:avLst>
          </a:prstGeom>
          <a:solidFill>
            <a:srgbClr val="E8E5FC"/>
          </a:solidFill>
          <a:ln w="19050">
            <a:solidFill>
              <a:srgbClr val="4633E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rag-2-title">
            <a:extLst>
              <a:ext uri="{FF2B5EF4-FFF2-40B4-BE49-F238E27FC236}">
                <a16:creationId xmlns:a16="http://schemas.microsoft.com/office/drawing/2014/main" id="{32B456D4-87AB-4A4B-BAF3-FA801DF39F6A}"/>
              </a:ext>
            </a:extLst>
          </p:cNvPr>
          <p:cNvSpPr>
            <a:spLocks noGrp="1"/>
          </p:cNvSpPr>
          <p:nvPr/>
        </p:nvSpPr>
        <p:spPr>
          <a:xfrm>
            <a:off x="2876550" y="2428875"/>
            <a:ext cx="14668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380" b="1">
                <a:solidFill>
                  <a:srgbClr val="2E1FB3"/>
                </a:solidFill>
                <a:latin typeface="Malgun Gothic"/>
                <a:ea typeface="Malgun Gothic"/>
                <a:cs typeface="Malgun Gothic"/>
              </a:defRPr>
            </a:pPr>
            <a:r>
              <a:rPr sz="1380" b="1">
                <a:solidFill>
                  <a:srgbClr val="2E1FB3"/>
                </a:solidFill>
                <a:latin typeface="Malgun Gothic"/>
                <a:ea typeface="Malgun Gothic"/>
                <a:cs typeface="Malgun Gothic"/>
              </a:rPr>
              <a:t>검색</a:t>
            </a:r>
          </a:p>
        </p:txBody>
      </p:sp>
      <p:sp>
        <p:nvSpPr>
          <p:cNvPr id="10" name="rag-2-subtitle">
            <a:extLst>
              <a:ext uri="{FF2B5EF4-FFF2-40B4-BE49-F238E27FC236}">
                <a16:creationId xmlns:a16="http://schemas.microsoft.com/office/drawing/2014/main" id="{222F452B-5403-4D14-BCA9-8116019E893B}"/>
              </a:ext>
            </a:extLst>
          </p:cNvPr>
          <p:cNvSpPr>
            <a:spLocks noGrp="1"/>
          </p:cNvSpPr>
          <p:nvPr/>
        </p:nvSpPr>
        <p:spPr>
          <a:xfrm>
            <a:off x="2867025" y="2859786"/>
            <a:ext cx="1485900" cy="454914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960" b="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pPr>
            <a:r>
              <a:rPr sz="960" b="0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관련 문서를 고른다</a:t>
            </a:r>
          </a:p>
        </p:txBody>
      </p:sp>
      <p:sp>
        <p:nvSpPr>
          <p:cNvPr id="11" name="rag-3-box">
            <a:extLst>
              <a:ext uri="{FF2B5EF4-FFF2-40B4-BE49-F238E27FC236}">
                <a16:creationId xmlns:a16="http://schemas.microsoft.com/office/drawing/2014/main" id="{BFB99536-94D9-47C0-B4E8-596C675AA446}"/>
              </a:ext>
            </a:extLst>
          </p:cNvPr>
          <p:cNvSpPr>
            <a:spLocks noGrp="1"/>
          </p:cNvSpPr>
          <p:nvPr/>
        </p:nvSpPr>
        <p:spPr>
          <a:xfrm>
            <a:off x="5029200" y="2305050"/>
            <a:ext cx="1657350" cy="1066800"/>
          </a:xfrm>
          <a:prstGeom prst="roundRect">
            <a:avLst>
              <a:gd name="adj" fmla="val 7143"/>
            </a:avLst>
          </a:prstGeom>
          <a:solidFill>
            <a:srgbClr val="E8E5FC"/>
          </a:solidFill>
          <a:ln w="19050">
            <a:solidFill>
              <a:srgbClr val="4633E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rag-3-title">
            <a:extLst>
              <a:ext uri="{FF2B5EF4-FFF2-40B4-BE49-F238E27FC236}">
                <a16:creationId xmlns:a16="http://schemas.microsoft.com/office/drawing/2014/main" id="{62A689A3-5874-4C00-9312-2A8BA90FAA34}"/>
              </a:ext>
            </a:extLst>
          </p:cNvPr>
          <p:cNvSpPr>
            <a:spLocks noGrp="1"/>
          </p:cNvSpPr>
          <p:nvPr/>
        </p:nvSpPr>
        <p:spPr>
          <a:xfrm>
            <a:off x="5124450" y="2428875"/>
            <a:ext cx="14668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380" b="1">
                <a:solidFill>
                  <a:srgbClr val="2E1FB3"/>
                </a:solidFill>
                <a:latin typeface="Malgun Gothic"/>
                <a:ea typeface="Malgun Gothic"/>
                <a:cs typeface="Malgun Gothic"/>
              </a:defRPr>
            </a:pPr>
            <a:r>
              <a:rPr sz="1380" b="1">
                <a:solidFill>
                  <a:srgbClr val="2E1FB3"/>
                </a:solidFill>
                <a:latin typeface="Malgun Gothic"/>
                <a:ea typeface="Malgun Gothic"/>
                <a:cs typeface="Malgun Gothic"/>
              </a:rPr>
              <a:t>컨텍스트</a:t>
            </a:r>
          </a:p>
        </p:txBody>
      </p:sp>
      <p:sp>
        <p:nvSpPr>
          <p:cNvPr id="13" name="rag-3-subtitle">
            <a:extLst>
              <a:ext uri="{FF2B5EF4-FFF2-40B4-BE49-F238E27FC236}">
                <a16:creationId xmlns:a16="http://schemas.microsoft.com/office/drawing/2014/main" id="{4AD3A0F9-082B-42A2-A32E-0166C88ADDC0}"/>
              </a:ext>
            </a:extLst>
          </p:cNvPr>
          <p:cNvSpPr>
            <a:spLocks noGrp="1"/>
          </p:cNvSpPr>
          <p:nvPr/>
        </p:nvSpPr>
        <p:spPr>
          <a:xfrm>
            <a:off x="5114925" y="2859786"/>
            <a:ext cx="1485900" cy="454914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960" b="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pPr>
            <a:r>
              <a:rPr sz="960" b="0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필요한 근거를 묶는다</a:t>
            </a:r>
          </a:p>
        </p:txBody>
      </p:sp>
      <p:sp>
        <p:nvSpPr>
          <p:cNvPr id="14" name="rag-4-box">
            <a:extLst>
              <a:ext uri="{FF2B5EF4-FFF2-40B4-BE49-F238E27FC236}">
                <a16:creationId xmlns:a16="http://schemas.microsoft.com/office/drawing/2014/main" id="{7BCE0C0A-CBBC-4DD8-AAA7-23AFD722C4A8}"/>
              </a:ext>
            </a:extLst>
          </p:cNvPr>
          <p:cNvSpPr>
            <a:spLocks noGrp="1"/>
          </p:cNvSpPr>
          <p:nvPr/>
        </p:nvSpPr>
        <p:spPr>
          <a:xfrm>
            <a:off x="7277100" y="2305050"/>
            <a:ext cx="1657350" cy="10668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D4D4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rag-4-title">
            <a:extLst>
              <a:ext uri="{FF2B5EF4-FFF2-40B4-BE49-F238E27FC236}">
                <a16:creationId xmlns:a16="http://schemas.microsoft.com/office/drawing/2014/main" id="{ED31D1B4-4E9A-4C1E-988B-8023AC8854E7}"/>
              </a:ext>
            </a:extLst>
          </p:cNvPr>
          <p:cNvSpPr>
            <a:spLocks noGrp="1"/>
          </p:cNvSpPr>
          <p:nvPr/>
        </p:nvSpPr>
        <p:spPr>
          <a:xfrm>
            <a:off x="7372350" y="2428875"/>
            <a:ext cx="14668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38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38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LLM</a:t>
            </a:r>
          </a:p>
        </p:txBody>
      </p:sp>
      <p:sp>
        <p:nvSpPr>
          <p:cNvPr id="16" name="rag-4-subtitle">
            <a:extLst>
              <a:ext uri="{FF2B5EF4-FFF2-40B4-BE49-F238E27FC236}">
                <a16:creationId xmlns:a16="http://schemas.microsoft.com/office/drawing/2014/main" id="{7029EDAD-5E62-4573-BFF5-EFE1E9BDEF27}"/>
              </a:ext>
            </a:extLst>
          </p:cNvPr>
          <p:cNvSpPr>
            <a:spLocks noGrp="1"/>
          </p:cNvSpPr>
          <p:nvPr/>
        </p:nvSpPr>
        <p:spPr>
          <a:xfrm>
            <a:off x="7362825" y="2859786"/>
            <a:ext cx="1485900" cy="454914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960" b="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pPr>
            <a:r>
              <a:rPr sz="960" b="0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근거를 읽고 답한다</a:t>
            </a:r>
          </a:p>
        </p:txBody>
      </p:sp>
      <p:sp>
        <p:nvSpPr>
          <p:cNvPr id="17" name="rag-5-box">
            <a:extLst>
              <a:ext uri="{FF2B5EF4-FFF2-40B4-BE49-F238E27FC236}">
                <a16:creationId xmlns:a16="http://schemas.microsoft.com/office/drawing/2014/main" id="{FF09CCEE-C167-4A60-821B-79B2C890B4F5}"/>
              </a:ext>
            </a:extLst>
          </p:cNvPr>
          <p:cNvSpPr>
            <a:spLocks noGrp="1"/>
          </p:cNvSpPr>
          <p:nvPr/>
        </p:nvSpPr>
        <p:spPr>
          <a:xfrm>
            <a:off x="9525000" y="2305050"/>
            <a:ext cx="1657350" cy="10668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D4D4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rag-5-title">
            <a:extLst>
              <a:ext uri="{FF2B5EF4-FFF2-40B4-BE49-F238E27FC236}">
                <a16:creationId xmlns:a16="http://schemas.microsoft.com/office/drawing/2014/main" id="{CAABB881-BA3F-4759-9651-25FD2726CE4A}"/>
              </a:ext>
            </a:extLst>
          </p:cNvPr>
          <p:cNvSpPr>
            <a:spLocks noGrp="1"/>
          </p:cNvSpPr>
          <p:nvPr/>
        </p:nvSpPr>
        <p:spPr>
          <a:xfrm>
            <a:off x="9620250" y="2428875"/>
            <a:ext cx="14668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38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38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답변</a:t>
            </a:r>
          </a:p>
        </p:txBody>
      </p:sp>
      <p:sp>
        <p:nvSpPr>
          <p:cNvPr id="19" name="rag-5-subtitle">
            <a:extLst>
              <a:ext uri="{FF2B5EF4-FFF2-40B4-BE49-F238E27FC236}">
                <a16:creationId xmlns:a16="http://schemas.microsoft.com/office/drawing/2014/main" id="{28AE61DF-2B25-4D57-BE31-E9823A4BA50D}"/>
              </a:ext>
            </a:extLst>
          </p:cNvPr>
          <p:cNvSpPr>
            <a:spLocks noGrp="1"/>
          </p:cNvSpPr>
          <p:nvPr/>
        </p:nvSpPr>
        <p:spPr>
          <a:xfrm>
            <a:off x="9610725" y="2859786"/>
            <a:ext cx="1485900" cy="454914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960" b="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pPr>
            <a:r>
              <a:rPr sz="960" b="0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출처와 함께 보여준다</a:t>
            </a:r>
          </a:p>
        </p:txBody>
      </p:sp>
      <p:cxnSp>
        <p:nvCxnSpPr>
          <p:cNvPr id="47" name="직선 화살표 연결선 46"/>
          <p:cNvCxnSpPr>
            <a:stCxn id="5" idx="3"/>
            <a:endCxn id="8" idx="1"/>
          </p:cNvCxnSpPr>
          <p:nvPr/>
        </p:nvCxnSpPr>
        <p:spPr>
          <a:xfrm>
            <a:off x="2190750" y="2838450"/>
            <a:ext cx="590550" cy="0"/>
          </a:xfrm>
          <a:prstGeom prst="straightConnector1">
            <a:avLst/>
          </a:prstGeom>
          <a:ln w="19050">
            <a:solidFill>
              <a:srgbClr val="D4D4D4"/>
            </a:solidFill>
            <a:prstDash val="solid"/>
            <a:tailEnd type="triangle" w="sm" len="sm"/>
          </a:ln>
        </p:spPr>
      </p:cxnSp>
      <p:cxnSp>
        <p:nvCxnSpPr>
          <p:cNvPr id="48" name="직선 화살표 연결선 47"/>
          <p:cNvCxnSpPr>
            <a:stCxn id="8" idx="3"/>
            <a:endCxn id="11" idx="1"/>
          </p:cNvCxnSpPr>
          <p:nvPr/>
        </p:nvCxnSpPr>
        <p:spPr>
          <a:xfrm>
            <a:off x="4438650" y="2838450"/>
            <a:ext cx="590550" cy="0"/>
          </a:xfrm>
          <a:prstGeom prst="straightConnector1">
            <a:avLst/>
          </a:prstGeom>
          <a:ln w="19050">
            <a:solidFill>
              <a:srgbClr val="D4D4D4"/>
            </a:solidFill>
            <a:prstDash val="solid"/>
            <a:tailEnd type="triangle" w="sm" len="sm"/>
          </a:ln>
        </p:spPr>
      </p:cxnSp>
      <p:cxnSp>
        <p:nvCxnSpPr>
          <p:cNvPr id="49" name="직선 화살표 연결선 48"/>
          <p:cNvCxnSpPr>
            <a:stCxn id="11" idx="3"/>
            <a:endCxn id="14" idx="1"/>
          </p:cNvCxnSpPr>
          <p:nvPr/>
        </p:nvCxnSpPr>
        <p:spPr>
          <a:xfrm>
            <a:off x="6686550" y="2838450"/>
            <a:ext cx="590550" cy="0"/>
          </a:xfrm>
          <a:prstGeom prst="straightConnector1">
            <a:avLst/>
          </a:prstGeom>
          <a:ln w="19050">
            <a:solidFill>
              <a:srgbClr val="D4D4D4"/>
            </a:solidFill>
            <a:prstDash val="solid"/>
            <a:tailEnd type="triangle" w="sm" len="sm"/>
          </a:ln>
        </p:spPr>
      </p:cxnSp>
      <p:cxnSp>
        <p:nvCxnSpPr>
          <p:cNvPr id="50" name="직선 화살표 연결선 49"/>
          <p:cNvCxnSpPr>
            <a:stCxn id="14" idx="3"/>
            <a:endCxn id="17" idx="1"/>
          </p:cNvCxnSpPr>
          <p:nvPr/>
        </p:nvCxnSpPr>
        <p:spPr>
          <a:xfrm>
            <a:off x="8934450" y="2838450"/>
            <a:ext cx="590550" cy="0"/>
          </a:xfrm>
          <a:prstGeom prst="straightConnector1">
            <a:avLst/>
          </a:prstGeom>
          <a:ln w="19050">
            <a:solidFill>
              <a:srgbClr val="D4D4D4"/>
            </a:solidFill>
            <a:prstDash val="solid"/>
            <a:tailEnd type="triangle" w="sm" len="sm"/>
          </a:ln>
        </p:spPr>
      </p:cxnSp>
      <p:sp>
        <p:nvSpPr>
          <p:cNvPr id="24" name="rag-definition-line">
            <a:extLst>
              <a:ext uri="{FF2B5EF4-FFF2-40B4-BE49-F238E27FC236}">
                <a16:creationId xmlns:a16="http://schemas.microsoft.com/office/drawing/2014/main" id="{84E220EF-E44D-41CF-A553-39F3960459F0}"/>
              </a:ext>
            </a:extLst>
          </p:cNvPr>
          <p:cNvSpPr>
            <a:spLocks noGrp="1"/>
          </p:cNvSpPr>
          <p:nvPr/>
        </p:nvSpPr>
        <p:spPr>
          <a:xfrm>
            <a:off x="533400" y="4095750"/>
            <a:ext cx="11125200" cy="9525"/>
          </a:xfrm>
          <a:prstGeom prst="rect">
            <a:avLst/>
          </a:prstGeom>
          <a:solidFill>
            <a:srgbClr val="E5E7EB"/>
          </a:solidFill>
          <a:ln w="0">
            <a:solidFill>
              <a:srgbClr val="E5E7EB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rag-definition-lead">
            <a:extLst>
              <a:ext uri="{FF2B5EF4-FFF2-40B4-BE49-F238E27FC236}">
                <a16:creationId xmlns:a16="http://schemas.microsoft.com/office/drawing/2014/main" id="{65051F1E-15AC-46C0-A83A-63C149063FFF}"/>
              </a:ext>
            </a:extLst>
          </p:cNvPr>
          <p:cNvSpPr>
            <a:spLocks noGrp="1"/>
          </p:cNvSpPr>
          <p:nvPr/>
        </p:nvSpPr>
        <p:spPr>
          <a:xfrm>
            <a:off x="533400" y="4438650"/>
            <a:ext cx="9144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buNone/>
              <a:defRPr sz="1380" b="1">
                <a:solidFill>
                  <a:srgbClr val="2E1FB3"/>
                </a:solidFill>
                <a:latin typeface="Malgun Gothic"/>
                <a:ea typeface="Malgun Gothic"/>
                <a:cs typeface="Malgun Gothic"/>
              </a:defRPr>
            </a:pPr>
            <a:r>
              <a:rPr sz="1380" b="1">
                <a:solidFill>
                  <a:srgbClr val="2E1FB3"/>
                </a:solidFill>
                <a:latin typeface="Malgun Gothic"/>
                <a:ea typeface="Malgun Gothic"/>
                <a:cs typeface="Malgun Gothic"/>
              </a:rPr>
              <a:t>핵심</a:t>
            </a:r>
          </a:p>
        </p:txBody>
      </p:sp>
      <p:sp>
        <p:nvSpPr>
          <p:cNvPr id="26" name="rag-definition">
            <a:extLst>
              <a:ext uri="{FF2B5EF4-FFF2-40B4-BE49-F238E27FC236}">
                <a16:creationId xmlns:a16="http://schemas.microsoft.com/office/drawing/2014/main" id="{9A5EA97E-739F-468B-9494-8909D49B8EA3}"/>
              </a:ext>
            </a:extLst>
          </p:cNvPr>
          <p:cNvSpPr>
            <a:spLocks noGrp="1"/>
          </p:cNvSpPr>
          <p:nvPr/>
        </p:nvSpPr>
        <p:spPr>
          <a:xfrm>
            <a:off x="1447800" y="4438650"/>
            <a:ext cx="962025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38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38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모델이 모든 지식을 외우게 하지 않고, 필요한 순간에 외부 문서를 찾아 함께 제공한다.</a:t>
            </a:r>
          </a:p>
        </p:txBody>
      </p:sp>
      <p:sp>
        <p:nvSpPr>
          <p:cNvPr id="27" name="rag-origin-caption">
            <a:extLst>
              <a:ext uri="{FF2B5EF4-FFF2-40B4-BE49-F238E27FC236}">
                <a16:creationId xmlns:a16="http://schemas.microsoft.com/office/drawing/2014/main" id="{CD5A2B19-6AC4-4890-BA50-0BB2726531BC}"/>
              </a:ext>
            </a:extLst>
          </p:cNvPr>
          <p:cNvSpPr>
            <a:spLocks noGrp="1"/>
          </p:cNvSpPr>
          <p:nvPr/>
        </p:nvSpPr>
        <p:spPr>
          <a:xfrm>
            <a:off x="1447800" y="4895850"/>
            <a:ext cx="85725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buNone/>
              <a:defRPr sz="1140" b="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pPr>
            <a:r>
              <a:rPr sz="1140" b="0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Retrieval-Augmented Generation = 검색(Retrieval) + 생성(Generation)</a:t>
            </a:r>
          </a:p>
        </p:txBody>
      </p:sp>
    </p:spTree>
    <p:extLst>
      <p:ext uri="{BB962C8B-B14F-4D97-AF65-F5344CB8AC3E}">
        <p14:creationId xmlns:p14="http://schemas.microsoft.com/office/powerpoint/2010/main" val="16312294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_1">
            <a:extLst>
              <a:ext uri="{FF2B5EF4-FFF2-40B4-BE49-F238E27FC236}">
                <a16:creationId xmlns:a16="http://schemas.microsoft.com/office/drawing/2014/main" id="{0435C254-62A2-409C-A43F-523F3B975077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>
              <a:defRPr sz="240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모던 RAG 아키텍처</a:t>
            </a:r>
          </a:p>
        </p:txBody>
      </p:sp>
      <p:sp>
        <p:nvSpPr>
          <p:cNvPr id="2" name="eyebrow-3">
            <a:extLst>
              <a:ext uri="{FF2B5EF4-FFF2-40B4-BE49-F238E27FC236}">
                <a16:creationId xmlns:a16="http://schemas.microsoft.com/office/drawing/2014/main" id="{0E4E7F8E-FFA9-4650-AA66-4893E75659F5}"/>
              </a:ext>
            </a:extLst>
          </p:cNvPr>
          <p:cNvSpPr>
            <a:spLocks noGrp="1"/>
          </p:cNvSpPr>
          <p:nvPr/>
        </p:nvSpPr>
        <p:spPr>
          <a:xfrm>
            <a:off x="533400" y="1028700"/>
            <a:ext cx="49530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buNone/>
              <a:defRPr sz="960" b="1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pPr>
            <a:r>
              <a:rPr sz="960" b="1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TWO CONNECTED PIPELINES</a:t>
            </a:r>
          </a:p>
        </p:txBody>
      </p:sp>
      <p:sp>
        <p:nvSpPr>
          <p:cNvPr id="3" name="gm-3">
            <a:extLst>
              <a:ext uri="{FF2B5EF4-FFF2-40B4-BE49-F238E27FC236}">
                <a16:creationId xmlns:a16="http://schemas.microsoft.com/office/drawing/2014/main" id="{9C9D219D-DB93-4EC1-AC35-179B98189784}"/>
              </a:ext>
            </a:extLst>
          </p:cNvPr>
          <p:cNvSpPr>
            <a:spLocks noGrp="1"/>
          </p:cNvSpPr>
          <p:nvPr/>
        </p:nvSpPr>
        <p:spPr>
          <a:xfrm>
            <a:off x="1809750" y="6229350"/>
            <a:ext cx="85725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140" b="1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pPr>
            <a:r>
              <a:rPr sz="1140" b="1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좋은 RAG는 문서 준비, 다단계 검색, 생성, 평가가 서로 연결된 시스템이다.</a:t>
            </a:r>
          </a:p>
        </p:txBody>
      </p:sp>
      <p:sp>
        <p:nvSpPr>
          <p:cNvPr id="4" name="page-3">
            <a:extLst>
              <a:ext uri="{FF2B5EF4-FFF2-40B4-BE49-F238E27FC236}">
                <a16:creationId xmlns:a16="http://schemas.microsoft.com/office/drawing/2014/main" id="{43F0DE51-071F-47B4-8D7C-6896A9DD687B}"/>
              </a:ext>
            </a:extLst>
          </p:cNvPr>
          <p:cNvSpPr>
            <a:spLocks noGrp="1"/>
          </p:cNvSpPr>
          <p:nvPr/>
        </p:nvSpPr>
        <p:spPr>
          <a:xfrm>
            <a:off x="10191750" y="6496050"/>
            <a:ext cx="13716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  <a:buNone/>
              <a:defRPr sz="960" b="0">
                <a:solidFill>
                  <a:srgbClr val="9CA3AF"/>
                </a:solidFill>
                <a:latin typeface="Malgun Gothic"/>
                <a:ea typeface="Malgun Gothic"/>
                <a:cs typeface="Malgun Gothic"/>
              </a:defRPr>
            </a:pPr>
            <a:r>
              <a:rPr sz="960" b="0">
                <a:solidFill>
                  <a:srgbClr val="9CA3AF"/>
                </a:solidFill>
                <a:latin typeface="Malgun Gothic"/>
                <a:ea typeface="Malgun Gothic"/>
                <a:cs typeface="Malgun Gothic"/>
              </a:rPr>
              <a:t>03 / 06</a:t>
            </a:r>
          </a:p>
        </p:txBody>
      </p:sp>
      <p:sp>
        <p:nvSpPr>
          <p:cNvPr id="5" name="offline-label">
            <a:extLst>
              <a:ext uri="{FF2B5EF4-FFF2-40B4-BE49-F238E27FC236}">
                <a16:creationId xmlns:a16="http://schemas.microsoft.com/office/drawing/2014/main" id="{C355A617-7621-48AD-836C-03C2E49992E8}"/>
              </a:ext>
            </a:extLst>
          </p:cNvPr>
          <p:cNvSpPr>
            <a:spLocks noGrp="1"/>
          </p:cNvSpPr>
          <p:nvPr/>
        </p:nvSpPr>
        <p:spPr>
          <a:xfrm>
            <a:off x="533400" y="1581150"/>
            <a:ext cx="34290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buNone/>
              <a:defRPr sz="960" b="1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pPr>
            <a:r>
              <a:rPr sz="960" b="1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준비 단계  문서가 들어올 때</a:t>
            </a:r>
          </a:p>
        </p:txBody>
      </p:sp>
      <p:sp>
        <p:nvSpPr>
          <p:cNvPr id="6" name="modern-top-1-box">
            <a:extLst>
              <a:ext uri="{FF2B5EF4-FFF2-40B4-BE49-F238E27FC236}">
                <a16:creationId xmlns:a16="http://schemas.microsoft.com/office/drawing/2014/main" id="{998562A2-1B9F-4E30-A256-B54CE8F17B65}"/>
              </a:ext>
            </a:extLst>
          </p:cNvPr>
          <p:cNvSpPr>
            <a:spLocks noGrp="1"/>
          </p:cNvSpPr>
          <p:nvPr/>
        </p:nvSpPr>
        <p:spPr>
          <a:xfrm>
            <a:off x="533400" y="1866900"/>
            <a:ext cx="1790700" cy="781050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9525">
            <a:solidFill>
              <a:srgbClr val="D4D4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modern-top-1-title">
            <a:extLst>
              <a:ext uri="{FF2B5EF4-FFF2-40B4-BE49-F238E27FC236}">
                <a16:creationId xmlns:a16="http://schemas.microsoft.com/office/drawing/2014/main" id="{21D8B1E3-5AD9-4CD3-BC72-213C93EC9073}"/>
              </a:ext>
            </a:extLst>
          </p:cNvPr>
          <p:cNvSpPr>
            <a:spLocks noGrp="1"/>
          </p:cNvSpPr>
          <p:nvPr/>
        </p:nvSpPr>
        <p:spPr>
          <a:xfrm>
            <a:off x="628650" y="1990725"/>
            <a:ext cx="16002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14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14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데이터 소스</a:t>
            </a:r>
          </a:p>
        </p:txBody>
      </p:sp>
      <p:sp>
        <p:nvSpPr>
          <p:cNvPr id="8" name="modern-top-1-subtitle">
            <a:extLst>
              <a:ext uri="{FF2B5EF4-FFF2-40B4-BE49-F238E27FC236}">
                <a16:creationId xmlns:a16="http://schemas.microsoft.com/office/drawing/2014/main" id="{659C48AB-A7AE-4228-AA24-8EC261DB907A}"/>
              </a:ext>
            </a:extLst>
          </p:cNvPr>
          <p:cNvSpPr>
            <a:spLocks noGrp="1"/>
          </p:cNvSpPr>
          <p:nvPr/>
        </p:nvSpPr>
        <p:spPr>
          <a:xfrm>
            <a:off x="619125" y="2295525"/>
            <a:ext cx="16192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960" b="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pPr>
            <a:r>
              <a:rPr sz="960" b="0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PDF·웹·DB</a:t>
            </a:r>
          </a:p>
        </p:txBody>
      </p:sp>
      <p:sp>
        <p:nvSpPr>
          <p:cNvPr id="9" name="modern-top-2-box">
            <a:extLst>
              <a:ext uri="{FF2B5EF4-FFF2-40B4-BE49-F238E27FC236}">
                <a16:creationId xmlns:a16="http://schemas.microsoft.com/office/drawing/2014/main" id="{96DD4AC2-A42A-4D09-9C7B-AAEF44341DCD}"/>
              </a:ext>
            </a:extLst>
          </p:cNvPr>
          <p:cNvSpPr>
            <a:spLocks noGrp="1"/>
          </p:cNvSpPr>
          <p:nvPr/>
        </p:nvSpPr>
        <p:spPr>
          <a:xfrm>
            <a:off x="2762250" y="1866900"/>
            <a:ext cx="1790700" cy="781050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9525">
            <a:solidFill>
              <a:srgbClr val="D4D4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modern-top-2-title">
            <a:extLst>
              <a:ext uri="{FF2B5EF4-FFF2-40B4-BE49-F238E27FC236}">
                <a16:creationId xmlns:a16="http://schemas.microsoft.com/office/drawing/2014/main" id="{EAB4A1F4-B7B2-4C83-809F-38FF7FFF1BB7}"/>
              </a:ext>
            </a:extLst>
          </p:cNvPr>
          <p:cNvSpPr>
            <a:spLocks noGrp="1"/>
          </p:cNvSpPr>
          <p:nvPr/>
        </p:nvSpPr>
        <p:spPr>
          <a:xfrm>
            <a:off x="2857500" y="1990725"/>
            <a:ext cx="16002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14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14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파싱·정제</a:t>
            </a:r>
          </a:p>
        </p:txBody>
      </p:sp>
      <p:sp>
        <p:nvSpPr>
          <p:cNvPr id="11" name="modern-top-2-subtitle">
            <a:extLst>
              <a:ext uri="{FF2B5EF4-FFF2-40B4-BE49-F238E27FC236}">
                <a16:creationId xmlns:a16="http://schemas.microsoft.com/office/drawing/2014/main" id="{8038FE6B-8A46-426A-9D2D-898D35C41732}"/>
              </a:ext>
            </a:extLst>
          </p:cNvPr>
          <p:cNvSpPr>
            <a:spLocks noGrp="1"/>
          </p:cNvSpPr>
          <p:nvPr/>
        </p:nvSpPr>
        <p:spPr>
          <a:xfrm>
            <a:off x="2847975" y="2295525"/>
            <a:ext cx="16192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960" b="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pPr>
            <a:r>
              <a:rPr sz="960" b="0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텍스트와 구조 추출</a:t>
            </a:r>
          </a:p>
        </p:txBody>
      </p:sp>
      <p:sp>
        <p:nvSpPr>
          <p:cNvPr id="12" name="modern-top-3-box">
            <a:extLst>
              <a:ext uri="{FF2B5EF4-FFF2-40B4-BE49-F238E27FC236}">
                <a16:creationId xmlns:a16="http://schemas.microsoft.com/office/drawing/2014/main" id="{45E1F5C0-82BE-432B-96F8-758E1B907C6D}"/>
              </a:ext>
            </a:extLst>
          </p:cNvPr>
          <p:cNvSpPr>
            <a:spLocks noGrp="1"/>
          </p:cNvSpPr>
          <p:nvPr/>
        </p:nvSpPr>
        <p:spPr>
          <a:xfrm>
            <a:off x="4991100" y="1866900"/>
            <a:ext cx="1790700" cy="781050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9525">
            <a:solidFill>
              <a:srgbClr val="D4D4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modern-top-3-title">
            <a:extLst>
              <a:ext uri="{FF2B5EF4-FFF2-40B4-BE49-F238E27FC236}">
                <a16:creationId xmlns:a16="http://schemas.microsoft.com/office/drawing/2014/main" id="{C6B48727-A8CD-489F-B307-E33E6B9C66AC}"/>
              </a:ext>
            </a:extLst>
          </p:cNvPr>
          <p:cNvSpPr>
            <a:spLocks noGrp="1"/>
          </p:cNvSpPr>
          <p:nvPr/>
        </p:nvSpPr>
        <p:spPr>
          <a:xfrm>
            <a:off x="5086350" y="1990725"/>
            <a:ext cx="16002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14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14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청킹·메타데이터</a:t>
            </a:r>
          </a:p>
        </p:txBody>
      </p:sp>
      <p:sp>
        <p:nvSpPr>
          <p:cNvPr id="14" name="modern-top-3-subtitle">
            <a:extLst>
              <a:ext uri="{FF2B5EF4-FFF2-40B4-BE49-F238E27FC236}">
                <a16:creationId xmlns:a16="http://schemas.microsoft.com/office/drawing/2014/main" id="{AE1898BE-A91B-4653-9CA0-9BA9950A92A1}"/>
              </a:ext>
            </a:extLst>
          </p:cNvPr>
          <p:cNvSpPr>
            <a:spLocks noGrp="1"/>
          </p:cNvSpPr>
          <p:nvPr/>
        </p:nvSpPr>
        <p:spPr>
          <a:xfrm>
            <a:off x="5076825" y="2295525"/>
            <a:ext cx="16192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960" b="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pPr>
            <a:r>
              <a:rPr sz="960" b="0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검색 단위와 출처</a:t>
            </a:r>
          </a:p>
        </p:txBody>
      </p:sp>
      <p:sp>
        <p:nvSpPr>
          <p:cNvPr id="15" name="modern-top-4-box">
            <a:extLst>
              <a:ext uri="{FF2B5EF4-FFF2-40B4-BE49-F238E27FC236}">
                <a16:creationId xmlns:a16="http://schemas.microsoft.com/office/drawing/2014/main" id="{04E1B091-EE59-4366-9CC2-8B41D81985D0}"/>
              </a:ext>
            </a:extLst>
          </p:cNvPr>
          <p:cNvSpPr>
            <a:spLocks noGrp="1"/>
          </p:cNvSpPr>
          <p:nvPr/>
        </p:nvSpPr>
        <p:spPr>
          <a:xfrm>
            <a:off x="7219950" y="1866900"/>
            <a:ext cx="1790700" cy="781050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9525">
            <a:solidFill>
              <a:srgbClr val="D4D4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modern-top-4-title">
            <a:extLst>
              <a:ext uri="{FF2B5EF4-FFF2-40B4-BE49-F238E27FC236}">
                <a16:creationId xmlns:a16="http://schemas.microsoft.com/office/drawing/2014/main" id="{F0DDBA3A-5649-4CAA-A240-79E47E66F991}"/>
              </a:ext>
            </a:extLst>
          </p:cNvPr>
          <p:cNvSpPr>
            <a:spLocks noGrp="1"/>
          </p:cNvSpPr>
          <p:nvPr/>
        </p:nvSpPr>
        <p:spPr>
          <a:xfrm>
            <a:off x="7315200" y="1990725"/>
            <a:ext cx="16002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14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14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임베딩</a:t>
            </a:r>
          </a:p>
        </p:txBody>
      </p:sp>
      <p:sp>
        <p:nvSpPr>
          <p:cNvPr id="17" name="modern-top-4-subtitle">
            <a:extLst>
              <a:ext uri="{FF2B5EF4-FFF2-40B4-BE49-F238E27FC236}">
                <a16:creationId xmlns:a16="http://schemas.microsoft.com/office/drawing/2014/main" id="{B2AFA1C2-7A4F-4191-B05B-B862CAFC6E2E}"/>
              </a:ext>
            </a:extLst>
          </p:cNvPr>
          <p:cNvSpPr>
            <a:spLocks noGrp="1"/>
          </p:cNvSpPr>
          <p:nvPr/>
        </p:nvSpPr>
        <p:spPr>
          <a:xfrm>
            <a:off x="7305675" y="2295525"/>
            <a:ext cx="16192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960" b="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pPr>
            <a:r>
              <a:rPr sz="960" b="0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의미를 벡터로 표현</a:t>
            </a:r>
          </a:p>
        </p:txBody>
      </p:sp>
      <p:sp>
        <p:nvSpPr>
          <p:cNvPr id="18" name="modern-top-5-box">
            <a:extLst>
              <a:ext uri="{FF2B5EF4-FFF2-40B4-BE49-F238E27FC236}">
                <a16:creationId xmlns:a16="http://schemas.microsoft.com/office/drawing/2014/main" id="{91E32FC6-42AC-4F55-A4F8-8E68A772E368}"/>
              </a:ext>
            </a:extLst>
          </p:cNvPr>
          <p:cNvSpPr>
            <a:spLocks noGrp="1"/>
          </p:cNvSpPr>
          <p:nvPr/>
        </p:nvSpPr>
        <p:spPr>
          <a:xfrm>
            <a:off x="9448800" y="1866900"/>
            <a:ext cx="1790700" cy="781050"/>
          </a:xfrm>
          <a:prstGeom prst="roundRect">
            <a:avLst>
              <a:gd name="adj" fmla="val 9756"/>
            </a:avLst>
          </a:prstGeom>
          <a:solidFill>
            <a:srgbClr val="E8E5FC"/>
          </a:solidFill>
          <a:ln w="19050">
            <a:solidFill>
              <a:srgbClr val="4633E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modern-top-5-title">
            <a:extLst>
              <a:ext uri="{FF2B5EF4-FFF2-40B4-BE49-F238E27FC236}">
                <a16:creationId xmlns:a16="http://schemas.microsoft.com/office/drawing/2014/main" id="{02028799-2378-457C-932D-A74868B6C4BF}"/>
              </a:ext>
            </a:extLst>
          </p:cNvPr>
          <p:cNvSpPr>
            <a:spLocks noGrp="1"/>
          </p:cNvSpPr>
          <p:nvPr/>
        </p:nvSpPr>
        <p:spPr>
          <a:xfrm>
            <a:off x="9544050" y="1990725"/>
            <a:ext cx="16002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140" b="1">
                <a:solidFill>
                  <a:srgbClr val="2E1FB3"/>
                </a:solidFill>
                <a:latin typeface="Malgun Gothic"/>
                <a:ea typeface="Malgun Gothic"/>
                <a:cs typeface="Malgun Gothic"/>
              </a:defRPr>
            </a:pPr>
            <a:r>
              <a:rPr sz="1140" b="1">
                <a:solidFill>
                  <a:srgbClr val="2E1FB3"/>
                </a:solidFill>
                <a:latin typeface="Malgun Gothic"/>
                <a:ea typeface="Malgun Gothic"/>
                <a:cs typeface="Malgun Gothic"/>
              </a:rPr>
              <a:t>검색 인덱스</a:t>
            </a:r>
          </a:p>
        </p:txBody>
      </p:sp>
      <p:sp>
        <p:nvSpPr>
          <p:cNvPr id="20" name="modern-top-5-subtitle">
            <a:extLst>
              <a:ext uri="{FF2B5EF4-FFF2-40B4-BE49-F238E27FC236}">
                <a16:creationId xmlns:a16="http://schemas.microsoft.com/office/drawing/2014/main" id="{110884B4-0F8C-42DD-8B26-FBBD110F95C7}"/>
              </a:ext>
            </a:extLst>
          </p:cNvPr>
          <p:cNvSpPr>
            <a:spLocks noGrp="1"/>
          </p:cNvSpPr>
          <p:nvPr/>
        </p:nvSpPr>
        <p:spPr>
          <a:xfrm>
            <a:off x="9534525" y="2295525"/>
            <a:ext cx="16192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960" b="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pPr>
            <a:r>
              <a:rPr sz="960" b="0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키워드 + 벡터</a:t>
            </a:r>
          </a:p>
        </p:txBody>
      </p:sp>
      <p:cxnSp>
        <p:nvCxnSpPr>
          <p:cNvPr id="73" name="직선 화살표 연결선 72"/>
          <p:cNvCxnSpPr>
            <a:stCxn id="6" idx="3"/>
            <a:endCxn id="9" idx="1"/>
          </p:cNvCxnSpPr>
          <p:nvPr/>
        </p:nvCxnSpPr>
        <p:spPr>
          <a:xfrm>
            <a:off x="2324100" y="2257425"/>
            <a:ext cx="438150" cy="0"/>
          </a:xfrm>
          <a:prstGeom prst="straightConnector1">
            <a:avLst/>
          </a:prstGeom>
          <a:ln w="14288">
            <a:solidFill>
              <a:srgbClr val="D4D4D4"/>
            </a:solidFill>
            <a:prstDash val="solid"/>
            <a:tailEnd type="triangle" w="sm" len="sm"/>
          </a:ln>
        </p:spPr>
      </p:cxnSp>
      <p:cxnSp>
        <p:nvCxnSpPr>
          <p:cNvPr id="74" name="직선 화살표 연결선 73"/>
          <p:cNvCxnSpPr>
            <a:stCxn id="9" idx="3"/>
            <a:endCxn id="12" idx="1"/>
          </p:cNvCxnSpPr>
          <p:nvPr/>
        </p:nvCxnSpPr>
        <p:spPr>
          <a:xfrm>
            <a:off x="4552950" y="2257425"/>
            <a:ext cx="438150" cy="0"/>
          </a:xfrm>
          <a:prstGeom prst="straightConnector1">
            <a:avLst/>
          </a:prstGeom>
          <a:ln w="14288">
            <a:solidFill>
              <a:srgbClr val="D4D4D4"/>
            </a:solidFill>
            <a:prstDash val="solid"/>
            <a:tailEnd type="triangle" w="sm" len="sm"/>
          </a:ln>
        </p:spPr>
      </p:cxnSp>
      <p:cxnSp>
        <p:nvCxnSpPr>
          <p:cNvPr id="75" name="직선 화살표 연결선 74"/>
          <p:cNvCxnSpPr>
            <a:stCxn id="12" idx="3"/>
            <a:endCxn id="15" idx="1"/>
          </p:cNvCxnSpPr>
          <p:nvPr/>
        </p:nvCxnSpPr>
        <p:spPr>
          <a:xfrm>
            <a:off x="6781800" y="2257425"/>
            <a:ext cx="438150" cy="0"/>
          </a:xfrm>
          <a:prstGeom prst="straightConnector1">
            <a:avLst/>
          </a:prstGeom>
          <a:ln w="14288">
            <a:solidFill>
              <a:srgbClr val="D4D4D4"/>
            </a:solidFill>
            <a:prstDash val="solid"/>
            <a:tailEnd type="triangle" w="sm" len="sm"/>
          </a:ln>
        </p:spPr>
      </p:cxnSp>
      <p:cxnSp>
        <p:nvCxnSpPr>
          <p:cNvPr id="76" name="직선 화살표 연결선 75"/>
          <p:cNvCxnSpPr>
            <a:stCxn id="15" idx="3"/>
            <a:endCxn id="18" idx="1"/>
          </p:cNvCxnSpPr>
          <p:nvPr/>
        </p:nvCxnSpPr>
        <p:spPr>
          <a:xfrm>
            <a:off x="9010650" y="2257425"/>
            <a:ext cx="438150" cy="0"/>
          </a:xfrm>
          <a:prstGeom prst="straightConnector1">
            <a:avLst/>
          </a:prstGeom>
          <a:ln w="14288">
            <a:solidFill>
              <a:srgbClr val="D4D4D4"/>
            </a:solidFill>
            <a:prstDash val="solid"/>
            <a:tailEnd type="triangle" w="sm" len="sm"/>
          </a:ln>
        </p:spPr>
      </p:cxnSp>
      <p:sp>
        <p:nvSpPr>
          <p:cNvPr id="25" name="online-label">
            <a:extLst>
              <a:ext uri="{FF2B5EF4-FFF2-40B4-BE49-F238E27FC236}">
                <a16:creationId xmlns:a16="http://schemas.microsoft.com/office/drawing/2014/main" id="{46FD3DE6-6E4F-48ED-A76A-F86F6283D33C}"/>
              </a:ext>
            </a:extLst>
          </p:cNvPr>
          <p:cNvSpPr>
            <a:spLocks noGrp="1"/>
          </p:cNvSpPr>
          <p:nvPr/>
        </p:nvSpPr>
        <p:spPr>
          <a:xfrm>
            <a:off x="533400" y="3105150"/>
            <a:ext cx="34290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buNone/>
              <a:defRPr sz="960" b="1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pPr>
            <a:r>
              <a:rPr sz="960" b="1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실행 단계  질문이 들어올 때</a:t>
            </a:r>
          </a:p>
        </p:txBody>
      </p:sp>
      <p:sp>
        <p:nvSpPr>
          <p:cNvPr id="26" name="modern-lower-1-box">
            <a:extLst>
              <a:ext uri="{FF2B5EF4-FFF2-40B4-BE49-F238E27FC236}">
                <a16:creationId xmlns:a16="http://schemas.microsoft.com/office/drawing/2014/main" id="{789B8D89-D145-45A9-8F16-682D9FFD3A47}"/>
              </a:ext>
            </a:extLst>
          </p:cNvPr>
          <p:cNvSpPr>
            <a:spLocks noGrp="1"/>
          </p:cNvSpPr>
          <p:nvPr/>
        </p:nvSpPr>
        <p:spPr>
          <a:xfrm>
            <a:off x="533400" y="3390900"/>
            <a:ext cx="1066800" cy="87630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9525">
            <a:solidFill>
              <a:srgbClr val="D4D4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modern-lower-1-title">
            <a:extLst>
              <a:ext uri="{FF2B5EF4-FFF2-40B4-BE49-F238E27FC236}">
                <a16:creationId xmlns:a16="http://schemas.microsoft.com/office/drawing/2014/main" id="{36C4E96B-BE59-4FB0-828C-66F78B02DB00}"/>
              </a:ext>
            </a:extLst>
          </p:cNvPr>
          <p:cNvSpPr>
            <a:spLocks noGrp="1"/>
          </p:cNvSpPr>
          <p:nvPr/>
        </p:nvSpPr>
        <p:spPr>
          <a:xfrm>
            <a:off x="628650" y="3514725"/>
            <a:ext cx="8763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14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14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질문</a:t>
            </a:r>
          </a:p>
        </p:txBody>
      </p:sp>
      <p:sp>
        <p:nvSpPr>
          <p:cNvPr id="28" name="modern-lower-1-subtitle">
            <a:extLst>
              <a:ext uri="{FF2B5EF4-FFF2-40B4-BE49-F238E27FC236}">
                <a16:creationId xmlns:a16="http://schemas.microsoft.com/office/drawing/2014/main" id="{5A823E68-392C-4C5F-B09D-1802CA443BCC}"/>
              </a:ext>
            </a:extLst>
          </p:cNvPr>
          <p:cNvSpPr>
            <a:spLocks noGrp="1"/>
          </p:cNvSpPr>
          <p:nvPr/>
        </p:nvSpPr>
        <p:spPr>
          <a:xfrm>
            <a:off x="619125" y="3846576"/>
            <a:ext cx="8953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915" b="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pPr>
            <a:r>
              <a:rPr sz="915" b="0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사용자 입력</a:t>
            </a:r>
          </a:p>
        </p:txBody>
      </p:sp>
      <p:sp>
        <p:nvSpPr>
          <p:cNvPr id="29" name="modern-lower-2-box">
            <a:extLst>
              <a:ext uri="{FF2B5EF4-FFF2-40B4-BE49-F238E27FC236}">
                <a16:creationId xmlns:a16="http://schemas.microsoft.com/office/drawing/2014/main" id="{3E6AC07A-2D52-44FC-A423-23254EE23D7B}"/>
              </a:ext>
            </a:extLst>
          </p:cNvPr>
          <p:cNvSpPr>
            <a:spLocks noGrp="1"/>
          </p:cNvSpPr>
          <p:nvPr/>
        </p:nvSpPr>
        <p:spPr>
          <a:xfrm>
            <a:off x="1885950" y="3390900"/>
            <a:ext cx="1352550" cy="87630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9525">
            <a:solidFill>
              <a:srgbClr val="D4D4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modern-lower-2-title">
            <a:extLst>
              <a:ext uri="{FF2B5EF4-FFF2-40B4-BE49-F238E27FC236}">
                <a16:creationId xmlns:a16="http://schemas.microsoft.com/office/drawing/2014/main" id="{70A0BF10-F597-4979-9196-B3765A588377}"/>
              </a:ext>
            </a:extLst>
          </p:cNvPr>
          <p:cNvSpPr>
            <a:spLocks noGrp="1"/>
          </p:cNvSpPr>
          <p:nvPr/>
        </p:nvSpPr>
        <p:spPr>
          <a:xfrm>
            <a:off x="1981200" y="3514725"/>
            <a:ext cx="11620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14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14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쿼리 처리</a:t>
            </a:r>
          </a:p>
        </p:txBody>
      </p:sp>
      <p:sp>
        <p:nvSpPr>
          <p:cNvPr id="31" name="modern-lower-2-subtitle">
            <a:extLst>
              <a:ext uri="{FF2B5EF4-FFF2-40B4-BE49-F238E27FC236}">
                <a16:creationId xmlns:a16="http://schemas.microsoft.com/office/drawing/2014/main" id="{037E3088-E794-4583-8DEE-D10FBF073FF6}"/>
              </a:ext>
            </a:extLst>
          </p:cNvPr>
          <p:cNvSpPr>
            <a:spLocks noGrp="1"/>
          </p:cNvSpPr>
          <p:nvPr/>
        </p:nvSpPr>
        <p:spPr>
          <a:xfrm>
            <a:off x="1971675" y="3846576"/>
            <a:ext cx="11811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915" b="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pPr>
            <a:r>
              <a:rPr sz="915" b="0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재작성·필터·라우팅</a:t>
            </a:r>
          </a:p>
        </p:txBody>
      </p:sp>
      <p:sp>
        <p:nvSpPr>
          <p:cNvPr id="32" name="modern-lower-3-box">
            <a:extLst>
              <a:ext uri="{FF2B5EF4-FFF2-40B4-BE49-F238E27FC236}">
                <a16:creationId xmlns:a16="http://schemas.microsoft.com/office/drawing/2014/main" id="{1503EE50-BF4B-4590-8D71-1F5147EA8D82}"/>
              </a:ext>
            </a:extLst>
          </p:cNvPr>
          <p:cNvSpPr>
            <a:spLocks noGrp="1"/>
          </p:cNvSpPr>
          <p:nvPr/>
        </p:nvSpPr>
        <p:spPr>
          <a:xfrm>
            <a:off x="3524250" y="3390900"/>
            <a:ext cx="1676400" cy="876300"/>
          </a:xfrm>
          <a:prstGeom prst="roundRect">
            <a:avLst>
              <a:gd name="adj" fmla="val 8696"/>
            </a:avLst>
          </a:prstGeom>
          <a:solidFill>
            <a:srgbClr val="E8E5FC"/>
          </a:solidFill>
          <a:ln w="19050">
            <a:solidFill>
              <a:srgbClr val="4633E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modern-lower-3-title">
            <a:extLst>
              <a:ext uri="{FF2B5EF4-FFF2-40B4-BE49-F238E27FC236}">
                <a16:creationId xmlns:a16="http://schemas.microsoft.com/office/drawing/2014/main" id="{E1D9B65C-2B13-496C-86C6-F330C0A6E5C8}"/>
              </a:ext>
            </a:extLst>
          </p:cNvPr>
          <p:cNvSpPr>
            <a:spLocks noGrp="1"/>
          </p:cNvSpPr>
          <p:nvPr/>
        </p:nvSpPr>
        <p:spPr>
          <a:xfrm>
            <a:off x="3619500" y="3514725"/>
            <a:ext cx="14859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140" b="1">
                <a:solidFill>
                  <a:srgbClr val="2E1FB3"/>
                </a:solidFill>
                <a:latin typeface="Malgun Gothic"/>
                <a:ea typeface="Malgun Gothic"/>
                <a:cs typeface="Malgun Gothic"/>
              </a:defRPr>
            </a:pPr>
            <a:r>
              <a:rPr sz="1140" b="1">
                <a:solidFill>
                  <a:srgbClr val="2E1FB3"/>
                </a:solidFill>
                <a:latin typeface="Malgun Gothic"/>
                <a:ea typeface="Malgun Gothic"/>
                <a:cs typeface="Malgun Gothic"/>
              </a:rPr>
              <a:t>하이브리드 검색</a:t>
            </a:r>
          </a:p>
        </p:txBody>
      </p:sp>
      <p:sp>
        <p:nvSpPr>
          <p:cNvPr id="34" name="modern-lower-3-subtitle">
            <a:extLst>
              <a:ext uri="{FF2B5EF4-FFF2-40B4-BE49-F238E27FC236}">
                <a16:creationId xmlns:a16="http://schemas.microsoft.com/office/drawing/2014/main" id="{2B5A0450-C3B9-4863-AADF-2C99421CD8AF}"/>
              </a:ext>
            </a:extLst>
          </p:cNvPr>
          <p:cNvSpPr>
            <a:spLocks noGrp="1"/>
          </p:cNvSpPr>
          <p:nvPr/>
        </p:nvSpPr>
        <p:spPr>
          <a:xfrm>
            <a:off x="3609975" y="3846576"/>
            <a:ext cx="15049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915" b="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pPr>
            <a:r>
              <a:rPr sz="915" b="0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BM25 + 벡터</a:t>
            </a:r>
          </a:p>
        </p:txBody>
      </p:sp>
      <p:sp>
        <p:nvSpPr>
          <p:cNvPr id="35" name="modern-lower-4-box">
            <a:extLst>
              <a:ext uri="{FF2B5EF4-FFF2-40B4-BE49-F238E27FC236}">
                <a16:creationId xmlns:a16="http://schemas.microsoft.com/office/drawing/2014/main" id="{D51E8E7A-1B4D-44BC-9E6B-1C0C8F271487}"/>
              </a:ext>
            </a:extLst>
          </p:cNvPr>
          <p:cNvSpPr>
            <a:spLocks noGrp="1"/>
          </p:cNvSpPr>
          <p:nvPr/>
        </p:nvSpPr>
        <p:spPr>
          <a:xfrm>
            <a:off x="5486400" y="3390900"/>
            <a:ext cx="1390650" cy="876300"/>
          </a:xfrm>
          <a:prstGeom prst="roundRect">
            <a:avLst>
              <a:gd name="adj" fmla="val 8696"/>
            </a:avLst>
          </a:prstGeom>
          <a:solidFill>
            <a:srgbClr val="E8E5FC"/>
          </a:solidFill>
          <a:ln w="19050">
            <a:solidFill>
              <a:srgbClr val="4633E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modern-lower-4-title">
            <a:extLst>
              <a:ext uri="{FF2B5EF4-FFF2-40B4-BE49-F238E27FC236}">
                <a16:creationId xmlns:a16="http://schemas.microsoft.com/office/drawing/2014/main" id="{04D9F087-AA9E-4D49-ADFD-C796DB016384}"/>
              </a:ext>
            </a:extLst>
          </p:cNvPr>
          <p:cNvSpPr>
            <a:spLocks noGrp="1"/>
          </p:cNvSpPr>
          <p:nvPr/>
        </p:nvSpPr>
        <p:spPr>
          <a:xfrm>
            <a:off x="5581650" y="3514725"/>
            <a:ext cx="12001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140" b="1">
                <a:solidFill>
                  <a:srgbClr val="2E1FB3"/>
                </a:solidFill>
                <a:latin typeface="Malgun Gothic"/>
                <a:ea typeface="Malgun Gothic"/>
                <a:cs typeface="Malgun Gothic"/>
              </a:defRPr>
            </a:pPr>
            <a:r>
              <a:rPr sz="1140" b="1">
                <a:solidFill>
                  <a:srgbClr val="2E1FB3"/>
                </a:solidFill>
                <a:latin typeface="Malgun Gothic"/>
                <a:ea typeface="Malgun Gothic"/>
                <a:cs typeface="Malgun Gothic"/>
              </a:rPr>
              <a:t>재순위</a:t>
            </a:r>
          </a:p>
        </p:txBody>
      </p:sp>
      <p:sp>
        <p:nvSpPr>
          <p:cNvPr id="37" name="modern-lower-4-subtitle">
            <a:extLst>
              <a:ext uri="{FF2B5EF4-FFF2-40B4-BE49-F238E27FC236}">
                <a16:creationId xmlns:a16="http://schemas.microsoft.com/office/drawing/2014/main" id="{CD27B4A3-BFA5-4B83-81B4-4D187BA5FC8C}"/>
              </a:ext>
            </a:extLst>
          </p:cNvPr>
          <p:cNvSpPr>
            <a:spLocks noGrp="1"/>
          </p:cNvSpPr>
          <p:nvPr/>
        </p:nvSpPr>
        <p:spPr>
          <a:xfrm>
            <a:off x="5572125" y="3846576"/>
            <a:ext cx="12192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915" b="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pPr>
            <a:r>
              <a:rPr sz="915" b="0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상위 후보 정교화</a:t>
            </a:r>
          </a:p>
        </p:txBody>
      </p:sp>
      <p:sp>
        <p:nvSpPr>
          <p:cNvPr id="38" name="modern-lower-5-box">
            <a:extLst>
              <a:ext uri="{FF2B5EF4-FFF2-40B4-BE49-F238E27FC236}">
                <a16:creationId xmlns:a16="http://schemas.microsoft.com/office/drawing/2014/main" id="{C53313B5-F265-4007-917B-6397802E68DE}"/>
              </a:ext>
            </a:extLst>
          </p:cNvPr>
          <p:cNvSpPr>
            <a:spLocks noGrp="1"/>
          </p:cNvSpPr>
          <p:nvPr/>
        </p:nvSpPr>
        <p:spPr>
          <a:xfrm>
            <a:off x="7162800" y="3390900"/>
            <a:ext cx="1562100" cy="876300"/>
          </a:xfrm>
          <a:prstGeom prst="roundRect">
            <a:avLst>
              <a:gd name="adj" fmla="val 8696"/>
            </a:avLst>
          </a:prstGeom>
          <a:solidFill>
            <a:srgbClr val="E8E5FC"/>
          </a:solidFill>
          <a:ln w="19050">
            <a:solidFill>
              <a:srgbClr val="4633E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modern-lower-5-title">
            <a:extLst>
              <a:ext uri="{FF2B5EF4-FFF2-40B4-BE49-F238E27FC236}">
                <a16:creationId xmlns:a16="http://schemas.microsoft.com/office/drawing/2014/main" id="{F2B97BFF-A40F-42C9-A01A-D6267B43C6C3}"/>
              </a:ext>
            </a:extLst>
          </p:cNvPr>
          <p:cNvSpPr>
            <a:spLocks noGrp="1"/>
          </p:cNvSpPr>
          <p:nvPr/>
        </p:nvSpPr>
        <p:spPr>
          <a:xfrm>
            <a:off x="7258050" y="3514725"/>
            <a:ext cx="13716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140" b="1">
                <a:solidFill>
                  <a:srgbClr val="2E1FB3"/>
                </a:solidFill>
                <a:latin typeface="Malgun Gothic"/>
                <a:ea typeface="Malgun Gothic"/>
                <a:cs typeface="Malgun Gothic"/>
              </a:defRPr>
            </a:pPr>
            <a:r>
              <a:rPr sz="1140" b="1">
                <a:solidFill>
                  <a:srgbClr val="2E1FB3"/>
                </a:solidFill>
                <a:latin typeface="Malgun Gothic"/>
                <a:ea typeface="Malgun Gothic"/>
                <a:cs typeface="Malgun Gothic"/>
              </a:rPr>
              <a:t>컨텍스트 구성</a:t>
            </a:r>
          </a:p>
        </p:txBody>
      </p:sp>
      <p:sp>
        <p:nvSpPr>
          <p:cNvPr id="40" name="modern-lower-5-subtitle">
            <a:extLst>
              <a:ext uri="{FF2B5EF4-FFF2-40B4-BE49-F238E27FC236}">
                <a16:creationId xmlns:a16="http://schemas.microsoft.com/office/drawing/2014/main" id="{1B875F05-4A8E-4F32-AAC0-A2642747F776}"/>
              </a:ext>
            </a:extLst>
          </p:cNvPr>
          <p:cNvSpPr>
            <a:spLocks noGrp="1"/>
          </p:cNvSpPr>
          <p:nvPr/>
        </p:nvSpPr>
        <p:spPr>
          <a:xfrm>
            <a:off x="7248525" y="3846576"/>
            <a:ext cx="13906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915" b="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pPr>
            <a:r>
              <a:rPr sz="915" b="0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근거·출처 정리</a:t>
            </a:r>
          </a:p>
        </p:txBody>
      </p:sp>
      <p:sp>
        <p:nvSpPr>
          <p:cNvPr id="41" name="modern-lower-6-box">
            <a:extLst>
              <a:ext uri="{FF2B5EF4-FFF2-40B4-BE49-F238E27FC236}">
                <a16:creationId xmlns:a16="http://schemas.microsoft.com/office/drawing/2014/main" id="{98B0753E-265B-40F1-8A6B-9EB3D7CD932B}"/>
              </a:ext>
            </a:extLst>
          </p:cNvPr>
          <p:cNvSpPr>
            <a:spLocks noGrp="1"/>
          </p:cNvSpPr>
          <p:nvPr/>
        </p:nvSpPr>
        <p:spPr>
          <a:xfrm>
            <a:off x="9010650" y="3390900"/>
            <a:ext cx="1695450" cy="87630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9525">
            <a:solidFill>
              <a:srgbClr val="D4D4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modern-lower-6-title">
            <a:extLst>
              <a:ext uri="{FF2B5EF4-FFF2-40B4-BE49-F238E27FC236}">
                <a16:creationId xmlns:a16="http://schemas.microsoft.com/office/drawing/2014/main" id="{C5EEEC0D-5E92-41D0-BC09-B76FA9E94DED}"/>
              </a:ext>
            </a:extLst>
          </p:cNvPr>
          <p:cNvSpPr>
            <a:spLocks noGrp="1"/>
          </p:cNvSpPr>
          <p:nvPr/>
        </p:nvSpPr>
        <p:spPr>
          <a:xfrm>
            <a:off x="9105900" y="3514725"/>
            <a:ext cx="15049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14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14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LLM 답변</a:t>
            </a:r>
          </a:p>
        </p:txBody>
      </p:sp>
      <p:sp>
        <p:nvSpPr>
          <p:cNvPr id="43" name="modern-lower-6-subtitle">
            <a:extLst>
              <a:ext uri="{FF2B5EF4-FFF2-40B4-BE49-F238E27FC236}">
                <a16:creationId xmlns:a16="http://schemas.microsoft.com/office/drawing/2014/main" id="{046E0DAA-B93F-45CD-809E-BF4DECCC4373}"/>
              </a:ext>
            </a:extLst>
          </p:cNvPr>
          <p:cNvSpPr>
            <a:spLocks noGrp="1"/>
          </p:cNvSpPr>
          <p:nvPr/>
        </p:nvSpPr>
        <p:spPr>
          <a:xfrm>
            <a:off x="9096375" y="3846576"/>
            <a:ext cx="15240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915" b="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pPr>
            <a:r>
              <a:rPr sz="915" b="0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생성 + 출처 표시</a:t>
            </a:r>
          </a:p>
        </p:txBody>
      </p:sp>
      <p:cxnSp>
        <p:nvCxnSpPr>
          <p:cNvPr id="96" name="직선 화살표 연결선 95"/>
          <p:cNvCxnSpPr>
            <a:stCxn id="26" idx="3"/>
            <a:endCxn id="29" idx="1"/>
          </p:cNvCxnSpPr>
          <p:nvPr/>
        </p:nvCxnSpPr>
        <p:spPr>
          <a:xfrm>
            <a:off x="1600200" y="3829050"/>
            <a:ext cx="285750" cy="0"/>
          </a:xfrm>
          <a:prstGeom prst="straightConnector1">
            <a:avLst/>
          </a:prstGeom>
          <a:ln w="14288">
            <a:solidFill>
              <a:srgbClr val="D4D4D4"/>
            </a:solidFill>
            <a:prstDash val="solid"/>
            <a:tailEnd type="triangle" w="sm" len="sm"/>
          </a:ln>
        </p:spPr>
      </p:cxnSp>
      <p:cxnSp>
        <p:nvCxnSpPr>
          <p:cNvPr id="97" name="직선 화살표 연결선 96"/>
          <p:cNvCxnSpPr>
            <a:stCxn id="29" idx="3"/>
            <a:endCxn id="32" idx="1"/>
          </p:cNvCxnSpPr>
          <p:nvPr/>
        </p:nvCxnSpPr>
        <p:spPr>
          <a:xfrm>
            <a:off x="3238500" y="3829050"/>
            <a:ext cx="285750" cy="0"/>
          </a:xfrm>
          <a:prstGeom prst="straightConnector1">
            <a:avLst/>
          </a:prstGeom>
          <a:ln w="14288">
            <a:solidFill>
              <a:srgbClr val="D4D4D4"/>
            </a:solidFill>
            <a:prstDash val="solid"/>
            <a:tailEnd type="triangle" w="sm" len="sm"/>
          </a:ln>
        </p:spPr>
      </p:cxnSp>
      <p:cxnSp>
        <p:nvCxnSpPr>
          <p:cNvPr id="98" name="직선 화살표 연결선 97"/>
          <p:cNvCxnSpPr>
            <a:stCxn id="32" idx="3"/>
            <a:endCxn id="35" idx="1"/>
          </p:cNvCxnSpPr>
          <p:nvPr/>
        </p:nvCxnSpPr>
        <p:spPr>
          <a:xfrm>
            <a:off x="5200650" y="3829050"/>
            <a:ext cx="285750" cy="0"/>
          </a:xfrm>
          <a:prstGeom prst="straightConnector1">
            <a:avLst/>
          </a:prstGeom>
          <a:ln w="14288">
            <a:solidFill>
              <a:srgbClr val="D4D4D4"/>
            </a:solidFill>
            <a:prstDash val="solid"/>
            <a:tailEnd type="triangle" w="sm" len="sm"/>
          </a:ln>
        </p:spPr>
      </p:cxnSp>
      <p:cxnSp>
        <p:nvCxnSpPr>
          <p:cNvPr id="99" name="직선 화살표 연결선 98"/>
          <p:cNvCxnSpPr>
            <a:stCxn id="35" idx="3"/>
            <a:endCxn id="38" idx="1"/>
          </p:cNvCxnSpPr>
          <p:nvPr/>
        </p:nvCxnSpPr>
        <p:spPr>
          <a:xfrm>
            <a:off x="6877050" y="3829050"/>
            <a:ext cx="285750" cy="0"/>
          </a:xfrm>
          <a:prstGeom prst="straightConnector1">
            <a:avLst/>
          </a:prstGeom>
          <a:ln w="14288">
            <a:solidFill>
              <a:srgbClr val="D4D4D4"/>
            </a:solidFill>
            <a:prstDash val="solid"/>
            <a:tailEnd type="triangle" w="sm" len="sm"/>
          </a:ln>
        </p:spPr>
      </p:cxnSp>
      <p:cxnSp>
        <p:nvCxnSpPr>
          <p:cNvPr id="100" name="직선 화살표 연결선 99"/>
          <p:cNvCxnSpPr>
            <a:stCxn id="38" idx="3"/>
            <a:endCxn id="41" idx="1"/>
          </p:cNvCxnSpPr>
          <p:nvPr/>
        </p:nvCxnSpPr>
        <p:spPr>
          <a:xfrm>
            <a:off x="8724900" y="3829050"/>
            <a:ext cx="285750" cy="0"/>
          </a:xfrm>
          <a:prstGeom prst="straightConnector1">
            <a:avLst/>
          </a:prstGeom>
          <a:ln w="14288">
            <a:solidFill>
              <a:srgbClr val="D4D4D4"/>
            </a:solidFill>
            <a:prstDash val="solid"/>
            <a:tailEnd type="triangle" w="sm" len="sm"/>
          </a:ln>
        </p:spPr>
      </p:cxnSp>
      <p:cxnSp>
        <p:nvCxnSpPr>
          <p:cNvPr id="101" name="연결선: 꺾임 100"/>
          <p:cNvCxnSpPr>
            <a:stCxn id="18" idx="2"/>
            <a:endCxn id="32" idx="0"/>
          </p:cNvCxnSpPr>
          <p:nvPr/>
        </p:nvCxnSpPr>
        <p:spPr>
          <a:xfrm flipH="1">
            <a:off x="4362450" y="2647950"/>
            <a:ext cx="5981700" cy="742950"/>
          </a:xfrm>
          <a:prstGeom prst="bentConnector4">
            <a:avLst>
              <a:gd name="adj1" fmla="val 0"/>
              <a:gd name="adj2" fmla="val 50000"/>
            </a:avLst>
          </a:prstGeom>
          <a:ln w="19050">
            <a:solidFill>
              <a:srgbClr val="4633E3"/>
            </a:solidFill>
            <a:prstDash val="solid"/>
            <a:tailEnd type="triangle" w="sm" len="sm"/>
          </a:ln>
        </p:spPr>
      </p:cxnSp>
    </p:spTree>
    <p:extLst>
      <p:ext uri="{BB962C8B-B14F-4D97-AF65-F5344CB8AC3E}">
        <p14:creationId xmlns:p14="http://schemas.microsoft.com/office/powerpoint/2010/main" val="9422198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_1">
            <a:extLst>
              <a:ext uri="{FF2B5EF4-FFF2-40B4-BE49-F238E27FC236}">
                <a16:creationId xmlns:a16="http://schemas.microsoft.com/office/drawing/2014/main" id="{0435C254-62A2-409C-A43F-523F3B975077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>
              <a:defRPr sz="240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이번 커리큘럼의 구현 범위</a:t>
            </a:r>
          </a:p>
        </p:txBody>
      </p:sp>
      <p:sp>
        <p:nvSpPr>
          <p:cNvPr id="2" name="eyebrow-4">
            <a:extLst>
              <a:ext uri="{FF2B5EF4-FFF2-40B4-BE49-F238E27FC236}">
                <a16:creationId xmlns:a16="http://schemas.microsoft.com/office/drawing/2014/main" id="{A38AAD6F-5E35-4CAC-B99D-AD6906001EF4}"/>
              </a:ext>
            </a:extLst>
          </p:cNvPr>
          <p:cNvSpPr>
            <a:spLocks noGrp="1"/>
          </p:cNvSpPr>
          <p:nvPr/>
        </p:nvSpPr>
        <p:spPr>
          <a:xfrm>
            <a:off x="533400" y="1028700"/>
            <a:ext cx="49530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buNone/>
              <a:defRPr sz="960" b="1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pPr>
            <a:r>
              <a:rPr sz="960" b="1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COURSE SCOPE</a:t>
            </a:r>
          </a:p>
        </p:txBody>
      </p:sp>
      <p:sp>
        <p:nvSpPr>
          <p:cNvPr id="4" name="page-4">
            <a:extLst>
              <a:ext uri="{FF2B5EF4-FFF2-40B4-BE49-F238E27FC236}">
                <a16:creationId xmlns:a16="http://schemas.microsoft.com/office/drawing/2014/main" id="{1B697517-B296-4EA8-8E89-CE95BEF3E34A}"/>
              </a:ext>
            </a:extLst>
          </p:cNvPr>
          <p:cNvSpPr>
            <a:spLocks noGrp="1"/>
          </p:cNvSpPr>
          <p:nvPr/>
        </p:nvSpPr>
        <p:spPr>
          <a:xfrm>
            <a:off x="10191750" y="6496050"/>
            <a:ext cx="13716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  <a:buNone/>
              <a:defRPr sz="960" b="0">
                <a:solidFill>
                  <a:srgbClr val="9CA3AF"/>
                </a:solidFill>
                <a:latin typeface="Malgun Gothic"/>
                <a:ea typeface="Malgun Gothic"/>
                <a:cs typeface="Malgun Gothic"/>
              </a:defRPr>
            </a:pPr>
            <a:r>
              <a:rPr sz="960" b="0">
                <a:solidFill>
                  <a:srgbClr val="9CA3AF"/>
                </a:solidFill>
                <a:latin typeface="Malgun Gothic"/>
                <a:ea typeface="Malgun Gothic"/>
                <a:cs typeface="Malgun Gothic"/>
              </a:rPr>
              <a:t>04 / 06</a:t>
            </a:r>
          </a:p>
        </p:txBody>
      </p:sp>
      <p:sp>
        <p:nvSpPr>
          <p:cNvPr id="5" name="scope-headline">
            <a:extLst>
              <a:ext uri="{FF2B5EF4-FFF2-40B4-BE49-F238E27FC236}">
                <a16:creationId xmlns:a16="http://schemas.microsoft.com/office/drawing/2014/main" id="{79FA82C1-931B-4379-BF41-DDA9FAA8512F}"/>
              </a:ext>
            </a:extLst>
          </p:cNvPr>
          <p:cNvSpPr>
            <a:spLocks noGrp="1"/>
          </p:cNvSpPr>
          <p:nvPr/>
        </p:nvSpPr>
        <p:spPr>
          <a:xfrm>
            <a:off x="533400" y="1657350"/>
            <a:ext cx="100012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650" b="1">
                <a:solidFill>
                  <a:srgbClr val="2E1FB3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2E1FB3"/>
                </a:solidFill>
                <a:latin typeface="Malgun Gothic"/>
                <a:ea typeface="Malgun Gothic"/>
                <a:cs typeface="Malgun Gothic"/>
              </a:rPr>
              <a:t>검색 가능한 데이터를 만들고, 잘 찾는지 평가하는 단계까지 구현</a:t>
            </a:r>
          </a:p>
        </p:txBody>
      </p:sp>
      <p:sp>
        <p:nvSpPr>
          <p:cNvPr id="6" name="scope-1-box">
            <a:extLst>
              <a:ext uri="{FF2B5EF4-FFF2-40B4-BE49-F238E27FC236}">
                <a16:creationId xmlns:a16="http://schemas.microsoft.com/office/drawing/2014/main" id="{29895F2C-78D3-40EB-BC3A-7EC4B0F798D1}"/>
              </a:ext>
            </a:extLst>
          </p:cNvPr>
          <p:cNvSpPr>
            <a:spLocks noGrp="1"/>
          </p:cNvSpPr>
          <p:nvPr/>
        </p:nvSpPr>
        <p:spPr>
          <a:xfrm>
            <a:off x="533400" y="2457450"/>
            <a:ext cx="1200150" cy="723900"/>
          </a:xfrm>
          <a:prstGeom prst="roundRect">
            <a:avLst>
              <a:gd name="adj" fmla="val 10526"/>
            </a:avLst>
          </a:prstGeom>
          <a:solidFill>
            <a:srgbClr val="E8E5FC"/>
          </a:solidFill>
          <a:ln w="19050">
            <a:solidFill>
              <a:srgbClr val="4633E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cope-1-title">
            <a:extLst>
              <a:ext uri="{FF2B5EF4-FFF2-40B4-BE49-F238E27FC236}">
                <a16:creationId xmlns:a16="http://schemas.microsoft.com/office/drawing/2014/main" id="{B19924A5-8AC3-4C30-A961-8F858BC0CA80}"/>
              </a:ext>
            </a:extLst>
          </p:cNvPr>
          <p:cNvSpPr>
            <a:spLocks noGrp="1"/>
          </p:cNvSpPr>
          <p:nvPr/>
        </p:nvSpPr>
        <p:spPr>
          <a:xfrm>
            <a:off x="628650" y="2457450"/>
            <a:ext cx="1009650" cy="723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088" b="1">
                <a:solidFill>
                  <a:srgbClr val="2E1FB3"/>
                </a:solidFill>
                <a:latin typeface="Malgun Gothic"/>
                <a:ea typeface="Malgun Gothic"/>
                <a:cs typeface="Malgun Gothic"/>
              </a:defRPr>
            </a:pPr>
            <a:r>
              <a:rPr sz="1088" b="1">
                <a:solidFill>
                  <a:srgbClr val="2E1FB3"/>
                </a:solidFill>
                <a:latin typeface="Malgun Gothic"/>
                <a:ea typeface="Malgun Gothic"/>
                <a:cs typeface="Malgun Gothic"/>
              </a:rPr>
              <a:t>문서·메타데이터</a:t>
            </a:r>
          </a:p>
        </p:txBody>
      </p:sp>
      <p:sp>
        <p:nvSpPr>
          <p:cNvPr id="8" name="scope-2-box">
            <a:extLst>
              <a:ext uri="{FF2B5EF4-FFF2-40B4-BE49-F238E27FC236}">
                <a16:creationId xmlns:a16="http://schemas.microsoft.com/office/drawing/2014/main" id="{FBDF6414-3AFC-456B-A6F0-E251C13797DA}"/>
              </a:ext>
            </a:extLst>
          </p:cNvPr>
          <p:cNvSpPr>
            <a:spLocks noGrp="1"/>
          </p:cNvSpPr>
          <p:nvPr/>
        </p:nvSpPr>
        <p:spPr>
          <a:xfrm>
            <a:off x="1828800" y="2457450"/>
            <a:ext cx="1066800" cy="723900"/>
          </a:xfrm>
          <a:prstGeom prst="roundRect">
            <a:avLst>
              <a:gd name="adj" fmla="val 10526"/>
            </a:avLst>
          </a:prstGeom>
          <a:solidFill>
            <a:srgbClr val="E8E5FC"/>
          </a:solidFill>
          <a:ln w="19050">
            <a:solidFill>
              <a:srgbClr val="4633E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cope-2-title">
            <a:extLst>
              <a:ext uri="{FF2B5EF4-FFF2-40B4-BE49-F238E27FC236}">
                <a16:creationId xmlns:a16="http://schemas.microsoft.com/office/drawing/2014/main" id="{0EDE7796-D834-4B23-B23D-84BE6F1FBD56}"/>
              </a:ext>
            </a:extLst>
          </p:cNvPr>
          <p:cNvSpPr>
            <a:spLocks noGrp="1"/>
          </p:cNvSpPr>
          <p:nvPr/>
        </p:nvSpPr>
        <p:spPr>
          <a:xfrm>
            <a:off x="1924050" y="2457450"/>
            <a:ext cx="876300" cy="723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088" b="1">
                <a:solidFill>
                  <a:srgbClr val="2E1FB3"/>
                </a:solidFill>
                <a:latin typeface="Malgun Gothic"/>
                <a:ea typeface="Malgun Gothic"/>
                <a:cs typeface="Malgun Gothic"/>
              </a:defRPr>
            </a:pPr>
            <a:r>
              <a:rPr sz="1088" b="1">
                <a:solidFill>
                  <a:srgbClr val="2E1FB3"/>
                </a:solidFill>
                <a:latin typeface="Malgun Gothic"/>
                <a:ea typeface="Malgun Gothic"/>
                <a:cs typeface="Malgun Gothic"/>
              </a:rPr>
              <a:t>파싱·청킹</a:t>
            </a:r>
          </a:p>
        </p:txBody>
      </p:sp>
      <p:sp>
        <p:nvSpPr>
          <p:cNvPr id="10" name="scope-3-box">
            <a:extLst>
              <a:ext uri="{FF2B5EF4-FFF2-40B4-BE49-F238E27FC236}">
                <a16:creationId xmlns:a16="http://schemas.microsoft.com/office/drawing/2014/main" id="{1AAA6B6D-1100-46A0-9713-71BE17F958C6}"/>
              </a:ext>
            </a:extLst>
          </p:cNvPr>
          <p:cNvSpPr>
            <a:spLocks noGrp="1"/>
          </p:cNvSpPr>
          <p:nvPr/>
        </p:nvSpPr>
        <p:spPr>
          <a:xfrm>
            <a:off x="2990850" y="2457450"/>
            <a:ext cx="1200150" cy="723900"/>
          </a:xfrm>
          <a:prstGeom prst="roundRect">
            <a:avLst>
              <a:gd name="adj" fmla="val 10526"/>
            </a:avLst>
          </a:prstGeom>
          <a:solidFill>
            <a:srgbClr val="E8E5FC"/>
          </a:solidFill>
          <a:ln w="19050">
            <a:solidFill>
              <a:srgbClr val="4633E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cope-3-title">
            <a:extLst>
              <a:ext uri="{FF2B5EF4-FFF2-40B4-BE49-F238E27FC236}">
                <a16:creationId xmlns:a16="http://schemas.microsoft.com/office/drawing/2014/main" id="{97952D32-9C26-49D6-AA93-20651BCFFD73}"/>
              </a:ext>
            </a:extLst>
          </p:cNvPr>
          <p:cNvSpPr>
            <a:spLocks noGrp="1"/>
          </p:cNvSpPr>
          <p:nvPr/>
        </p:nvSpPr>
        <p:spPr>
          <a:xfrm>
            <a:off x="3086100" y="2457450"/>
            <a:ext cx="1009650" cy="723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088" b="1">
                <a:solidFill>
                  <a:srgbClr val="2E1FB3"/>
                </a:solidFill>
                <a:latin typeface="Malgun Gothic"/>
                <a:ea typeface="Malgun Gothic"/>
                <a:cs typeface="Malgun Gothic"/>
              </a:defRPr>
            </a:pPr>
            <a:r>
              <a:rPr sz="1088" b="1">
                <a:solidFill>
                  <a:srgbClr val="2E1FB3"/>
                </a:solidFill>
                <a:latin typeface="Malgun Gothic"/>
                <a:ea typeface="Malgun Gothic"/>
                <a:cs typeface="Malgun Gothic"/>
              </a:rPr>
              <a:t>임베딩·색인</a:t>
            </a:r>
          </a:p>
        </p:txBody>
      </p:sp>
      <p:sp>
        <p:nvSpPr>
          <p:cNvPr id="12" name="scope-4-box">
            <a:extLst>
              <a:ext uri="{FF2B5EF4-FFF2-40B4-BE49-F238E27FC236}">
                <a16:creationId xmlns:a16="http://schemas.microsoft.com/office/drawing/2014/main" id="{1437CA50-8AA4-40EA-971C-16301DBF3445}"/>
              </a:ext>
            </a:extLst>
          </p:cNvPr>
          <p:cNvSpPr>
            <a:spLocks noGrp="1"/>
          </p:cNvSpPr>
          <p:nvPr/>
        </p:nvSpPr>
        <p:spPr>
          <a:xfrm>
            <a:off x="4286250" y="2457450"/>
            <a:ext cx="1066800" cy="723900"/>
          </a:xfrm>
          <a:prstGeom prst="roundRect">
            <a:avLst>
              <a:gd name="adj" fmla="val 10526"/>
            </a:avLst>
          </a:prstGeom>
          <a:solidFill>
            <a:srgbClr val="E8E5FC"/>
          </a:solidFill>
          <a:ln w="19050">
            <a:solidFill>
              <a:srgbClr val="4633E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cope-4-title">
            <a:extLst>
              <a:ext uri="{FF2B5EF4-FFF2-40B4-BE49-F238E27FC236}">
                <a16:creationId xmlns:a16="http://schemas.microsoft.com/office/drawing/2014/main" id="{34C199AE-DA33-4B6D-80CD-5BB6A9217595}"/>
              </a:ext>
            </a:extLst>
          </p:cNvPr>
          <p:cNvSpPr>
            <a:spLocks noGrp="1"/>
          </p:cNvSpPr>
          <p:nvPr/>
        </p:nvSpPr>
        <p:spPr>
          <a:xfrm>
            <a:off x="4381500" y="2457450"/>
            <a:ext cx="876300" cy="723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088" b="1">
                <a:solidFill>
                  <a:srgbClr val="2E1FB3"/>
                </a:solidFill>
                <a:latin typeface="Malgun Gothic"/>
                <a:ea typeface="Malgun Gothic"/>
                <a:cs typeface="Malgun Gothic"/>
              </a:defRPr>
            </a:pPr>
            <a:r>
              <a:rPr sz="1088" b="1">
                <a:solidFill>
                  <a:srgbClr val="2E1FB3"/>
                </a:solidFill>
                <a:latin typeface="Malgun Gothic"/>
                <a:ea typeface="Malgun Gothic"/>
                <a:cs typeface="Malgun Gothic"/>
              </a:rPr>
              <a:t>BM25·kNN</a:t>
            </a:r>
          </a:p>
        </p:txBody>
      </p:sp>
      <p:sp>
        <p:nvSpPr>
          <p:cNvPr id="14" name="scope-5-box">
            <a:extLst>
              <a:ext uri="{FF2B5EF4-FFF2-40B4-BE49-F238E27FC236}">
                <a16:creationId xmlns:a16="http://schemas.microsoft.com/office/drawing/2014/main" id="{FBB9F1E1-4DA8-43E6-8BE0-EA7554F51BA0}"/>
              </a:ext>
            </a:extLst>
          </p:cNvPr>
          <p:cNvSpPr>
            <a:spLocks noGrp="1"/>
          </p:cNvSpPr>
          <p:nvPr/>
        </p:nvSpPr>
        <p:spPr>
          <a:xfrm>
            <a:off x="5448300" y="2457450"/>
            <a:ext cx="1219200" cy="723900"/>
          </a:xfrm>
          <a:prstGeom prst="roundRect">
            <a:avLst>
              <a:gd name="adj" fmla="val 10526"/>
            </a:avLst>
          </a:prstGeom>
          <a:solidFill>
            <a:srgbClr val="E8E5FC"/>
          </a:solidFill>
          <a:ln w="19050">
            <a:solidFill>
              <a:srgbClr val="4633E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cope-5-title">
            <a:extLst>
              <a:ext uri="{FF2B5EF4-FFF2-40B4-BE49-F238E27FC236}">
                <a16:creationId xmlns:a16="http://schemas.microsoft.com/office/drawing/2014/main" id="{BB3AF2EB-7DBC-44AC-B337-B1863CD001BF}"/>
              </a:ext>
            </a:extLst>
          </p:cNvPr>
          <p:cNvSpPr>
            <a:spLocks noGrp="1"/>
          </p:cNvSpPr>
          <p:nvPr/>
        </p:nvSpPr>
        <p:spPr>
          <a:xfrm>
            <a:off x="5543550" y="2457450"/>
            <a:ext cx="1028700" cy="723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088" b="1">
                <a:solidFill>
                  <a:srgbClr val="2E1FB3"/>
                </a:solidFill>
                <a:latin typeface="Malgun Gothic"/>
                <a:ea typeface="Malgun Gothic"/>
                <a:cs typeface="Malgun Gothic"/>
              </a:defRPr>
            </a:pPr>
            <a:r>
              <a:rPr sz="1088" b="1">
                <a:solidFill>
                  <a:srgbClr val="2E1FB3"/>
                </a:solidFill>
                <a:latin typeface="Malgun Gothic"/>
                <a:ea typeface="Malgun Gothic"/>
                <a:cs typeface="Malgun Gothic"/>
              </a:rPr>
              <a:t>하이브리드 검색</a:t>
            </a:r>
          </a:p>
        </p:txBody>
      </p:sp>
      <p:sp>
        <p:nvSpPr>
          <p:cNvPr id="16" name="scope-6-box">
            <a:extLst>
              <a:ext uri="{FF2B5EF4-FFF2-40B4-BE49-F238E27FC236}">
                <a16:creationId xmlns:a16="http://schemas.microsoft.com/office/drawing/2014/main" id="{D28B9B0A-8636-41B2-830E-1A4AEAD799BA}"/>
              </a:ext>
            </a:extLst>
          </p:cNvPr>
          <p:cNvSpPr>
            <a:spLocks noGrp="1"/>
          </p:cNvSpPr>
          <p:nvPr/>
        </p:nvSpPr>
        <p:spPr>
          <a:xfrm>
            <a:off x="6762750" y="2457450"/>
            <a:ext cx="1066800" cy="723900"/>
          </a:xfrm>
          <a:prstGeom prst="roundRect">
            <a:avLst>
              <a:gd name="adj" fmla="val 10526"/>
            </a:avLst>
          </a:prstGeom>
          <a:solidFill>
            <a:srgbClr val="E8E5FC"/>
          </a:solidFill>
          <a:ln w="19050">
            <a:solidFill>
              <a:srgbClr val="4633E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cope-6-title">
            <a:extLst>
              <a:ext uri="{FF2B5EF4-FFF2-40B4-BE49-F238E27FC236}">
                <a16:creationId xmlns:a16="http://schemas.microsoft.com/office/drawing/2014/main" id="{A8249EDA-4237-410A-9555-3745256B72B8}"/>
              </a:ext>
            </a:extLst>
          </p:cNvPr>
          <p:cNvSpPr>
            <a:spLocks noGrp="1"/>
          </p:cNvSpPr>
          <p:nvPr/>
        </p:nvSpPr>
        <p:spPr>
          <a:xfrm>
            <a:off x="6858000" y="2457450"/>
            <a:ext cx="876300" cy="723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088" b="1">
                <a:solidFill>
                  <a:srgbClr val="2E1FB3"/>
                </a:solidFill>
                <a:latin typeface="Malgun Gothic"/>
                <a:ea typeface="Malgun Gothic"/>
                <a:cs typeface="Malgun Gothic"/>
              </a:defRPr>
            </a:pPr>
            <a:r>
              <a:rPr sz="1088" b="1">
                <a:solidFill>
                  <a:srgbClr val="2E1FB3"/>
                </a:solidFill>
                <a:latin typeface="Malgun Gothic"/>
                <a:ea typeface="Malgun Gothic"/>
                <a:cs typeface="Malgun Gothic"/>
              </a:rPr>
              <a:t>검색 API</a:t>
            </a:r>
          </a:p>
        </p:txBody>
      </p:sp>
      <p:sp>
        <p:nvSpPr>
          <p:cNvPr id="18" name="scope-7-box">
            <a:extLst>
              <a:ext uri="{FF2B5EF4-FFF2-40B4-BE49-F238E27FC236}">
                <a16:creationId xmlns:a16="http://schemas.microsoft.com/office/drawing/2014/main" id="{7316439C-B1D8-4266-B94F-A2816B7A300F}"/>
              </a:ext>
            </a:extLst>
          </p:cNvPr>
          <p:cNvSpPr>
            <a:spLocks noGrp="1"/>
          </p:cNvSpPr>
          <p:nvPr/>
        </p:nvSpPr>
        <p:spPr>
          <a:xfrm>
            <a:off x="7924800" y="2457450"/>
            <a:ext cx="1352550" cy="723900"/>
          </a:xfrm>
          <a:prstGeom prst="roundRect">
            <a:avLst>
              <a:gd name="adj" fmla="val 10526"/>
            </a:avLst>
          </a:prstGeom>
          <a:solidFill>
            <a:srgbClr val="E8E5FC"/>
          </a:solidFill>
          <a:ln w="19050">
            <a:solidFill>
              <a:srgbClr val="4633E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cope-7-title">
            <a:extLst>
              <a:ext uri="{FF2B5EF4-FFF2-40B4-BE49-F238E27FC236}">
                <a16:creationId xmlns:a16="http://schemas.microsoft.com/office/drawing/2014/main" id="{786C867B-FD89-45F7-9044-8E9EC5F72DFF}"/>
              </a:ext>
            </a:extLst>
          </p:cNvPr>
          <p:cNvSpPr>
            <a:spLocks noGrp="1"/>
          </p:cNvSpPr>
          <p:nvPr/>
        </p:nvSpPr>
        <p:spPr>
          <a:xfrm>
            <a:off x="8020050" y="2457450"/>
            <a:ext cx="1162050" cy="723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088" b="1">
                <a:solidFill>
                  <a:srgbClr val="2E1FB3"/>
                </a:solidFill>
                <a:latin typeface="Malgun Gothic"/>
                <a:ea typeface="Malgun Gothic"/>
                <a:cs typeface="Malgun Gothic"/>
              </a:defRPr>
            </a:pPr>
            <a:r>
              <a:rPr sz="1088" b="1">
                <a:solidFill>
                  <a:srgbClr val="2E1FB3"/>
                </a:solidFill>
                <a:latin typeface="Malgun Gothic"/>
                <a:ea typeface="Malgun Gothic"/>
                <a:cs typeface="Malgun Gothic"/>
              </a:rPr>
              <a:t>컨텍스트·원문</a:t>
            </a:r>
          </a:p>
        </p:txBody>
      </p:sp>
      <p:sp>
        <p:nvSpPr>
          <p:cNvPr id="20" name="scope-8-box">
            <a:extLst>
              <a:ext uri="{FF2B5EF4-FFF2-40B4-BE49-F238E27FC236}">
                <a16:creationId xmlns:a16="http://schemas.microsoft.com/office/drawing/2014/main" id="{947DF060-1F0D-43E1-83F7-1F65C7A80D09}"/>
              </a:ext>
            </a:extLst>
          </p:cNvPr>
          <p:cNvSpPr>
            <a:spLocks noGrp="1"/>
          </p:cNvSpPr>
          <p:nvPr/>
        </p:nvSpPr>
        <p:spPr>
          <a:xfrm>
            <a:off x="9372600" y="2457450"/>
            <a:ext cx="1162050" cy="723900"/>
          </a:xfrm>
          <a:prstGeom prst="roundRect">
            <a:avLst>
              <a:gd name="adj" fmla="val 10526"/>
            </a:avLst>
          </a:prstGeom>
          <a:solidFill>
            <a:srgbClr val="F5F5F4"/>
          </a:solidFill>
          <a:ln w="9525">
            <a:solidFill>
              <a:srgbClr val="D4D4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scope-8-title">
            <a:extLst>
              <a:ext uri="{FF2B5EF4-FFF2-40B4-BE49-F238E27FC236}">
                <a16:creationId xmlns:a16="http://schemas.microsoft.com/office/drawing/2014/main" id="{20797B77-5098-4A78-B1F8-7437C9EA3174}"/>
              </a:ext>
            </a:extLst>
          </p:cNvPr>
          <p:cNvSpPr>
            <a:spLocks noGrp="1"/>
          </p:cNvSpPr>
          <p:nvPr/>
        </p:nvSpPr>
        <p:spPr>
          <a:xfrm>
            <a:off x="9467850" y="2457450"/>
            <a:ext cx="971550" cy="723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088" b="1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pPr>
            <a:r>
              <a:rPr sz="1088" b="1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LLM·에이전트</a:t>
            </a:r>
          </a:p>
        </p:txBody>
      </p:sp>
      <p:cxnSp>
        <p:nvCxnSpPr>
          <p:cNvPr id="59" name="직선 화살표 연결선 58"/>
          <p:cNvCxnSpPr>
            <a:stCxn id="6" idx="3"/>
            <a:endCxn id="8" idx="1"/>
          </p:cNvCxnSpPr>
          <p:nvPr/>
        </p:nvCxnSpPr>
        <p:spPr>
          <a:xfrm>
            <a:off x="1733550" y="2819400"/>
            <a:ext cx="95250" cy="0"/>
          </a:xfrm>
          <a:prstGeom prst="straightConnector1">
            <a:avLst/>
          </a:prstGeom>
          <a:ln w="14288">
            <a:solidFill>
              <a:srgbClr val="4633E3"/>
            </a:solidFill>
            <a:prstDash val="solid"/>
            <a:tailEnd type="triangle" w="sm" len="sm"/>
          </a:ln>
        </p:spPr>
      </p:cxnSp>
      <p:cxnSp>
        <p:nvCxnSpPr>
          <p:cNvPr id="60" name="직선 화살표 연결선 59"/>
          <p:cNvCxnSpPr>
            <a:stCxn id="8" idx="3"/>
            <a:endCxn id="10" idx="1"/>
          </p:cNvCxnSpPr>
          <p:nvPr/>
        </p:nvCxnSpPr>
        <p:spPr>
          <a:xfrm>
            <a:off x="2895600" y="2819400"/>
            <a:ext cx="95250" cy="0"/>
          </a:xfrm>
          <a:prstGeom prst="straightConnector1">
            <a:avLst/>
          </a:prstGeom>
          <a:ln w="14288">
            <a:solidFill>
              <a:srgbClr val="4633E3"/>
            </a:solidFill>
            <a:prstDash val="solid"/>
            <a:tailEnd type="triangle" w="sm" len="sm"/>
          </a:ln>
        </p:spPr>
      </p:cxnSp>
      <p:cxnSp>
        <p:nvCxnSpPr>
          <p:cNvPr id="61" name="직선 화살표 연결선 60"/>
          <p:cNvCxnSpPr>
            <a:stCxn id="10" idx="3"/>
            <a:endCxn id="12" idx="1"/>
          </p:cNvCxnSpPr>
          <p:nvPr/>
        </p:nvCxnSpPr>
        <p:spPr>
          <a:xfrm>
            <a:off x="4191000" y="2819400"/>
            <a:ext cx="95250" cy="0"/>
          </a:xfrm>
          <a:prstGeom prst="straightConnector1">
            <a:avLst/>
          </a:prstGeom>
          <a:ln w="14288">
            <a:solidFill>
              <a:srgbClr val="4633E3"/>
            </a:solidFill>
            <a:prstDash val="solid"/>
            <a:tailEnd type="triangle" w="sm" len="sm"/>
          </a:ln>
        </p:spPr>
      </p:cxnSp>
      <p:cxnSp>
        <p:nvCxnSpPr>
          <p:cNvPr id="62" name="직선 화살표 연결선 61"/>
          <p:cNvCxnSpPr>
            <a:stCxn id="12" idx="3"/>
            <a:endCxn id="14" idx="1"/>
          </p:cNvCxnSpPr>
          <p:nvPr/>
        </p:nvCxnSpPr>
        <p:spPr>
          <a:xfrm>
            <a:off x="5353050" y="2819400"/>
            <a:ext cx="95250" cy="0"/>
          </a:xfrm>
          <a:prstGeom prst="straightConnector1">
            <a:avLst/>
          </a:prstGeom>
          <a:ln w="14288">
            <a:solidFill>
              <a:srgbClr val="4633E3"/>
            </a:solidFill>
            <a:prstDash val="solid"/>
            <a:tailEnd type="triangle" w="sm" len="sm"/>
          </a:ln>
        </p:spPr>
      </p:cxnSp>
      <p:cxnSp>
        <p:nvCxnSpPr>
          <p:cNvPr id="63" name="직선 화살표 연결선 62"/>
          <p:cNvCxnSpPr>
            <a:stCxn id="14" idx="3"/>
            <a:endCxn id="16" idx="1"/>
          </p:cNvCxnSpPr>
          <p:nvPr/>
        </p:nvCxnSpPr>
        <p:spPr>
          <a:xfrm>
            <a:off x="6667500" y="2819400"/>
            <a:ext cx="95250" cy="0"/>
          </a:xfrm>
          <a:prstGeom prst="straightConnector1">
            <a:avLst/>
          </a:prstGeom>
          <a:ln w="14288">
            <a:solidFill>
              <a:srgbClr val="4633E3"/>
            </a:solidFill>
            <a:prstDash val="solid"/>
            <a:tailEnd type="triangle" w="sm" len="sm"/>
          </a:ln>
        </p:spPr>
      </p:cxnSp>
      <p:cxnSp>
        <p:nvCxnSpPr>
          <p:cNvPr id="64" name="직선 화살표 연결선 63"/>
          <p:cNvCxnSpPr>
            <a:stCxn id="16" idx="3"/>
            <a:endCxn id="18" idx="1"/>
          </p:cNvCxnSpPr>
          <p:nvPr/>
        </p:nvCxnSpPr>
        <p:spPr>
          <a:xfrm>
            <a:off x="7829550" y="2819400"/>
            <a:ext cx="95250" cy="0"/>
          </a:xfrm>
          <a:prstGeom prst="straightConnector1">
            <a:avLst/>
          </a:prstGeom>
          <a:ln w="14288">
            <a:solidFill>
              <a:srgbClr val="4633E3"/>
            </a:solidFill>
            <a:prstDash val="solid"/>
            <a:tailEnd type="triangle" w="sm" len="sm"/>
          </a:ln>
        </p:spPr>
      </p:cxnSp>
      <p:cxnSp>
        <p:nvCxnSpPr>
          <p:cNvPr id="65" name="직선 화살표 연결선 64"/>
          <p:cNvCxnSpPr>
            <a:stCxn id="18" idx="3"/>
            <a:endCxn id="20" idx="1"/>
          </p:cNvCxnSpPr>
          <p:nvPr/>
        </p:nvCxnSpPr>
        <p:spPr>
          <a:xfrm>
            <a:off x="9277350" y="2819400"/>
            <a:ext cx="95250" cy="0"/>
          </a:xfrm>
          <a:prstGeom prst="straightConnector1">
            <a:avLst/>
          </a:prstGeom>
          <a:ln w="14288">
            <a:solidFill>
              <a:srgbClr val="D4D4D4"/>
            </a:solidFill>
            <a:prstDash val="solid"/>
            <a:tailEnd type="triangle" w="sm" len="sm"/>
          </a:ln>
        </p:spPr>
      </p:cxnSp>
      <p:sp>
        <p:nvSpPr>
          <p:cNvPr id="29" name="scope-implemented-rule">
            <a:extLst>
              <a:ext uri="{FF2B5EF4-FFF2-40B4-BE49-F238E27FC236}">
                <a16:creationId xmlns:a16="http://schemas.microsoft.com/office/drawing/2014/main" id="{F0624B01-32D4-4596-97CC-2268DE2C5956}"/>
              </a:ext>
            </a:extLst>
          </p:cNvPr>
          <p:cNvSpPr>
            <a:spLocks noGrp="1"/>
          </p:cNvSpPr>
          <p:nvPr/>
        </p:nvSpPr>
        <p:spPr>
          <a:xfrm>
            <a:off x="533400" y="3409950"/>
            <a:ext cx="8820150" cy="28575"/>
          </a:xfrm>
          <a:prstGeom prst="rect">
            <a:avLst/>
          </a:prstGeom>
          <a:solidFill>
            <a:srgbClr val="4633E3"/>
          </a:solidFill>
          <a:ln w="0">
            <a:solidFill>
              <a:srgbClr val="4633E3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scope-implemented-label">
            <a:extLst>
              <a:ext uri="{FF2B5EF4-FFF2-40B4-BE49-F238E27FC236}">
                <a16:creationId xmlns:a16="http://schemas.microsoft.com/office/drawing/2014/main" id="{F33FE765-B904-4624-98B6-32BABEC3F94F}"/>
              </a:ext>
            </a:extLst>
          </p:cNvPr>
          <p:cNvSpPr>
            <a:spLocks noGrp="1"/>
          </p:cNvSpPr>
          <p:nvPr/>
        </p:nvSpPr>
        <p:spPr>
          <a:xfrm>
            <a:off x="533400" y="3524250"/>
            <a:ext cx="3048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buNone/>
              <a:defRPr sz="1140" b="1">
                <a:solidFill>
                  <a:srgbClr val="2E1FB3"/>
                </a:solidFill>
                <a:latin typeface="Malgun Gothic"/>
                <a:ea typeface="Malgun Gothic"/>
                <a:cs typeface="Malgun Gothic"/>
              </a:defRPr>
            </a:pPr>
            <a:r>
              <a:rPr sz="1140" b="1">
                <a:solidFill>
                  <a:srgbClr val="2E1FB3"/>
                </a:solidFill>
                <a:latin typeface="Malgun Gothic"/>
                <a:ea typeface="Malgun Gothic"/>
                <a:cs typeface="Malgun Gothic"/>
              </a:rPr>
              <a:t>이번 수업에서 직접 구현</a:t>
            </a:r>
          </a:p>
        </p:txBody>
      </p:sp>
      <p:sp>
        <p:nvSpPr>
          <p:cNvPr id="31" name="scope-outside-rule">
            <a:extLst>
              <a:ext uri="{FF2B5EF4-FFF2-40B4-BE49-F238E27FC236}">
                <a16:creationId xmlns:a16="http://schemas.microsoft.com/office/drawing/2014/main" id="{726D4B33-6C3F-4DAE-8B2A-0A3FF277A549}"/>
              </a:ext>
            </a:extLst>
          </p:cNvPr>
          <p:cNvSpPr>
            <a:spLocks noGrp="1"/>
          </p:cNvSpPr>
          <p:nvPr/>
        </p:nvSpPr>
        <p:spPr>
          <a:xfrm>
            <a:off x="9372600" y="3409950"/>
            <a:ext cx="1162050" cy="28575"/>
          </a:xfrm>
          <a:prstGeom prst="rect">
            <a:avLst/>
          </a:prstGeom>
          <a:solidFill>
            <a:srgbClr val="D4D4D4"/>
          </a:solidFill>
          <a:ln w="0">
            <a:solidFill>
              <a:srgbClr val="D4D4D4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scope-outside-label">
            <a:extLst>
              <a:ext uri="{FF2B5EF4-FFF2-40B4-BE49-F238E27FC236}">
                <a16:creationId xmlns:a16="http://schemas.microsoft.com/office/drawing/2014/main" id="{86315024-61C6-4F96-8BBC-35D71C3EDCC0}"/>
              </a:ext>
            </a:extLst>
          </p:cNvPr>
          <p:cNvSpPr>
            <a:spLocks noGrp="1"/>
          </p:cNvSpPr>
          <p:nvPr/>
        </p:nvSpPr>
        <p:spPr>
          <a:xfrm>
            <a:off x="9372600" y="3524250"/>
            <a:ext cx="11620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140" b="1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pPr>
            <a:r>
              <a:rPr sz="1140" b="1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추후 확장</a:t>
            </a:r>
          </a:p>
        </p:txBody>
      </p:sp>
      <p:sp>
        <p:nvSpPr>
          <p:cNvPr id="33" name="scope-divider">
            <a:extLst>
              <a:ext uri="{FF2B5EF4-FFF2-40B4-BE49-F238E27FC236}">
                <a16:creationId xmlns:a16="http://schemas.microsoft.com/office/drawing/2014/main" id="{DD8329EF-2574-482F-AE82-FBBC312CEF36}"/>
              </a:ext>
            </a:extLst>
          </p:cNvPr>
          <p:cNvSpPr>
            <a:spLocks noGrp="1"/>
          </p:cNvSpPr>
          <p:nvPr/>
        </p:nvSpPr>
        <p:spPr>
          <a:xfrm>
            <a:off x="6096000" y="4057650"/>
            <a:ext cx="9525" cy="1390650"/>
          </a:xfrm>
          <a:prstGeom prst="rect">
            <a:avLst/>
          </a:prstGeom>
          <a:solidFill>
            <a:srgbClr val="E5E7EB"/>
          </a:solidFill>
          <a:ln w="0">
            <a:solidFill>
              <a:srgbClr val="E5E7EB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scope-eval-title">
            <a:extLst>
              <a:ext uri="{FF2B5EF4-FFF2-40B4-BE49-F238E27FC236}">
                <a16:creationId xmlns:a16="http://schemas.microsoft.com/office/drawing/2014/main" id="{DD980FF5-BA0D-4B47-9292-142CA3EA1EBE}"/>
              </a:ext>
            </a:extLst>
          </p:cNvPr>
          <p:cNvSpPr>
            <a:spLocks noGrp="1"/>
          </p:cNvSpPr>
          <p:nvPr/>
        </p:nvSpPr>
        <p:spPr>
          <a:xfrm>
            <a:off x="533400" y="4057650"/>
            <a:ext cx="4953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buNone/>
              <a:defRPr sz="138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38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함께 평가하는 것</a:t>
            </a:r>
          </a:p>
        </p:txBody>
      </p:sp>
      <p:sp>
        <p:nvSpPr>
          <p:cNvPr id="35" name="scope-eval-copy">
            <a:extLst>
              <a:ext uri="{FF2B5EF4-FFF2-40B4-BE49-F238E27FC236}">
                <a16:creationId xmlns:a16="http://schemas.microsoft.com/office/drawing/2014/main" id="{B4DF81AA-9115-493B-8E09-059F78A3EF1E}"/>
              </a:ext>
            </a:extLst>
          </p:cNvPr>
          <p:cNvSpPr>
            <a:spLocks noGrp="1"/>
          </p:cNvSpPr>
          <p:nvPr/>
        </p:nvSpPr>
        <p:spPr>
          <a:xfrm>
            <a:off x="533400" y="4476750"/>
            <a:ext cx="49530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200" b="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 dirty="0" err="1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검색</a:t>
            </a:r>
            <a:r>
              <a:rPr sz="1200" b="0" dirty="0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200" b="0" dirty="0" err="1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결과</a:t>
            </a:r>
            <a:r>
              <a:rPr sz="1200" b="0" dirty="0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sz="1200" b="0" dirty="0" err="1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점수</a:t>
            </a:r>
            <a:r>
              <a:rPr sz="1200" b="0" dirty="0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sz="1200" b="0" dirty="0" err="1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Hit@k</a:t>
            </a:r>
            <a:r>
              <a:rPr sz="1200" b="0" dirty="0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, MRR, </a:t>
            </a:r>
            <a:r>
              <a:rPr sz="1200" b="0" dirty="0" err="1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원문</a:t>
            </a:r>
            <a:r>
              <a:rPr sz="1200" b="0" dirty="0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200" b="0" dirty="0" err="1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정보를</a:t>
            </a:r>
            <a:r>
              <a:rPr sz="1200" b="0" dirty="0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200" b="0" dirty="0" err="1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비교한다</a:t>
            </a:r>
            <a:r>
              <a:rPr sz="1200" b="0" dirty="0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.</a:t>
            </a:r>
          </a:p>
        </p:txBody>
      </p:sp>
      <p:sp>
        <p:nvSpPr>
          <p:cNvPr id="36" name="scope-out-title">
            <a:extLst>
              <a:ext uri="{FF2B5EF4-FFF2-40B4-BE49-F238E27FC236}">
                <a16:creationId xmlns:a16="http://schemas.microsoft.com/office/drawing/2014/main" id="{FF8ED596-5598-4600-974F-E453A1BB7420}"/>
              </a:ext>
            </a:extLst>
          </p:cNvPr>
          <p:cNvSpPr>
            <a:spLocks noGrp="1"/>
          </p:cNvSpPr>
          <p:nvPr/>
        </p:nvSpPr>
        <p:spPr>
          <a:xfrm>
            <a:off x="6572250" y="4057650"/>
            <a:ext cx="47625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buNone/>
              <a:defRPr sz="138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38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이번 수업에서 다루지 않는 것</a:t>
            </a:r>
          </a:p>
        </p:txBody>
      </p:sp>
      <p:sp>
        <p:nvSpPr>
          <p:cNvPr id="37" name="scope-out-copy">
            <a:extLst>
              <a:ext uri="{FF2B5EF4-FFF2-40B4-BE49-F238E27FC236}">
                <a16:creationId xmlns:a16="http://schemas.microsoft.com/office/drawing/2014/main" id="{5B807E51-316D-4F38-93FF-9FAFEC9387B8}"/>
              </a:ext>
            </a:extLst>
          </p:cNvPr>
          <p:cNvSpPr>
            <a:spLocks noGrp="1"/>
          </p:cNvSpPr>
          <p:nvPr/>
        </p:nvSpPr>
        <p:spPr>
          <a:xfrm>
            <a:off x="6572250" y="4476750"/>
            <a:ext cx="47625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200" b="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고급 쿼리 재작성, semantic reranking, LLM 답변 생성, agent loop는 전체 구조에서 위치만 이해한다.</a:t>
            </a:r>
          </a:p>
        </p:txBody>
      </p:sp>
    </p:spTree>
    <p:extLst>
      <p:ext uri="{BB962C8B-B14F-4D97-AF65-F5344CB8AC3E}">
        <p14:creationId xmlns:p14="http://schemas.microsoft.com/office/powerpoint/2010/main" val="18843904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_1">
            <a:extLst>
              <a:ext uri="{FF2B5EF4-FFF2-40B4-BE49-F238E27FC236}">
                <a16:creationId xmlns:a16="http://schemas.microsoft.com/office/drawing/2014/main" id="{0435C254-62A2-409C-A43F-523F3B975077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>
              <a:defRPr sz="240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검색 품질이 답변 품질의 상한을 정한다</a:t>
            </a:r>
          </a:p>
        </p:txBody>
      </p:sp>
      <p:sp>
        <p:nvSpPr>
          <p:cNvPr id="2" name="eyebrow-5">
            <a:extLst>
              <a:ext uri="{FF2B5EF4-FFF2-40B4-BE49-F238E27FC236}">
                <a16:creationId xmlns:a16="http://schemas.microsoft.com/office/drawing/2014/main" id="{6B58B969-A80A-4C45-ACD8-F17D681678FA}"/>
              </a:ext>
            </a:extLst>
          </p:cNvPr>
          <p:cNvSpPr>
            <a:spLocks noGrp="1"/>
          </p:cNvSpPr>
          <p:nvPr/>
        </p:nvSpPr>
        <p:spPr>
          <a:xfrm>
            <a:off x="533400" y="1028700"/>
            <a:ext cx="49530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buNone/>
              <a:defRPr sz="960" b="1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pPr>
            <a:r>
              <a:rPr sz="960" b="1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WHY RETRIEVAL MATTERS</a:t>
            </a:r>
          </a:p>
        </p:txBody>
      </p:sp>
      <p:sp>
        <p:nvSpPr>
          <p:cNvPr id="3" name="gm-5">
            <a:extLst>
              <a:ext uri="{FF2B5EF4-FFF2-40B4-BE49-F238E27FC236}">
                <a16:creationId xmlns:a16="http://schemas.microsoft.com/office/drawing/2014/main" id="{3EF14DC7-AAD2-405D-9AA0-73F35F7EF9C1}"/>
              </a:ext>
            </a:extLst>
          </p:cNvPr>
          <p:cNvSpPr>
            <a:spLocks noGrp="1"/>
          </p:cNvSpPr>
          <p:nvPr/>
        </p:nvSpPr>
        <p:spPr>
          <a:xfrm>
            <a:off x="1809750" y="6229350"/>
            <a:ext cx="85725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140" b="1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pPr>
            <a:r>
              <a:rPr sz="1140" b="1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검색이 핵심 근거를 놓치면 생성 단계가 정답을 보장하기 어렵다.</a:t>
            </a:r>
          </a:p>
        </p:txBody>
      </p:sp>
      <p:sp>
        <p:nvSpPr>
          <p:cNvPr id="4" name="page-5">
            <a:extLst>
              <a:ext uri="{FF2B5EF4-FFF2-40B4-BE49-F238E27FC236}">
                <a16:creationId xmlns:a16="http://schemas.microsoft.com/office/drawing/2014/main" id="{015DB8C2-63F9-49E1-BA3C-4BC7F3DD059C}"/>
              </a:ext>
            </a:extLst>
          </p:cNvPr>
          <p:cNvSpPr>
            <a:spLocks noGrp="1"/>
          </p:cNvSpPr>
          <p:nvPr/>
        </p:nvSpPr>
        <p:spPr>
          <a:xfrm>
            <a:off x="10191750" y="6496050"/>
            <a:ext cx="13716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  <a:buNone/>
              <a:defRPr sz="960" b="0">
                <a:solidFill>
                  <a:srgbClr val="9CA3AF"/>
                </a:solidFill>
                <a:latin typeface="Malgun Gothic"/>
                <a:ea typeface="Malgun Gothic"/>
                <a:cs typeface="Malgun Gothic"/>
              </a:defRPr>
            </a:pPr>
            <a:r>
              <a:rPr sz="960" b="0">
                <a:solidFill>
                  <a:srgbClr val="9CA3AF"/>
                </a:solidFill>
                <a:latin typeface="Malgun Gothic"/>
                <a:ea typeface="Malgun Gothic"/>
                <a:cs typeface="Malgun Gothic"/>
              </a:rPr>
              <a:t>05 / 06</a:t>
            </a:r>
          </a:p>
        </p:txBody>
      </p:sp>
      <p:sp>
        <p:nvSpPr>
          <p:cNvPr id="5" name="search-question-box">
            <a:extLst>
              <a:ext uri="{FF2B5EF4-FFF2-40B4-BE49-F238E27FC236}">
                <a16:creationId xmlns:a16="http://schemas.microsoft.com/office/drawing/2014/main" id="{2C4A2F1C-CDC7-48E7-B7BA-0578B7431A65}"/>
              </a:ext>
            </a:extLst>
          </p:cNvPr>
          <p:cNvSpPr>
            <a:spLocks noGrp="1"/>
          </p:cNvSpPr>
          <p:nvPr/>
        </p:nvSpPr>
        <p:spPr>
          <a:xfrm>
            <a:off x="2457450" y="1657350"/>
            <a:ext cx="7277100" cy="628650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9525">
            <a:solidFill>
              <a:srgbClr val="D4D4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earch-question-label">
            <a:extLst>
              <a:ext uri="{FF2B5EF4-FFF2-40B4-BE49-F238E27FC236}">
                <a16:creationId xmlns:a16="http://schemas.microsoft.com/office/drawing/2014/main" id="{FA8BC2C8-5A42-40DD-B963-79B62310EECC}"/>
              </a:ext>
            </a:extLst>
          </p:cNvPr>
          <p:cNvSpPr>
            <a:spLocks noGrp="1"/>
          </p:cNvSpPr>
          <p:nvPr/>
        </p:nvSpPr>
        <p:spPr>
          <a:xfrm>
            <a:off x="2686050" y="1819275"/>
            <a:ext cx="6667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buNone/>
              <a:defRPr sz="1140" b="1">
                <a:solidFill>
                  <a:srgbClr val="2E1FB3"/>
                </a:solidFill>
                <a:latin typeface="Malgun Gothic"/>
                <a:ea typeface="Malgun Gothic"/>
                <a:cs typeface="Malgun Gothic"/>
              </a:defRPr>
            </a:pPr>
            <a:r>
              <a:rPr sz="1140" b="1">
                <a:solidFill>
                  <a:srgbClr val="2E1FB3"/>
                </a:solidFill>
                <a:latin typeface="Malgun Gothic"/>
                <a:ea typeface="Malgun Gothic"/>
                <a:cs typeface="Malgun Gothic"/>
              </a:rPr>
              <a:t>질문</a:t>
            </a:r>
          </a:p>
        </p:txBody>
      </p:sp>
      <p:sp>
        <p:nvSpPr>
          <p:cNvPr id="7" name="search-question">
            <a:extLst>
              <a:ext uri="{FF2B5EF4-FFF2-40B4-BE49-F238E27FC236}">
                <a16:creationId xmlns:a16="http://schemas.microsoft.com/office/drawing/2014/main" id="{D97508F6-9E52-4D5C-9BB2-83D99F71EFD3}"/>
              </a:ext>
            </a:extLst>
          </p:cNvPr>
          <p:cNvSpPr>
            <a:spLocks noGrp="1"/>
          </p:cNvSpPr>
          <p:nvPr/>
        </p:nvSpPr>
        <p:spPr>
          <a:xfrm>
            <a:off x="3390900" y="1819275"/>
            <a:ext cx="58102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buNone/>
              <a:defRPr sz="150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 dirty="0" err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평소</a:t>
            </a:r>
            <a:r>
              <a:rPr sz="1500" b="1" dirty="0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500" b="1" dirty="0" err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수업은</a:t>
            </a:r>
            <a:r>
              <a:rPr sz="1500" b="1" dirty="0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500" b="1" dirty="0" err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어디에서</a:t>
            </a:r>
            <a:r>
              <a:rPr sz="1500" b="1" dirty="0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500" b="1" dirty="0" err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하나요</a:t>
            </a:r>
            <a:r>
              <a:rPr sz="1500" b="1" dirty="0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?</a:t>
            </a:r>
          </a:p>
        </p:txBody>
      </p:sp>
      <p:sp>
        <p:nvSpPr>
          <p:cNvPr id="8" name="search-divider">
            <a:extLst>
              <a:ext uri="{FF2B5EF4-FFF2-40B4-BE49-F238E27FC236}">
                <a16:creationId xmlns:a16="http://schemas.microsoft.com/office/drawing/2014/main" id="{A94E4DB8-3DAF-4688-BDDD-B1916820DA28}"/>
              </a:ext>
            </a:extLst>
          </p:cNvPr>
          <p:cNvSpPr>
            <a:spLocks noGrp="1"/>
          </p:cNvSpPr>
          <p:nvPr/>
        </p:nvSpPr>
        <p:spPr>
          <a:xfrm>
            <a:off x="6086475" y="2647950"/>
            <a:ext cx="9525" cy="2647950"/>
          </a:xfrm>
          <a:prstGeom prst="rect">
            <a:avLst/>
          </a:prstGeom>
          <a:solidFill>
            <a:srgbClr val="E5E7EB"/>
          </a:solidFill>
          <a:ln w="0">
            <a:solidFill>
              <a:srgbClr val="E5E7EB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poor-label">
            <a:extLst>
              <a:ext uri="{FF2B5EF4-FFF2-40B4-BE49-F238E27FC236}">
                <a16:creationId xmlns:a16="http://schemas.microsoft.com/office/drawing/2014/main" id="{A7803EA4-8D98-4CD8-97C9-8573E7AFE82C}"/>
              </a:ext>
            </a:extLst>
          </p:cNvPr>
          <p:cNvSpPr>
            <a:spLocks noGrp="1"/>
          </p:cNvSpPr>
          <p:nvPr/>
        </p:nvSpPr>
        <p:spPr>
          <a:xfrm>
            <a:off x="533400" y="2647950"/>
            <a:ext cx="49530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buNone/>
              <a:defRPr sz="1380" b="1">
                <a:solidFill>
                  <a:srgbClr val="E11D48"/>
                </a:solidFill>
                <a:latin typeface="Malgun Gothic"/>
                <a:ea typeface="Malgun Gothic"/>
                <a:cs typeface="Malgun Gothic"/>
              </a:defRPr>
            </a:pPr>
            <a:r>
              <a:rPr sz="1380" b="1">
                <a:solidFill>
                  <a:srgbClr val="E11D48"/>
                </a:solidFill>
                <a:latin typeface="Malgun Gothic"/>
                <a:ea typeface="Malgun Gothic"/>
                <a:cs typeface="Malgun Gothic"/>
              </a:rPr>
              <a:t>핵심 근거를 찾지 못한 경우</a:t>
            </a:r>
          </a:p>
        </p:txBody>
      </p:sp>
      <p:sp>
        <p:nvSpPr>
          <p:cNvPr id="10" name="poor-chunk-box">
            <a:extLst>
              <a:ext uri="{FF2B5EF4-FFF2-40B4-BE49-F238E27FC236}">
                <a16:creationId xmlns:a16="http://schemas.microsoft.com/office/drawing/2014/main" id="{149E8F1F-7099-494D-8DD3-11CCA996E11B}"/>
              </a:ext>
            </a:extLst>
          </p:cNvPr>
          <p:cNvSpPr>
            <a:spLocks noGrp="1"/>
          </p:cNvSpPr>
          <p:nvPr/>
        </p:nvSpPr>
        <p:spPr>
          <a:xfrm>
            <a:off x="533400" y="3105150"/>
            <a:ext cx="4953000" cy="781050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9050">
            <a:solidFill>
              <a:srgbClr val="E11D4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poor-chunk-title">
            <a:extLst>
              <a:ext uri="{FF2B5EF4-FFF2-40B4-BE49-F238E27FC236}">
                <a16:creationId xmlns:a16="http://schemas.microsoft.com/office/drawing/2014/main" id="{80CDE294-C72D-47C1-92BC-EFEB7AB84050}"/>
              </a:ext>
            </a:extLst>
          </p:cNvPr>
          <p:cNvSpPr>
            <a:spLocks noGrp="1"/>
          </p:cNvSpPr>
          <p:nvPr/>
        </p:nvSpPr>
        <p:spPr>
          <a:xfrm>
            <a:off x="628650" y="3228975"/>
            <a:ext cx="47625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140" b="1">
                <a:solidFill>
                  <a:srgbClr val="E11D48"/>
                </a:solidFill>
                <a:latin typeface="Malgun Gothic"/>
                <a:ea typeface="Malgun Gothic"/>
                <a:cs typeface="Malgun Gothic"/>
              </a:defRPr>
            </a:pPr>
            <a:r>
              <a:rPr sz="1140" b="1">
                <a:solidFill>
                  <a:srgbClr val="E11D48"/>
                </a:solidFill>
                <a:latin typeface="Malgun Gothic"/>
                <a:ea typeface="Malgun Gothic"/>
                <a:cs typeface="Malgun Gothic"/>
              </a:rPr>
              <a:t>검색 결과</a:t>
            </a:r>
          </a:p>
        </p:txBody>
      </p:sp>
      <p:sp>
        <p:nvSpPr>
          <p:cNvPr id="12" name="poor-chunk-subtitle">
            <a:extLst>
              <a:ext uri="{FF2B5EF4-FFF2-40B4-BE49-F238E27FC236}">
                <a16:creationId xmlns:a16="http://schemas.microsoft.com/office/drawing/2014/main" id="{A0BFBB91-52DE-47F6-8305-5E9ED9484755}"/>
              </a:ext>
            </a:extLst>
          </p:cNvPr>
          <p:cNvSpPr>
            <a:spLocks noGrp="1"/>
          </p:cNvSpPr>
          <p:nvPr/>
        </p:nvSpPr>
        <p:spPr>
          <a:xfrm>
            <a:off x="619125" y="3533775"/>
            <a:ext cx="47815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140" b="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pPr>
            <a:r>
              <a:rPr sz="1140" b="0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10/09 한글날, Zoom 온라인 수업</a:t>
            </a:r>
          </a:p>
        </p:txBody>
      </p:sp>
      <p:sp>
        <p:nvSpPr>
          <p:cNvPr id="13" name="poor-answer-box">
            <a:extLst>
              <a:ext uri="{FF2B5EF4-FFF2-40B4-BE49-F238E27FC236}">
                <a16:creationId xmlns:a16="http://schemas.microsoft.com/office/drawing/2014/main" id="{9D87010D-B5E2-43BA-BABC-80EE1B2DBDF5}"/>
              </a:ext>
            </a:extLst>
          </p:cNvPr>
          <p:cNvSpPr>
            <a:spLocks noGrp="1"/>
          </p:cNvSpPr>
          <p:nvPr/>
        </p:nvSpPr>
        <p:spPr>
          <a:xfrm>
            <a:off x="533400" y="4362450"/>
            <a:ext cx="4953000" cy="781050"/>
          </a:xfrm>
          <a:prstGeom prst="roundRect">
            <a:avLst>
              <a:gd name="adj" fmla="val 9756"/>
            </a:avLst>
          </a:prstGeom>
          <a:solidFill>
            <a:srgbClr val="F5F5F4"/>
          </a:solidFill>
          <a:ln w="9525">
            <a:solidFill>
              <a:srgbClr val="D4D4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poor-answer-title">
            <a:extLst>
              <a:ext uri="{FF2B5EF4-FFF2-40B4-BE49-F238E27FC236}">
                <a16:creationId xmlns:a16="http://schemas.microsoft.com/office/drawing/2014/main" id="{09BE1B90-45CF-43EF-B977-4FDC6B11EF3B}"/>
              </a:ext>
            </a:extLst>
          </p:cNvPr>
          <p:cNvSpPr>
            <a:spLocks noGrp="1"/>
          </p:cNvSpPr>
          <p:nvPr/>
        </p:nvSpPr>
        <p:spPr>
          <a:xfrm>
            <a:off x="628650" y="4486275"/>
            <a:ext cx="47625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140" b="1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pPr>
            <a:r>
              <a:rPr sz="1140" b="1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생성된 답변</a:t>
            </a:r>
          </a:p>
        </p:txBody>
      </p:sp>
      <p:sp>
        <p:nvSpPr>
          <p:cNvPr id="15" name="poor-answer-subtitle">
            <a:extLst>
              <a:ext uri="{FF2B5EF4-FFF2-40B4-BE49-F238E27FC236}">
                <a16:creationId xmlns:a16="http://schemas.microsoft.com/office/drawing/2014/main" id="{703743A8-1BFD-4796-A722-4DA288BAAA1F}"/>
              </a:ext>
            </a:extLst>
          </p:cNvPr>
          <p:cNvSpPr>
            <a:spLocks noGrp="1"/>
          </p:cNvSpPr>
          <p:nvPr/>
        </p:nvSpPr>
        <p:spPr>
          <a:xfrm>
            <a:off x="619125" y="4791075"/>
            <a:ext cx="47815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140" b="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pPr>
            <a:r>
              <a:rPr sz="1140" b="0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“평소 수업 장소를 확인할 수 없습니다.”</a:t>
            </a:r>
          </a:p>
        </p:txBody>
      </p:sp>
      <p:cxnSp>
        <p:nvCxnSpPr>
          <p:cNvPr id="42" name="직선 화살표 연결선 41"/>
          <p:cNvCxnSpPr>
            <a:stCxn id="10" idx="2"/>
            <a:endCxn id="13" idx="0"/>
          </p:cNvCxnSpPr>
          <p:nvPr/>
        </p:nvCxnSpPr>
        <p:spPr>
          <a:xfrm>
            <a:off x="3009900" y="3886200"/>
            <a:ext cx="0" cy="476250"/>
          </a:xfrm>
          <a:prstGeom prst="straightConnector1">
            <a:avLst/>
          </a:prstGeom>
          <a:ln w="19050">
            <a:solidFill>
              <a:srgbClr val="E11D48"/>
            </a:solidFill>
            <a:prstDash val="solid"/>
            <a:tailEnd type="triangle" w="sm" len="sm"/>
          </a:ln>
        </p:spPr>
      </p:cxnSp>
      <p:sp>
        <p:nvSpPr>
          <p:cNvPr id="17" name="poor-caption">
            <a:extLst>
              <a:ext uri="{FF2B5EF4-FFF2-40B4-BE49-F238E27FC236}">
                <a16:creationId xmlns:a16="http://schemas.microsoft.com/office/drawing/2014/main" id="{3D831794-1DC1-4D31-9368-92473932D2E3}"/>
              </a:ext>
            </a:extLst>
          </p:cNvPr>
          <p:cNvSpPr>
            <a:spLocks noGrp="1"/>
          </p:cNvSpPr>
          <p:nvPr/>
        </p:nvSpPr>
        <p:spPr>
          <a:xfrm>
            <a:off x="533400" y="5219700"/>
            <a:ext cx="49530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960" b="0">
                <a:solidFill>
                  <a:srgbClr val="E11D48"/>
                </a:solidFill>
                <a:latin typeface="Malgun Gothic"/>
                <a:ea typeface="Malgun Gothic"/>
                <a:cs typeface="Malgun Gothic"/>
              </a:defRPr>
            </a:pPr>
            <a:r>
              <a:rPr sz="960" b="0">
                <a:solidFill>
                  <a:srgbClr val="E11D48"/>
                </a:solidFill>
                <a:latin typeface="Malgun Gothic"/>
                <a:ea typeface="Malgun Gothic"/>
                <a:cs typeface="Malgun Gothic"/>
              </a:rPr>
              <a:t>검색 누락으로 답변 불가</a:t>
            </a:r>
          </a:p>
        </p:txBody>
      </p:sp>
      <p:sp>
        <p:nvSpPr>
          <p:cNvPr id="18" name="good-label">
            <a:extLst>
              <a:ext uri="{FF2B5EF4-FFF2-40B4-BE49-F238E27FC236}">
                <a16:creationId xmlns:a16="http://schemas.microsoft.com/office/drawing/2014/main" id="{1A66A23B-CE12-4802-831B-7D7513C7189A}"/>
              </a:ext>
            </a:extLst>
          </p:cNvPr>
          <p:cNvSpPr>
            <a:spLocks noGrp="1"/>
          </p:cNvSpPr>
          <p:nvPr/>
        </p:nvSpPr>
        <p:spPr>
          <a:xfrm>
            <a:off x="6705600" y="2647950"/>
            <a:ext cx="49530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buNone/>
              <a:defRPr sz="1380" b="1">
                <a:solidFill>
                  <a:srgbClr val="2E1FB3"/>
                </a:solidFill>
                <a:latin typeface="Malgun Gothic"/>
                <a:ea typeface="Malgun Gothic"/>
                <a:cs typeface="Malgun Gothic"/>
              </a:defRPr>
            </a:pPr>
            <a:r>
              <a:rPr sz="1380" b="1">
                <a:solidFill>
                  <a:srgbClr val="2E1FB3"/>
                </a:solidFill>
                <a:latin typeface="Malgun Gothic"/>
                <a:ea typeface="Malgun Gothic"/>
                <a:cs typeface="Malgun Gothic"/>
              </a:rPr>
              <a:t>핵심 근거를 찾은 경우</a:t>
            </a:r>
          </a:p>
        </p:txBody>
      </p:sp>
      <p:sp>
        <p:nvSpPr>
          <p:cNvPr id="19" name="good-chunk-box">
            <a:extLst>
              <a:ext uri="{FF2B5EF4-FFF2-40B4-BE49-F238E27FC236}">
                <a16:creationId xmlns:a16="http://schemas.microsoft.com/office/drawing/2014/main" id="{BE3FA78A-0F85-466B-88AD-4D6ADD88D9DE}"/>
              </a:ext>
            </a:extLst>
          </p:cNvPr>
          <p:cNvSpPr>
            <a:spLocks noGrp="1"/>
          </p:cNvSpPr>
          <p:nvPr/>
        </p:nvSpPr>
        <p:spPr>
          <a:xfrm>
            <a:off x="6705600" y="3105150"/>
            <a:ext cx="4953000" cy="781050"/>
          </a:xfrm>
          <a:prstGeom prst="roundRect">
            <a:avLst>
              <a:gd name="adj" fmla="val 9756"/>
            </a:avLst>
          </a:prstGeom>
          <a:solidFill>
            <a:srgbClr val="E8E5FC"/>
          </a:solidFill>
          <a:ln w="19050">
            <a:solidFill>
              <a:srgbClr val="4633E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good-chunk-title">
            <a:extLst>
              <a:ext uri="{FF2B5EF4-FFF2-40B4-BE49-F238E27FC236}">
                <a16:creationId xmlns:a16="http://schemas.microsoft.com/office/drawing/2014/main" id="{76BA76A1-EDDA-454E-A8F0-9D2E720F2E3D}"/>
              </a:ext>
            </a:extLst>
          </p:cNvPr>
          <p:cNvSpPr>
            <a:spLocks noGrp="1"/>
          </p:cNvSpPr>
          <p:nvPr/>
        </p:nvSpPr>
        <p:spPr>
          <a:xfrm>
            <a:off x="6800850" y="3228975"/>
            <a:ext cx="47625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140" b="1">
                <a:solidFill>
                  <a:srgbClr val="2E1FB3"/>
                </a:solidFill>
                <a:latin typeface="Malgun Gothic"/>
                <a:ea typeface="Malgun Gothic"/>
                <a:cs typeface="Malgun Gothic"/>
              </a:defRPr>
            </a:pPr>
            <a:r>
              <a:rPr sz="1140" b="1">
                <a:solidFill>
                  <a:srgbClr val="2E1FB3"/>
                </a:solidFill>
                <a:latin typeface="Malgun Gothic"/>
                <a:ea typeface="Malgun Gothic"/>
                <a:cs typeface="Malgun Gothic"/>
              </a:rPr>
              <a:t>검색 결과</a:t>
            </a:r>
          </a:p>
        </p:txBody>
      </p:sp>
      <p:sp>
        <p:nvSpPr>
          <p:cNvPr id="21" name="good-chunk-subtitle">
            <a:extLst>
              <a:ext uri="{FF2B5EF4-FFF2-40B4-BE49-F238E27FC236}">
                <a16:creationId xmlns:a16="http://schemas.microsoft.com/office/drawing/2014/main" id="{01B80449-DFE0-4A49-B0B0-E2C7D88BA746}"/>
              </a:ext>
            </a:extLst>
          </p:cNvPr>
          <p:cNvSpPr>
            <a:spLocks noGrp="1"/>
          </p:cNvSpPr>
          <p:nvPr/>
        </p:nvSpPr>
        <p:spPr>
          <a:xfrm>
            <a:off x="6791325" y="3533775"/>
            <a:ext cx="47815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 fontScale="80423" lnSpcReduction="10000"/>
          </a:bodyPr>
          <a:lstStyle/>
          <a:p>
            <a:pPr algn="ctr">
              <a:lnSpc>
                <a:spcPct val="100000"/>
              </a:lnSpc>
              <a:buNone/>
              <a:defRPr sz="1088" b="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pPr>
            <a:r>
              <a:rPr sz="1088" b="0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매주 금요일, 국민대 미래관 424호</a:t>
            </a:r>
          </a:p>
          <a:p>
            <a:pPr algn="ctr">
              <a:lnSpc>
                <a:spcPct val="100000"/>
              </a:lnSpc>
              <a:buNone/>
              <a:defRPr sz="1088" b="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pPr>
            <a:r>
              <a:rPr sz="1088" b="0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10/09는 Zoom 예외</a:t>
            </a:r>
          </a:p>
        </p:txBody>
      </p:sp>
      <p:sp>
        <p:nvSpPr>
          <p:cNvPr id="22" name="good-answer-box">
            <a:extLst>
              <a:ext uri="{FF2B5EF4-FFF2-40B4-BE49-F238E27FC236}">
                <a16:creationId xmlns:a16="http://schemas.microsoft.com/office/drawing/2014/main" id="{7EEC0B95-A6BA-4E8D-8920-89E76C5902B0}"/>
              </a:ext>
            </a:extLst>
          </p:cNvPr>
          <p:cNvSpPr>
            <a:spLocks noGrp="1"/>
          </p:cNvSpPr>
          <p:nvPr/>
        </p:nvSpPr>
        <p:spPr>
          <a:xfrm>
            <a:off x="6705600" y="4362450"/>
            <a:ext cx="4953000" cy="781050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9050">
            <a:solidFill>
              <a:srgbClr val="4633E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good-answer-title">
            <a:extLst>
              <a:ext uri="{FF2B5EF4-FFF2-40B4-BE49-F238E27FC236}">
                <a16:creationId xmlns:a16="http://schemas.microsoft.com/office/drawing/2014/main" id="{8EC93C74-68F9-407C-9468-B6867E08324A}"/>
              </a:ext>
            </a:extLst>
          </p:cNvPr>
          <p:cNvSpPr>
            <a:spLocks noGrp="1"/>
          </p:cNvSpPr>
          <p:nvPr/>
        </p:nvSpPr>
        <p:spPr>
          <a:xfrm>
            <a:off x="6800850" y="4486275"/>
            <a:ext cx="47625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140" b="1">
                <a:solidFill>
                  <a:srgbClr val="2E1FB3"/>
                </a:solidFill>
                <a:latin typeface="Malgun Gothic"/>
                <a:ea typeface="Malgun Gothic"/>
                <a:cs typeface="Malgun Gothic"/>
              </a:defRPr>
            </a:pPr>
            <a:r>
              <a:rPr sz="1140" b="1">
                <a:solidFill>
                  <a:srgbClr val="2E1FB3"/>
                </a:solidFill>
                <a:latin typeface="Malgun Gothic"/>
                <a:ea typeface="Malgun Gothic"/>
                <a:cs typeface="Malgun Gothic"/>
              </a:rPr>
              <a:t>생성된 답변</a:t>
            </a:r>
          </a:p>
        </p:txBody>
      </p:sp>
      <p:sp>
        <p:nvSpPr>
          <p:cNvPr id="24" name="good-answer-subtitle">
            <a:extLst>
              <a:ext uri="{FF2B5EF4-FFF2-40B4-BE49-F238E27FC236}">
                <a16:creationId xmlns:a16="http://schemas.microsoft.com/office/drawing/2014/main" id="{CA05D538-FB94-4EDE-833C-8E147EA8347C}"/>
              </a:ext>
            </a:extLst>
          </p:cNvPr>
          <p:cNvSpPr>
            <a:spLocks noGrp="1"/>
          </p:cNvSpPr>
          <p:nvPr/>
        </p:nvSpPr>
        <p:spPr>
          <a:xfrm>
            <a:off x="6791325" y="4791075"/>
            <a:ext cx="47815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200" b="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“평소에는 미래관 424호입니다.”</a:t>
            </a:r>
          </a:p>
        </p:txBody>
      </p:sp>
      <p:cxnSp>
        <p:nvCxnSpPr>
          <p:cNvPr id="51" name="직선 화살표 연결선 50"/>
          <p:cNvCxnSpPr>
            <a:stCxn id="19" idx="2"/>
            <a:endCxn id="22" idx="0"/>
          </p:cNvCxnSpPr>
          <p:nvPr/>
        </p:nvCxnSpPr>
        <p:spPr>
          <a:xfrm>
            <a:off x="9182100" y="3886200"/>
            <a:ext cx="0" cy="476250"/>
          </a:xfrm>
          <a:prstGeom prst="straightConnector1">
            <a:avLst/>
          </a:prstGeom>
          <a:ln w="19050">
            <a:solidFill>
              <a:srgbClr val="4633E3"/>
            </a:solidFill>
            <a:prstDash val="solid"/>
            <a:tailEnd type="triangle" w="sm" len="sm"/>
          </a:ln>
        </p:spPr>
      </p:cxnSp>
      <p:sp>
        <p:nvSpPr>
          <p:cNvPr id="26" name="good-caption">
            <a:extLst>
              <a:ext uri="{FF2B5EF4-FFF2-40B4-BE49-F238E27FC236}">
                <a16:creationId xmlns:a16="http://schemas.microsoft.com/office/drawing/2014/main" id="{26A9C182-CD7E-4F38-AAAB-630C8AB07915}"/>
              </a:ext>
            </a:extLst>
          </p:cNvPr>
          <p:cNvSpPr>
            <a:spLocks noGrp="1"/>
          </p:cNvSpPr>
          <p:nvPr/>
        </p:nvSpPr>
        <p:spPr>
          <a:xfrm>
            <a:off x="6705600" y="5219700"/>
            <a:ext cx="49530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960" b="0">
                <a:solidFill>
                  <a:srgbClr val="2E1FB3"/>
                </a:solidFill>
                <a:latin typeface="Malgun Gothic"/>
                <a:ea typeface="Malgun Gothic"/>
                <a:cs typeface="Malgun Gothic"/>
              </a:defRPr>
            </a:pPr>
            <a:r>
              <a:rPr sz="960" b="0">
                <a:solidFill>
                  <a:srgbClr val="2E1FB3"/>
                </a:solidFill>
                <a:latin typeface="Malgun Gothic"/>
                <a:ea typeface="Malgun Gothic"/>
                <a:cs typeface="Malgun Gothic"/>
              </a:rPr>
              <a:t>일반 규칙과 예외를 함께 설명</a:t>
            </a:r>
          </a:p>
        </p:txBody>
      </p:sp>
    </p:spTree>
    <p:extLst>
      <p:ext uri="{BB962C8B-B14F-4D97-AF65-F5344CB8AC3E}">
        <p14:creationId xmlns:p14="http://schemas.microsoft.com/office/powerpoint/2010/main" val="15129677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_1">
            <a:extLst>
              <a:ext uri="{FF2B5EF4-FFF2-40B4-BE49-F238E27FC236}">
                <a16:creationId xmlns:a16="http://schemas.microsoft.com/office/drawing/2014/main" id="{0435C254-62A2-409C-A43F-523F3B975077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>
              <a:defRPr sz="240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 dirty="0" err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파이프라인이</a:t>
            </a:r>
            <a:r>
              <a:rPr sz="2400" b="1" dirty="0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lang="ko-KR" altLang="en-US" sz="2400" b="1" dirty="0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검색</a:t>
            </a:r>
            <a:r>
              <a:rPr sz="2400" b="1" dirty="0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을 </a:t>
            </a:r>
            <a:r>
              <a:rPr sz="2400" b="1" dirty="0" err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다시</a:t>
            </a:r>
            <a:r>
              <a:rPr sz="2400" b="1" dirty="0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2400" b="1" dirty="0" err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실행하고</a:t>
            </a:r>
            <a:r>
              <a:rPr sz="2400" b="1" dirty="0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2400" b="1" dirty="0" err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비교하게</a:t>
            </a:r>
            <a:r>
              <a:rPr sz="2400" b="1" dirty="0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2400" b="1" dirty="0" err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만든다</a:t>
            </a:r>
            <a:endParaRPr sz="2400" b="1" dirty="0">
              <a:solidFill>
                <a:srgbClr val="1A1A1A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2" name="eyebrow-6">
            <a:extLst>
              <a:ext uri="{FF2B5EF4-FFF2-40B4-BE49-F238E27FC236}">
                <a16:creationId xmlns:a16="http://schemas.microsoft.com/office/drawing/2014/main" id="{04D0453D-BB06-4280-9B6E-BECD637E47D2}"/>
              </a:ext>
            </a:extLst>
          </p:cNvPr>
          <p:cNvSpPr>
            <a:spLocks noGrp="1"/>
          </p:cNvSpPr>
          <p:nvPr/>
        </p:nvSpPr>
        <p:spPr>
          <a:xfrm>
            <a:off x="533400" y="1028700"/>
            <a:ext cx="49530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buNone/>
              <a:defRPr sz="960" b="1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pPr>
            <a:r>
              <a:rPr sz="960" b="1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WHY THE PIPELINE MATTERS</a:t>
            </a:r>
          </a:p>
        </p:txBody>
      </p:sp>
      <p:sp>
        <p:nvSpPr>
          <p:cNvPr id="3" name="gm-6">
            <a:extLst>
              <a:ext uri="{FF2B5EF4-FFF2-40B4-BE49-F238E27FC236}">
                <a16:creationId xmlns:a16="http://schemas.microsoft.com/office/drawing/2014/main" id="{169C3F09-039B-4A91-A6B2-08D42140A889}"/>
              </a:ext>
            </a:extLst>
          </p:cNvPr>
          <p:cNvSpPr>
            <a:spLocks noGrp="1"/>
          </p:cNvSpPr>
          <p:nvPr/>
        </p:nvSpPr>
        <p:spPr>
          <a:xfrm>
            <a:off x="1809750" y="6229350"/>
            <a:ext cx="85725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140" b="1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pPr>
            <a:r>
              <a:rPr sz="1140" b="1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한 단계만 바꾸고 결과를 비교하면 개선 원인을 설명할 수 있다.</a:t>
            </a:r>
          </a:p>
        </p:txBody>
      </p:sp>
      <p:sp>
        <p:nvSpPr>
          <p:cNvPr id="4" name="page-6">
            <a:extLst>
              <a:ext uri="{FF2B5EF4-FFF2-40B4-BE49-F238E27FC236}">
                <a16:creationId xmlns:a16="http://schemas.microsoft.com/office/drawing/2014/main" id="{7F538610-1F64-4795-8B37-B030133A4E9A}"/>
              </a:ext>
            </a:extLst>
          </p:cNvPr>
          <p:cNvSpPr>
            <a:spLocks noGrp="1"/>
          </p:cNvSpPr>
          <p:nvPr/>
        </p:nvSpPr>
        <p:spPr>
          <a:xfrm>
            <a:off x="10191750" y="6496050"/>
            <a:ext cx="13716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  <a:buNone/>
              <a:defRPr sz="960" b="0">
                <a:solidFill>
                  <a:srgbClr val="9CA3AF"/>
                </a:solidFill>
                <a:latin typeface="Malgun Gothic"/>
                <a:ea typeface="Malgun Gothic"/>
                <a:cs typeface="Malgun Gothic"/>
              </a:defRPr>
            </a:pPr>
            <a:r>
              <a:rPr sz="960" b="0">
                <a:solidFill>
                  <a:srgbClr val="9CA3AF"/>
                </a:solidFill>
                <a:latin typeface="Malgun Gothic"/>
                <a:ea typeface="Malgun Gothic"/>
                <a:cs typeface="Malgun Gothic"/>
              </a:rPr>
              <a:t>06 / 06</a:t>
            </a:r>
          </a:p>
        </p:txBody>
      </p:sp>
      <p:sp>
        <p:nvSpPr>
          <p:cNvPr id="5" name="pipeline-lead">
            <a:extLst>
              <a:ext uri="{FF2B5EF4-FFF2-40B4-BE49-F238E27FC236}">
                <a16:creationId xmlns:a16="http://schemas.microsoft.com/office/drawing/2014/main" id="{7BFD8E0A-B519-4A7B-B5B6-90D7FCAED3CD}"/>
              </a:ext>
            </a:extLst>
          </p:cNvPr>
          <p:cNvSpPr>
            <a:spLocks noGrp="1"/>
          </p:cNvSpPr>
          <p:nvPr/>
        </p:nvSpPr>
        <p:spPr>
          <a:xfrm>
            <a:off x="533400" y="1619250"/>
            <a:ext cx="104775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38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38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같은 데이터와 설정으로 다시 실행할 수 있어야 검색 품질을 비교할 수 있다.</a:t>
            </a:r>
          </a:p>
        </p:txBody>
      </p:sp>
      <p:sp>
        <p:nvSpPr>
          <p:cNvPr id="6" name="pipeline-1-box">
            <a:extLst>
              <a:ext uri="{FF2B5EF4-FFF2-40B4-BE49-F238E27FC236}">
                <a16:creationId xmlns:a16="http://schemas.microsoft.com/office/drawing/2014/main" id="{7EFB3662-6698-43A5-8F9F-0710E9F53AE7}"/>
              </a:ext>
            </a:extLst>
          </p:cNvPr>
          <p:cNvSpPr>
            <a:spLocks noGrp="1"/>
          </p:cNvSpPr>
          <p:nvPr/>
        </p:nvSpPr>
        <p:spPr>
          <a:xfrm>
            <a:off x="533400" y="2324100"/>
            <a:ext cx="1714500" cy="9144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D4D4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pipeline-1-title">
            <a:extLst>
              <a:ext uri="{FF2B5EF4-FFF2-40B4-BE49-F238E27FC236}">
                <a16:creationId xmlns:a16="http://schemas.microsoft.com/office/drawing/2014/main" id="{5EBD76CF-7D65-4C5C-A57E-102113F2E587}"/>
              </a:ext>
            </a:extLst>
          </p:cNvPr>
          <p:cNvSpPr>
            <a:spLocks noGrp="1"/>
          </p:cNvSpPr>
          <p:nvPr/>
        </p:nvSpPr>
        <p:spPr>
          <a:xfrm>
            <a:off x="628650" y="2447925"/>
            <a:ext cx="15240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20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입력 원문</a:t>
            </a:r>
          </a:p>
        </p:txBody>
      </p:sp>
      <p:sp>
        <p:nvSpPr>
          <p:cNvPr id="8" name="pipeline-1-subtitle">
            <a:extLst>
              <a:ext uri="{FF2B5EF4-FFF2-40B4-BE49-F238E27FC236}">
                <a16:creationId xmlns:a16="http://schemas.microsoft.com/office/drawing/2014/main" id="{5374D1CE-5A8C-4A68-B70E-3522FB219825}"/>
              </a:ext>
            </a:extLst>
          </p:cNvPr>
          <p:cNvSpPr>
            <a:spLocks noGrp="1"/>
          </p:cNvSpPr>
          <p:nvPr/>
        </p:nvSpPr>
        <p:spPr>
          <a:xfrm>
            <a:off x="619125" y="2799588"/>
            <a:ext cx="1543050" cy="381762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960" b="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pPr>
            <a:r>
              <a:rPr sz="960" b="0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같은 데이터</a:t>
            </a:r>
          </a:p>
        </p:txBody>
      </p:sp>
      <p:sp>
        <p:nvSpPr>
          <p:cNvPr id="9" name="pipeline-2-box">
            <a:extLst>
              <a:ext uri="{FF2B5EF4-FFF2-40B4-BE49-F238E27FC236}">
                <a16:creationId xmlns:a16="http://schemas.microsoft.com/office/drawing/2014/main" id="{1367A616-44D7-4164-A1C8-F2ECE0F4A0DD}"/>
              </a:ext>
            </a:extLst>
          </p:cNvPr>
          <p:cNvSpPr>
            <a:spLocks noGrp="1"/>
          </p:cNvSpPr>
          <p:nvPr/>
        </p:nvSpPr>
        <p:spPr>
          <a:xfrm>
            <a:off x="2647950" y="2324100"/>
            <a:ext cx="1714500" cy="9144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D4D4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pipeline-2-title">
            <a:extLst>
              <a:ext uri="{FF2B5EF4-FFF2-40B4-BE49-F238E27FC236}">
                <a16:creationId xmlns:a16="http://schemas.microsoft.com/office/drawing/2014/main" id="{1DFC07BA-305C-4FD7-ACFC-72441AEF6660}"/>
              </a:ext>
            </a:extLst>
          </p:cNvPr>
          <p:cNvSpPr>
            <a:spLocks noGrp="1"/>
          </p:cNvSpPr>
          <p:nvPr/>
        </p:nvSpPr>
        <p:spPr>
          <a:xfrm>
            <a:off x="2743200" y="2447925"/>
            <a:ext cx="15240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20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설정</a:t>
            </a:r>
          </a:p>
        </p:txBody>
      </p:sp>
      <p:sp>
        <p:nvSpPr>
          <p:cNvPr id="11" name="pipeline-2-subtitle">
            <a:extLst>
              <a:ext uri="{FF2B5EF4-FFF2-40B4-BE49-F238E27FC236}">
                <a16:creationId xmlns:a16="http://schemas.microsoft.com/office/drawing/2014/main" id="{0D45C3B5-AFE4-4D9A-8B4E-E10A897BC848}"/>
              </a:ext>
            </a:extLst>
          </p:cNvPr>
          <p:cNvSpPr>
            <a:spLocks noGrp="1"/>
          </p:cNvSpPr>
          <p:nvPr/>
        </p:nvSpPr>
        <p:spPr>
          <a:xfrm>
            <a:off x="2733675" y="2799588"/>
            <a:ext cx="1543050" cy="381762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960" b="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pPr>
            <a:r>
              <a:rPr sz="960" b="0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청크·모델·검색 방식</a:t>
            </a:r>
          </a:p>
        </p:txBody>
      </p:sp>
      <p:sp>
        <p:nvSpPr>
          <p:cNvPr id="12" name="pipeline-3-box">
            <a:extLst>
              <a:ext uri="{FF2B5EF4-FFF2-40B4-BE49-F238E27FC236}">
                <a16:creationId xmlns:a16="http://schemas.microsoft.com/office/drawing/2014/main" id="{B69A7247-0973-48FD-986C-3BE0ACFB0B47}"/>
              </a:ext>
            </a:extLst>
          </p:cNvPr>
          <p:cNvSpPr>
            <a:spLocks noGrp="1"/>
          </p:cNvSpPr>
          <p:nvPr/>
        </p:nvSpPr>
        <p:spPr>
          <a:xfrm>
            <a:off x="4762500" y="2324100"/>
            <a:ext cx="1714500" cy="9144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D4D4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pipeline-3-title">
            <a:extLst>
              <a:ext uri="{FF2B5EF4-FFF2-40B4-BE49-F238E27FC236}">
                <a16:creationId xmlns:a16="http://schemas.microsoft.com/office/drawing/2014/main" id="{DF283A9E-0871-4F49-8B10-102E3FB11BEA}"/>
              </a:ext>
            </a:extLst>
          </p:cNvPr>
          <p:cNvSpPr>
            <a:spLocks noGrp="1"/>
          </p:cNvSpPr>
          <p:nvPr/>
        </p:nvSpPr>
        <p:spPr>
          <a:xfrm>
            <a:off x="4857750" y="2447925"/>
            <a:ext cx="15240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20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통합 실행</a:t>
            </a:r>
          </a:p>
        </p:txBody>
      </p:sp>
      <p:sp>
        <p:nvSpPr>
          <p:cNvPr id="14" name="pipeline-3-subtitle">
            <a:extLst>
              <a:ext uri="{FF2B5EF4-FFF2-40B4-BE49-F238E27FC236}">
                <a16:creationId xmlns:a16="http://schemas.microsoft.com/office/drawing/2014/main" id="{522B5478-852F-405E-8E11-6E8E5B83B645}"/>
              </a:ext>
            </a:extLst>
          </p:cNvPr>
          <p:cNvSpPr>
            <a:spLocks noGrp="1"/>
          </p:cNvSpPr>
          <p:nvPr/>
        </p:nvSpPr>
        <p:spPr>
          <a:xfrm>
            <a:off x="4848225" y="2799588"/>
            <a:ext cx="1543050" cy="381762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960" b="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pPr>
            <a:r>
              <a:rPr sz="960" b="0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파싱부터 색인까지</a:t>
            </a:r>
          </a:p>
        </p:txBody>
      </p:sp>
      <p:sp>
        <p:nvSpPr>
          <p:cNvPr id="15" name="pipeline-4-box">
            <a:extLst>
              <a:ext uri="{FF2B5EF4-FFF2-40B4-BE49-F238E27FC236}">
                <a16:creationId xmlns:a16="http://schemas.microsoft.com/office/drawing/2014/main" id="{6D6C7EB3-0D67-46F3-811B-81925C962607}"/>
              </a:ext>
            </a:extLst>
          </p:cNvPr>
          <p:cNvSpPr>
            <a:spLocks noGrp="1"/>
          </p:cNvSpPr>
          <p:nvPr/>
        </p:nvSpPr>
        <p:spPr>
          <a:xfrm>
            <a:off x="6877050" y="2324100"/>
            <a:ext cx="1714500" cy="9144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D4D4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pipeline-4-title">
            <a:extLst>
              <a:ext uri="{FF2B5EF4-FFF2-40B4-BE49-F238E27FC236}">
                <a16:creationId xmlns:a16="http://schemas.microsoft.com/office/drawing/2014/main" id="{F542FF81-3E53-47DF-A337-30CC52349DFC}"/>
              </a:ext>
            </a:extLst>
          </p:cNvPr>
          <p:cNvSpPr>
            <a:spLocks noGrp="1"/>
          </p:cNvSpPr>
          <p:nvPr/>
        </p:nvSpPr>
        <p:spPr>
          <a:xfrm>
            <a:off x="6972300" y="2447925"/>
            <a:ext cx="15240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20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검색 API</a:t>
            </a:r>
          </a:p>
        </p:txBody>
      </p:sp>
      <p:sp>
        <p:nvSpPr>
          <p:cNvPr id="17" name="pipeline-4-subtitle">
            <a:extLst>
              <a:ext uri="{FF2B5EF4-FFF2-40B4-BE49-F238E27FC236}">
                <a16:creationId xmlns:a16="http://schemas.microsoft.com/office/drawing/2014/main" id="{526B9A7F-B124-4569-82BD-F648718D7859}"/>
              </a:ext>
            </a:extLst>
          </p:cNvPr>
          <p:cNvSpPr>
            <a:spLocks noGrp="1"/>
          </p:cNvSpPr>
          <p:nvPr/>
        </p:nvSpPr>
        <p:spPr>
          <a:xfrm>
            <a:off x="6962775" y="2799588"/>
            <a:ext cx="1543050" cy="381762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960" b="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pPr>
            <a:r>
              <a:rPr sz="960" b="0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같은 요청 반복</a:t>
            </a:r>
          </a:p>
        </p:txBody>
      </p:sp>
      <p:sp>
        <p:nvSpPr>
          <p:cNvPr id="18" name="pipeline-5-box">
            <a:extLst>
              <a:ext uri="{FF2B5EF4-FFF2-40B4-BE49-F238E27FC236}">
                <a16:creationId xmlns:a16="http://schemas.microsoft.com/office/drawing/2014/main" id="{B001011E-8BC4-4E5A-9B47-3534A0DD9517}"/>
              </a:ext>
            </a:extLst>
          </p:cNvPr>
          <p:cNvSpPr>
            <a:spLocks noGrp="1"/>
          </p:cNvSpPr>
          <p:nvPr/>
        </p:nvSpPr>
        <p:spPr>
          <a:xfrm>
            <a:off x="8991600" y="2324100"/>
            <a:ext cx="2190750" cy="914400"/>
          </a:xfrm>
          <a:prstGeom prst="roundRect">
            <a:avLst>
              <a:gd name="adj" fmla="val 8333"/>
            </a:avLst>
          </a:prstGeom>
          <a:solidFill>
            <a:srgbClr val="E8E5FC"/>
          </a:solidFill>
          <a:ln w="19050">
            <a:solidFill>
              <a:srgbClr val="4633E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pipeline-5-title">
            <a:extLst>
              <a:ext uri="{FF2B5EF4-FFF2-40B4-BE49-F238E27FC236}">
                <a16:creationId xmlns:a16="http://schemas.microsoft.com/office/drawing/2014/main" id="{1FB6A403-4871-4354-BE20-A8A3EA65EB92}"/>
              </a:ext>
            </a:extLst>
          </p:cNvPr>
          <p:cNvSpPr>
            <a:spLocks noGrp="1"/>
          </p:cNvSpPr>
          <p:nvPr/>
        </p:nvSpPr>
        <p:spPr>
          <a:xfrm>
            <a:off x="9086850" y="2447925"/>
            <a:ext cx="20002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200" b="1">
                <a:solidFill>
                  <a:srgbClr val="2E1FB3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 dirty="0" err="1">
                <a:solidFill>
                  <a:srgbClr val="2E1FB3"/>
                </a:solidFill>
                <a:latin typeface="Malgun Gothic"/>
                <a:ea typeface="Malgun Gothic"/>
                <a:cs typeface="Malgun Gothic"/>
              </a:rPr>
              <a:t>평가</a:t>
            </a:r>
            <a:endParaRPr sz="1200" b="1" dirty="0">
              <a:solidFill>
                <a:srgbClr val="2E1FB3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20" name="pipeline-5-subtitle">
            <a:extLst>
              <a:ext uri="{FF2B5EF4-FFF2-40B4-BE49-F238E27FC236}">
                <a16:creationId xmlns:a16="http://schemas.microsoft.com/office/drawing/2014/main" id="{F0DCAE8F-CFC1-4DD3-9C39-2E9109CF4ABB}"/>
              </a:ext>
            </a:extLst>
          </p:cNvPr>
          <p:cNvSpPr>
            <a:spLocks noGrp="1"/>
          </p:cNvSpPr>
          <p:nvPr/>
        </p:nvSpPr>
        <p:spPr>
          <a:xfrm>
            <a:off x="9077325" y="2799588"/>
            <a:ext cx="2019300" cy="381762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960" b="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pPr>
            <a:r>
              <a:rPr sz="960" b="0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결과와 지표 비교</a:t>
            </a:r>
          </a:p>
        </p:txBody>
      </p:sp>
      <p:cxnSp>
        <p:nvCxnSpPr>
          <p:cNvPr id="55" name="직선 화살표 연결선 54"/>
          <p:cNvCxnSpPr>
            <a:stCxn id="6" idx="3"/>
            <a:endCxn id="9" idx="1"/>
          </p:cNvCxnSpPr>
          <p:nvPr/>
        </p:nvCxnSpPr>
        <p:spPr>
          <a:xfrm>
            <a:off x="2247900" y="2781300"/>
            <a:ext cx="400050" cy="0"/>
          </a:xfrm>
          <a:prstGeom prst="straightConnector1">
            <a:avLst/>
          </a:prstGeom>
          <a:ln w="14288">
            <a:solidFill>
              <a:srgbClr val="D4D4D4"/>
            </a:solidFill>
            <a:prstDash val="solid"/>
            <a:tailEnd type="triangle" w="sm" len="sm"/>
          </a:ln>
        </p:spPr>
      </p:cxnSp>
      <p:cxnSp>
        <p:nvCxnSpPr>
          <p:cNvPr id="56" name="직선 화살표 연결선 55"/>
          <p:cNvCxnSpPr>
            <a:stCxn id="9" idx="3"/>
            <a:endCxn id="12" idx="1"/>
          </p:cNvCxnSpPr>
          <p:nvPr/>
        </p:nvCxnSpPr>
        <p:spPr>
          <a:xfrm>
            <a:off x="4362450" y="2781300"/>
            <a:ext cx="400050" cy="0"/>
          </a:xfrm>
          <a:prstGeom prst="straightConnector1">
            <a:avLst/>
          </a:prstGeom>
          <a:ln w="14288">
            <a:solidFill>
              <a:srgbClr val="D4D4D4"/>
            </a:solidFill>
            <a:prstDash val="solid"/>
            <a:tailEnd type="triangle" w="sm" len="sm"/>
          </a:ln>
        </p:spPr>
      </p:cxnSp>
      <p:cxnSp>
        <p:nvCxnSpPr>
          <p:cNvPr id="57" name="직선 화살표 연결선 56"/>
          <p:cNvCxnSpPr>
            <a:stCxn id="12" idx="3"/>
            <a:endCxn id="15" idx="1"/>
          </p:cNvCxnSpPr>
          <p:nvPr/>
        </p:nvCxnSpPr>
        <p:spPr>
          <a:xfrm>
            <a:off x="6477000" y="2781300"/>
            <a:ext cx="400050" cy="0"/>
          </a:xfrm>
          <a:prstGeom prst="straightConnector1">
            <a:avLst/>
          </a:prstGeom>
          <a:ln w="14288">
            <a:solidFill>
              <a:srgbClr val="D4D4D4"/>
            </a:solidFill>
            <a:prstDash val="solid"/>
            <a:tailEnd type="triangle" w="sm" len="sm"/>
          </a:ln>
        </p:spPr>
      </p:cxnSp>
      <p:cxnSp>
        <p:nvCxnSpPr>
          <p:cNvPr id="58" name="직선 화살표 연결선 57"/>
          <p:cNvCxnSpPr>
            <a:stCxn id="15" idx="3"/>
            <a:endCxn id="18" idx="1"/>
          </p:cNvCxnSpPr>
          <p:nvPr/>
        </p:nvCxnSpPr>
        <p:spPr>
          <a:xfrm>
            <a:off x="8591550" y="2781300"/>
            <a:ext cx="400050" cy="0"/>
          </a:xfrm>
          <a:prstGeom prst="straightConnector1">
            <a:avLst/>
          </a:prstGeom>
          <a:ln w="14288">
            <a:solidFill>
              <a:srgbClr val="D4D4D4"/>
            </a:solidFill>
            <a:prstDash val="solid"/>
            <a:tailEnd type="triangle" w="sm" len="sm"/>
          </a:ln>
        </p:spPr>
      </p:cxnSp>
      <p:sp>
        <p:nvSpPr>
          <p:cNvPr id="25" name="experiment-divider">
            <a:extLst>
              <a:ext uri="{FF2B5EF4-FFF2-40B4-BE49-F238E27FC236}">
                <a16:creationId xmlns:a16="http://schemas.microsoft.com/office/drawing/2014/main" id="{685A0280-C822-4B63-879C-C7DF2CA17B36}"/>
              </a:ext>
            </a:extLst>
          </p:cNvPr>
          <p:cNvSpPr>
            <a:spLocks noGrp="1"/>
          </p:cNvSpPr>
          <p:nvPr/>
        </p:nvSpPr>
        <p:spPr>
          <a:xfrm>
            <a:off x="533400" y="3714750"/>
            <a:ext cx="10648950" cy="9525"/>
          </a:xfrm>
          <a:prstGeom prst="rect">
            <a:avLst/>
          </a:prstGeom>
          <a:solidFill>
            <a:srgbClr val="E5E7EB"/>
          </a:solidFill>
          <a:ln w="0">
            <a:solidFill>
              <a:srgbClr val="E5E7EB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experiment-a-label">
            <a:extLst>
              <a:ext uri="{FF2B5EF4-FFF2-40B4-BE49-F238E27FC236}">
                <a16:creationId xmlns:a16="http://schemas.microsoft.com/office/drawing/2014/main" id="{8FE7E1B6-599D-4AE5-BAF0-AE3C8364A612}"/>
              </a:ext>
            </a:extLst>
          </p:cNvPr>
          <p:cNvSpPr>
            <a:spLocks noGrp="1"/>
          </p:cNvSpPr>
          <p:nvPr/>
        </p:nvSpPr>
        <p:spPr>
          <a:xfrm>
            <a:off x="533400" y="4038600"/>
            <a:ext cx="9144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buNone/>
              <a:defRPr sz="1140" b="1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pPr>
            <a:r>
              <a:rPr sz="1140" b="1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실험 A</a:t>
            </a:r>
          </a:p>
        </p:txBody>
      </p:sp>
      <p:sp>
        <p:nvSpPr>
          <p:cNvPr id="27" name="experiment-a">
            <a:extLst>
              <a:ext uri="{FF2B5EF4-FFF2-40B4-BE49-F238E27FC236}">
                <a16:creationId xmlns:a16="http://schemas.microsoft.com/office/drawing/2014/main" id="{E6419494-9FC3-4E38-B9FD-90D2DFA3FEE1}"/>
              </a:ext>
            </a:extLst>
          </p:cNvPr>
          <p:cNvSpPr>
            <a:spLocks noGrp="1"/>
          </p:cNvSpPr>
          <p:nvPr/>
        </p:nvSpPr>
        <p:spPr>
          <a:xfrm>
            <a:off x="1600200" y="4038600"/>
            <a:ext cx="20002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buNone/>
              <a:defRPr sz="138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38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BM25 검색</a:t>
            </a:r>
          </a:p>
        </p:txBody>
      </p:sp>
      <p:sp>
        <p:nvSpPr>
          <p:cNvPr id="28" name="experiment-a-result">
            <a:extLst>
              <a:ext uri="{FF2B5EF4-FFF2-40B4-BE49-F238E27FC236}">
                <a16:creationId xmlns:a16="http://schemas.microsoft.com/office/drawing/2014/main" id="{DD7E8492-756A-4DBD-A6EE-7BC27EB76A49}"/>
              </a:ext>
            </a:extLst>
          </p:cNvPr>
          <p:cNvSpPr>
            <a:spLocks noGrp="1"/>
          </p:cNvSpPr>
          <p:nvPr/>
        </p:nvSpPr>
        <p:spPr>
          <a:xfrm>
            <a:off x="3924300" y="4038600"/>
            <a:ext cx="34290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buNone/>
              <a:defRPr sz="1140" b="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pPr>
            <a:r>
              <a:rPr sz="1140" b="0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결과 A와 평가 지표를 저장</a:t>
            </a:r>
          </a:p>
        </p:txBody>
      </p:sp>
      <p:sp>
        <p:nvSpPr>
          <p:cNvPr id="29" name="experiment-a-rule">
            <a:extLst>
              <a:ext uri="{FF2B5EF4-FFF2-40B4-BE49-F238E27FC236}">
                <a16:creationId xmlns:a16="http://schemas.microsoft.com/office/drawing/2014/main" id="{9B90161C-C4CA-49B0-A4F7-A1C5F07C4561}"/>
              </a:ext>
            </a:extLst>
          </p:cNvPr>
          <p:cNvSpPr>
            <a:spLocks noGrp="1"/>
          </p:cNvSpPr>
          <p:nvPr/>
        </p:nvSpPr>
        <p:spPr>
          <a:xfrm>
            <a:off x="533400" y="4419600"/>
            <a:ext cx="10648950" cy="9525"/>
          </a:xfrm>
          <a:prstGeom prst="rect">
            <a:avLst/>
          </a:prstGeom>
          <a:solidFill>
            <a:srgbClr val="E5E7EB"/>
          </a:solidFill>
          <a:ln w="0">
            <a:solidFill>
              <a:srgbClr val="E5E7EB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experiment-b-label">
            <a:extLst>
              <a:ext uri="{FF2B5EF4-FFF2-40B4-BE49-F238E27FC236}">
                <a16:creationId xmlns:a16="http://schemas.microsoft.com/office/drawing/2014/main" id="{C0679387-DE29-4BCF-8DFF-4915CCE5DF74}"/>
              </a:ext>
            </a:extLst>
          </p:cNvPr>
          <p:cNvSpPr>
            <a:spLocks noGrp="1"/>
          </p:cNvSpPr>
          <p:nvPr/>
        </p:nvSpPr>
        <p:spPr>
          <a:xfrm>
            <a:off x="533400" y="4648200"/>
            <a:ext cx="9144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buNone/>
              <a:defRPr sz="1140" b="1">
                <a:solidFill>
                  <a:srgbClr val="2E1FB3"/>
                </a:solidFill>
                <a:latin typeface="Malgun Gothic"/>
                <a:ea typeface="Malgun Gothic"/>
                <a:cs typeface="Malgun Gothic"/>
              </a:defRPr>
            </a:pPr>
            <a:r>
              <a:rPr sz="1140" b="1">
                <a:solidFill>
                  <a:srgbClr val="2E1FB3"/>
                </a:solidFill>
                <a:latin typeface="Malgun Gothic"/>
                <a:ea typeface="Malgun Gothic"/>
                <a:cs typeface="Malgun Gothic"/>
              </a:rPr>
              <a:t>실험 B</a:t>
            </a:r>
          </a:p>
        </p:txBody>
      </p:sp>
      <p:sp>
        <p:nvSpPr>
          <p:cNvPr id="31" name="experiment-b">
            <a:extLst>
              <a:ext uri="{FF2B5EF4-FFF2-40B4-BE49-F238E27FC236}">
                <a16:creationId xmlns:a16="http://schemas.microsoft.com/office/drawing/2014/main" id="{D64E7788-ED80-45E5-B191-3C2140D3750E}"/>
              </a:ext>
            </a:extLst>
          </p:cNvPr>
          <p:cNvSpPr>
            <a:spLocks noGrp="1"/>
          </p:cNvSpPr>
          <p:nvPr/>
        </p:nvSpPr>
        <p:spPr>
          <a:xfrm>
            <a:off x="1600200" y="4648200"/>
            <a:ext cx="34290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buNone/>
              <a:defRPr sz="1380" b="1">
                <a:solidFill>
                  <a:srgbClr val="2E1FB3"/>
                </a:solidFill>
                <a:latin typeface="Malgun Gothic"/>
                <a:ea typeface="Malgun Gothic"/>
                <a:cs typeface="Malgun Gothic"/>
              </a:defRPr>
            </a:pPr>
            <a:r>
              <a:rPr sz="1380" b="1">
                <a:solidFill>
                  <a:srgbClr val="2E1FB3"/>
                </a:solidFill>
                <a:latin typeface="Malgun Gothic"/>
                <a:ea typeface="Malgun Gothic"/>
                <a:cs typeface="Malgun Gothic"/>
              </a:rPr>
              <a:t>BM25 + kNN 하이브리드 검색</a:t>
            </a:r>
          </a:p>
        </p:txBody>
      </p:sp>
      <p:sp>
        <p:nvSpPr>
          <p:cNvPr id="32" name="experiment-b-result">
            <a:extLst>
              <a:ext uri="{FF2B5EF4-FFF2-40B4-BE49-F238E27FC236}">
                <a16:creationId xmlns:a16="http://schemas.microsoft.com/office/drawing/2014/main" id="{FB871A57-20AE-4EA8-B49C-8CFA84CB57E2}"/>
              </a:ext>
            </a:extLst>
          </p:cNvPr>
          <p:cNvSpPr>
            <a:spLocks noGrp="1"/>
          </p:cNvSpPr>
          <p:nvPr/>
        </p:nvSpPr>
        <p:spPr>
          <a:xfrm>
            <a:off x="5353050" y="4648200"/>
            <a:ext cx="3238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buNone/>
              <a:defRPr sz="1140" b="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pPr>
            <a:r>
              <a:rPr sz="1140" b="0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결과 B와 지표를 A와 비교</a:t>
            </a:r>
          </a:p>
        </p:txBody>
      </p:sp>
      <p:sp>
        <p:nvSpPr>
          <p:cNvPr id="33" name="experiment-b-rule">
            <a:extLst>
              <a:ext uri="{FF2B5EF4-FFF2-40B4-BE49-F238E27FC236}">
                <a16:creationId xmlns:a16="http://schemas.microsoft.com/office/drawing/2014/main" id="{DEA813AD-D821-48F4-9C9E-43EB04F16AAA}"/>
              </a:ext>
            </a:extLst>
          </p:cNvPr>
          <p:cNvSpPr>
            <a:spLocks noGrp="1"/>
          </p:cNvSpPr>
          <p:nvPr/>
        </p:nvSpPr>
        <p:spPr>
          <a:xfrm>
            <a:off x="533400" y="5029200"/>
            <a:ext cx="10648950" cy="28575"/>
          </a:xfrm>
          <a:prstGeom prst="rect">
            <a:avLst/>
          </a:prstGeom>
          <a:solidFill>
            <a:srgbClr val="4633E3"/>
          </a:solidFill>
          <a:ln w="0">
            <a:solidFill>
              <a:srgbClr val="4633E3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pipeline-close">
            <a:extLst>
              <a:ext uri="{FF2B5EF4-FFF2-40B4-BE49-F238E27FC236}">
                <a16:creationId xmlns:a16="http://schemas.microsoft.com/office/drawing/2014/main" id="{7CA20874-63DE-4102-AF91-9D1AF1DF3C40}"/>
              </a:ext>
            </a:extLst>
          </p:cNvPr>
          <p:cNvSpPr>
            <a:spLocks noGrp="1"/>
          </p:cNvSpPr>
          <p:nvPr/>
        </p:nvSpPr>
        <p:spPr>
          <a:xfrm>
            <a:off x="533400" y="5314950"/>
            <a:ext cx="1064895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20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파이프라인이 있으면 오류가 난 단계도 추적하고, 개선된 설정을 팀이 그대로 재현할 수 있다.</a:t>
            </a:r>
          </a:p>
        </p:txBody>
      </p:sp>
    </p:spTree>
    <p:extLst>
      <p:ext uri="{BB962C8B-B14F-4D97-AF65-F5344CB8AC3E}">
        <p14:creationId xmlns:p14="http://schemas.microsoft.com/office/powerpoint/2010/main" val="1172052446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741</Words>
  <Application>Microsoft Office PowerPoint</Application>
  <DocSecurity>0</DocSecurity>
  <PresentationFormat>와이드스크린</PresentationFormat>
  <Paragraphs>130</Paragraphs>
  <Slides>6</Slides>
  <Notes>6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6</vt:i4>
      </vt:variant>
    </vt:vector>
  </HeadingPairs>
  <TitlesOfParts>
    <vt:vector size="11" baseType="lpstr">
      <vt:lpstr>Malgun Gothic</vt:lpstr>
      <vt:lpstr>Arial</vt:lpstr>
      <vt:lpstr>Calibri</vt:lpstr>
      <vt:lpstr>ChatGPT</vt:lpstr>
      <vt:lpstr>ChatGPT</vt:lpstr>
      <vt:lpstr>PowerPoint 프레젠테이션</vt:lpstr>
      <vt:lpstr>RAG는 질문에 맞는 자료를 먼저 찾는다</vt:lpstr>
      <vt:lpstr>모던 RAG 아키텍처</vt:lpstr>
      <vt:lpstr>이번 커리큘럼의 구현 범위</vt:lpstr>
      <vt:lpstr>검색 품질이 답변 품질의 상한을 정한다</vt:lpstr>
      <vt:lpstr>파이프라인이 검색을 다시 실행하고 비교하게 만든다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정 명곤</cp:lastModifiedBy>
  <cp:revision>1</cp:revision>
  <dcterms:created xsi:type="dcterms:W3CDTF">2026-09-09T15:20:03Z</dcterms:created>
  <dcterms:modified xsi:type="dcterms:W3CDTF">2026-09-10T23:23:14Z</dcterms:modified>
</cp:coreProperties>
</file>