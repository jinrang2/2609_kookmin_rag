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f2c8c802db74fca" /><Relationship Type="http://schemas.openxmlformats.org/officeDocument/2006/relationships/extended-properties" Target="/docProps/app.xml" Id="Re2ac0049a119437c" /><Relationship Type="http://schemas.openxmlformats.org/officeDocument/2006/relationships/officeDocument" Target="/ppt/presentation.xml" Id="Rfe036a4378ec4bb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d692ac460e9466a"/>
    <p:sldMasterId xmlns:r="http://schemas.openxmlformats.org/officeDocument/2006/relationships" id="2147483650" r:id="R935386ee1a3344f4"/>
  </p:sldMasterIdLst>
  <p:notesMasterIdLst>
    <p:notesMasterId xmlns:r="http://schemas.openxmlformats.org/officeDocument/2006/relationships" r:id="R9d02ed0b21de480e"/>
  </p:notesMasterIdLst>
  <p:sldIdLst>
    <p:sldId xmlns:r="http://schemas.openxmlformats.org/officeDocument/2006/relationships" id="256" r:id="R89f9ca0cc71744d0"/>
    <p:sldId xmlns:r="http://schemas.openxmlformats.org/officeDocument/2006/relationships" id="257" r:id="R24127304d33b4646"/>
    <p:sldId xmlns:r="http://schemas.openxmlformats.org/officeDocument/2006/relationships" id="258" r:id="Rc9b2a48861794f9c"/>
    <p:sldId xmlns:r="http://schemas.openxmlformats.org/officeDocument/2006/relationships" id="259" r:id="Rdff17f67405d42c8"/>
    <p:sldId xmlns:r="http://schemas.openxmlformats.org/officeDocument/2006/relationships" id="260" r:id="Refd256f14915409b"/>
    <p:sldId xmlns:r="http://schemas.openxmlformats.org/officeDocument/2006/relationships" id="261" r:id="R36e137947c46463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5f7d7616d364927" /><Relationship Type="http://schemas.openxmlformats.org/officeDocument/2006/relationships/slideMaster" Target="/ppt/slideMasters/slideMaster1.xml" Id="R5d692ac460e9466a" /><Relationship Type="http://schemas.openxmlformats.org/officeDocument/2006/relationships/slideMaster" Target="/ppt/slideMasters/slideMaster2.xml" Id="R935386ee1a3344f4" /><Relationship Type="http://schemas.openxmlformats.org/officeDocument/2006/relationships/notesMaster" Target="/ppt/notesMasters/notesMaster1.xml" Id="R9d02ed0b21de480e" /><Relationship Type="http://schemas.openxmlformats.org/officeDocument/2006/relationships/presProps" Target="/ppt/presProps.xml" Id="R9da9c635f95a4198" /><Relationship Type="http://schemas.openxmlformats.org/officeDocument/2006/relationships/tableStyles" Target="/ppt/tableStyles.xml" Id="R693c54ce54804bdb" /><Relationship Type="http://schemas.openxmlformats.org/officeDocument/2006/relationships/slide" Target="/ppt/slides/slide1.xml" Id="R89f9ca0cc71744d0" /><Relationship Type="http://schemas.openxmlformats.org/officeDocument/2006/relationships/slide" Target="/ppt/slides/slide2.xml" Id="R24127304d33b4646" /><Relationship Type="http://schemas.openxmlformats.org/officeDocument/2006/relationships/slide" Target="/ppt/slides/slide3.xml" Id="Rc9b2a48861794f9c" /><Relationship Type="http://schemas.openxmlformats.org/officeDocument/2006/relationships/slide" Target="/ppt/slides/slide4.xml" Id="Rdff17f67405d42c8" /><Relationship Type="http://schemas.openxmlformats.org/officeDocument/2006/relationships/slide" Target="/ppt/slides/slide5.xml" Id="Refd256f14915409b" /><Relationship Type="http://schemas.openxmlformats.org/officeDocument/2006/relationships/slide" Target="/ppt/slides/slide6.xml" Id="R36e137947c46463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919c374ac24045b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34f4c09cb7b42a6" /><Relationship Type="http://schemas.openxmlformats.org/officeDocument/2006/relationships/notesMaster" Target="/ppt/notesMasters/notesMaster1.xml" Id="Rc5a38eeefc014f2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76f327d5d4b4690" /><Relationship Type="http://schemas.openxmlformats.org/officeDocument/2006/relationships/notesMaster" Target="/ppt/notesMasters/notesMaster1.xml" Id="Rb4b68a20969c44f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fcd06a42f3b4588" /><Relationship Type="http://schemas.openxmlformats.org/officeDocument/2006/relationships/notesMaster" Target="/ppt/notesMasters/notesMaster1.xml" Id="R36cb7784d1814f0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ab0fc30e38c40fb" /><Relationship Type="http://schemas.openxmlformats.org/officeDocument/2006/relationships/notesMaster" Target="/ppt/notesMasters/notesMaster1.xml" Id="R95c1dbf9b81c45a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a08091ec9404d39" /><Relationship Type="http://schemas.openxmlformats.org/officeDocument/2006/relationships/notesMaster" Target="/ppt/notesMasters/notesMaster1.xml" Id="R47a10a294b144d3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a56fc07cff84eb0" /><Relationship Type="http://schemas.openxmlformats.org/officeDocument/2006/relationships/notesMaster" Target="/ppt/notesMasters/notesMaster1.xml" Id="Rc535ed557337481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RAG를 깊은 모델 이론보다 ‘질문에 맞는 근거를 찾아 답변에 붙이는 시스템’으로 소개합니다.</a:t>
            </a:r>
          </a:p>
          <a:p xmlns:a="http://schemas.openxmlformats.org/drawingml/2006/main">
            <a:r>
              <a:t>오늘의 초점은 생성 모델보다 검색과 파이프라인입니다.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RAG는 질문과 관련된 외부 문서를 검색하고, 그 문서를 생성 모델의 입력 근거로 넣는 방식입니다.</a:t>
            </a:r>
          </a:p>
          <a:p xmlns:a="http://schemas.openxmlformats.org/drawingml/2006/main">
            <a:r>
              <a:t>원 논문: https://arxiv.org/abs/2005.11401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현대 RAG는 오프라인 문서 준비와 온라인 검색·생성 파이프라인을 나누어 생각하면 이해하기 쉽습니다.</a:t>
            </a:r>
          </a:p>
          <a:p xmlns:a="http://schemas.openxmlformats.org/drawingml/2006/main">
            <a:r>
              <a:t>키워드 검색과 벡터 검색을 함께 쓰고, 상위 후보에만 더 무거운 재순위 모델을 적용하는 다단계 검색이 일반적입니다.</a:t>
            </a:r>
          </a:p>
          <a:p xmlns:a="http://schemas.openxmlformats.org/drawingml/2006/main">
            <a:r>
              <a:t>참고: https://www.elastic.co/docs/solutions/search/hybrid-search</a:t>
            </a:r>
          </a:p>
          <a:p xmlns:a="http://schemas.openxmlformats.org/drawingml/2006/main">
            <a:r>
              <a:t>참고: https://www.elastic.co/docs/solutions/search/ranking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커리큘럼 원문에 따라 구현 범위는 문서 준비부터 검색 결과와 원문 정보를 포함한 컨텍스트 구성까지입니다.</a:t>
            </a:r>
          </a:p>
          <a:p xmlns:a="http://schemas.openxmlformats.org/drawingml/2006/main">
            <a:r>
              <a:t>검색 결과를 API로 제공하고 Notebook에서 Hit@k와 MRR로 평가합니다.</a:t>
            </a:r>
          </a:p>
          <a:p xmlns:a="http://schemas.openxmlformats.org/drawingml/2006/main">
            <a:r>
              <a:t>LLM 답변 생성과 에이전트 구현은 이번 강의 범위에서 제외합니다.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같은 질문도 어떤 문서를 검색했는지에 따라 답변 가능 여부가 달라집니다.</a:t>
            </a:r>
          </a:p>
          <a:p xmlns:a="http://schemas.openxmlformats.org/drawingml/2006/main">
            <a:r>
              <a:t>왼쪽 검색 결과에는 예외 일정만 있으므로, 근거에 충실한 답변은 평소 장소를 알 수 없다고 해야 합니다.</a:t>
            </a:r>
          </a:p>
          <a:p xmlns:a="http://schemas.openxmlformats.org/drawingml/2006/main">
            <a:r>
              <a:t>오른쪽은 정규 장소와 예외 일정을 함께 검색했기 때문에 질문에 답할 수 있습니다.</a:t>
            </a:r>
          </a:p>
          <a:p xmlns:a="http://schemas.openxmlformats.org/drawingml/2006/main">
            <a:r>
              <a:t>그래서 생성 모델을 붙이기 전에 검색 결과 자체를 Hit@k, MRR, 원문 정보로 점검합니다.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파이프라인은 여러 도구를 연결하는 코드만 뜻하지 않습니다.</a:t>
            </a:r>
          </a:p>
          <a:p xmlns:a="http://schemas.openxmlformats.org/drawingml/2006/main">
            <a:r>
              <a:t>입력 데이터와 설정을 고정하고, 한 단계만 바꾼 뒤 같은 API와 평가 Notebook으로 결과를 비교하는 실험 구조입니다.</a:t>
            </a:r>
          </a:p>
          <a:p xmlns:a="http://schemas.openxmlformats.org/drawingml/2006/main">
            <a:r>
              <a:t>Elasticsearch는 키워드 검색과 벡터 검색 결과를 RRF 등으로 결합할 수 있습니다.</a:t>
            </a:r>
          </a:p>
          <a:p xmlns:a="http://schemas.openxmlformats.org/drawingml/2006/main">
            <a:r>
              <a:t>참고: https://www.elastic.co/docs/solutions/search/hybrid-search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c7f822ae5b40a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1947685994f4b6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2ff3c731dfc457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>
  <p:cSld name="Cov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cover-bottom-divider">
            <a:extLst xmlns:a="http://schemas.openxmlformats.org/drawingml/2006/main">
              <a:ext uri="{FF2B5EF4-FFF2-40B4-BE49-F238E27FC236}">
                <a16:creationId xmlns:a16="http://schemas.microsoft.com/office/drawing/2014/main" id="{2857ABB7-52AC-421A-BC1E-E572C8F97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E5E7EB"/>
            </a:solidFill>
          </a:ln>
        </p:spPr>
      </p:sp>
    </p:spTree>
  </p:cSld>
</p:sldLayout>
</file>

<file path=ppt/slideLayouts/slideLayout3.xml><?xml version="1.0" encoding="utf-8"?>
<p:sldLayout xmlns:p="http://schemas.openxmlformats.org/presentationml/2006/main">
  <p:cSld name="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0435C254-62A2-409C-A43F-523F3B97507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33400" y="552450"/>
            <a:ext cx="11125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페이지 제목</a:t>
            </a: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317508faa2b404b" /><Relationship Type="http://schemas.openxmlformats.org/officeDocument/2006/relationships/slideLayout" Target="/ppt/slideLayouts/slideLayout1.xml" Id="R9a29092cf68f4a81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cd309626e9e8457a" /><Relationship Type="http://schemas.openxmlformats.org/officeDocument/2006/relationships/slideLayout" Target="/ppt/slideLayouts/slideLayout2.xml" Id="Rc4d1e08745fd4831" /><Relationship Type="http://schemas.openxmlformats.org/officeDocument/2006/relationships/slideLayout" Target="/ppt/slideLayouts/slideLayout3.xml" Id="Rec878c907ee9449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a29092cf68f4a8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 name="Jangpm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1" r:id="Rc4d1e08745fd4831"/>
    <p:sldLayoutId xmlns:r="http://schemas.openxmlformats.org/officeDocument/2006/relationships" id="2147483652" r:id="Rec878c907ee94493"/>
  </p:sldLayoutIdLst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824183d875441d0" /><Relationship Type="http://schemas.openxmlformats.org/officeDocument/2006/relationships/notesSlide" Target="/ppt/notesSlides/notesSlide1.xml" Id="R667fd0c2bf1b436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99a7ac4315d24ce3" /><Relationship Type="http://schemas.openxmlformats.org/officeDocument/2006/relationships/notesSlide" Target="/ppt/notesSlides/notesSlide2.xml" Id="Rae46a04795bd448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e58707fad476408a" /><Relationship Type="http://schemas.openxmlformats.org/officeDocument/2006/relationships/notesSlide" Target="/ppt/notesSlides/notesSlide3.xml" Id="Rd40b09b18a1241c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e1a7d2e17acb4b94" /><Relationship Type="http://schemas.openxmlformats.org/officeDocument/2006/relationships/notesSlide" Target="/ppt/notesSlides/notesSlide4.xml" Id="R5fe2d06c8427421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341eaef1f3c146e3" /><Relationship Type="http://schemas.openxmlformats.org/officeDocument/2006/relationships/notesSlide" Target="/ppt/notesSlides/notesSlide5.xml" Id="R0488a7db7d204e3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daac98502bbd42ff" /><Relationship Type="http://schemas.openxmlformats.org/officeDocument/2006/relationships/notesSlide" Target="/ppt/notesSlides/notesSlide6.xml" Id="Rb5ae6bc13b6f44b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0434F8A3-E2EE-480B-BE51-C13C8846D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71625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1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pPr>
            <a:r>
              <a:rPr sz="960" b="1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PRACTICAL PROJECT IV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BAC26CBD-BEBF-4C4D-A7BB-214637DEE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717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2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42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RAG</a:t>
            </a:r>
          </a:p>
        </p:txBody>
      </p:sp>
      <p:sp>
        <p:nvSpPr>
          <p:cNvPr id="3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6DDCF1B3-C59F-444B-8F90-CE58A759C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000" b="1">
                <a:solidFill>
                  <a:srgbClr val="4633E3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4633E3"/>
                </a:solidFill>
                <a:latin typeface="Malgun Gothic"/>
                <a:ea typeface="Malgun Gothic"/>
                <a:cs typeface="Malgun Gothic"/>
              </a:rPr>
              <a:t>검색에서 시작하는 생성형 AI</a:t>
            </a:r>
          </a:p>
        </p:txBody>
      </p:sp>
      <p:sp>
        <p:nvSpPr>
          <p:cNvPr id="4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7F19113E-118D-4C5E-B315-BBEFDC9FA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71950"/>
            <a:ext cx="762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8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38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모던 RAG 구조와 이번 수업의 구현 범위</a:t>
            </a:r>
          </a:p>
        </p:txBody>
      </p:sp>
      <p:sp>
        <p:nvSpPr>
          <p:cNvPr id="5" name="cover-rail">
            <a:extLst xmlns:a="http://schemas.openxmlformats.org/drawingml/2006/main">
              <a:ext uri="{FF2B5EF4-FFF2-40B4-BE49-F238E27FC236}">
                <a16:creationId xmlns:a16="http://schemas.microsoft.com/office/drawing/2014/main" id="{EF804CA0-FB2F-4D3E-B165-329B22CFD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0"/>
            <a:ext cx="5334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solidFill>
              <a:srgbClr val="D4D4D4"/>
            </a:solidFill>
          </a:ln>
        </p:spPr>
      </p:sp>
      <p:sp>
        <p:nvSpPr>
          <p:cNvPr id="6" name="cover-dot-1">
            <a:extLst xmlns:a="http://schemas.openxmlformats.org/drawingml/2006/main">
              <a:ext uri="{FF2B5EF4-FFF2-40B4-BE49-F238E27FC236}">
                <a16:creationId xmlns:a16="http://schemas.microsoft.com/office/drawing/2014/main" id="{BF5A6177-D5EA-42B1-8BA5-49C6874A7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1816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A1A1A"/>
          </a:solidFill>
          <a:ln xmlns:a="http://schemas.openxmlformats.org/drawingml/2006/main" w="0">
            <a:noFill/>
          </a:ln>
        </p:spPr>
      </p:sp>
      <p:sp>
        <p:nvSpPr>
          <p:cNvPr id="7" name="cover-dot-2">
            <a:extLst xmlns:a="http://schemas.openxmlformats.org/drawingml/2006/main">
              <a:ext uri="{FF2B5EF4-FFF2-40B4-BE49-F238E27FC236}">
                <a16:creationId xmlns:a16="http://schemas.microsoft.com/office/drawing/2014/main" id="{571FEEC2-02A3-4B1E-A768-3EC54024E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1816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8" name="cover-dot-3">
            <a:extLst xmlns:a="http://schemas.openxmlformats.org/drawingml/2006/main">
              <a:ext uri="{FF2B5EF4-FFF2-40B4-BE49-F238E27FC236}">
                <a16:creationId xmlns:a16="http://schemas.microsoft.com/office/drawing/2014/main" id="{71D9DDC8-99DD-4EED-9F5C-2D9066295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1816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9" name="cover-dot-4">
            <a:extLst xmlns:a="http://schemas.openxmlformats.org/drawingml/2006/main">
              <a:ext uri="{FF2B5EF4-FFF2-40B4-BE49-F238E27FC236}">
                <a16:creationId xmlns:a16="http://schemas.microsoft.com/office/drawing/2014/main" id="{5B1B4B7D-A84D-45CE-856C-345F62A70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1816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10" name="cover-dot-5">
            <a:extLst xmlns:a="http://schemas.openxmlformats.org/drawingml/2006/main">
              <a:ext uri="{FF2B5EF4-FFF2-40B4-BE49-F238E27FC236}">
                <a16:creationId xmlns:a16="http://schemas.microsoft.com/office/drawing/2014/main" id="{B4E4C5B8-00DE-4D4C-A857-A5B276F82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51625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633E3"/>
          </a:solidFill>
          <a:ln xmlns:a="http://schemas.openxmlformats.org/drawingml/2006/main" w="0">
            <a:noFill/>
          </a:ln>
        </p:spPr>
      </p:sp>
      <p:sp>
        <p:nvSpPr>
          <p:cNvPr id="11" name="cover-rail-left">
            <a:extLst xmlns:a="http://schemas.openxmlformats.org/drawingml/2006/main">
              <a:ext uri="{FF2B5EF4-FFF2-40B4-BE49-F238E27FC236}">
                <a16:creationId xmlns:a16="http://schemas.microsoft.com/office/drawing/2014/main" id="{2DA4D058-BE77-4871-8B8D-5BEC79C71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4830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pPr>
            <a:r>
              <a:rPr sz="960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문서</a:t>
            </a:r>
          </a:p>
        </p:txBody>
      </p:sp>
      <p:sp>
        <p:nvSpPr>
          <p:cNvPr id="12" name="cover-rail-right">
            <a:extLst xmlns:a="http://schemas.openxmlformats.org/drawingml/2006/main">
              <a:ext uri="{FF2B5EF4-FFF2-40B4-BE49-F238E27FC236}">
                <a16:creationId xmlns:a16="http://schemas.microsoft.com/office/drawing/2014/main" id="{134C5247-92F4-409B-ACE9-4598CF4C3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54483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60" b="1">
                <a:solidFill>
                  <a:srgbClr val="4633E3"/>
                </a:solidFill>
                <a:latin typeface="Malgun Gothic"/>
                <a:ea typeface="Malgun Gothic"/>
                <a:cs typeface="Malgun Gothic"/>
              </a:defRPr>
            </a:pPr>
            <a:r>
              <a:rPr sz="960" b="1">
                <a:solidFill>
                  <a:srgbClr val="4633E3"/>
                </a:solidFill>
                <a:latin typeface="Malgun Gothic"/>
                <a:ea typeface="Malgun Gothic"/>
                <a:cs typeface="Malgun Gothic"/>
              </a:rPr>
              <a:t>답변</a:t>
            </a:r>
          </a:p>
        </p:txBody>
      </p:sp>
      <p:sp>
        <p:nvSpPr>
          <p:cNvPr id="13" name="cover-footer">
            <a:extLst xmlns:a="http://schemas.openxmlformats.org/drawingml/2006/main">
              <a:ext uri="{FF2B5EF4-FFF2-40B4-BE49-F238E27FC236}">
                <a16:creationId xmlns:a16="http://schemas.microsoft.com/office/drawing/2014/main" id="{64C08B49-DD1A-4A76-A6F4-93B3888A7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40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pPr>
            <a:r>
              <a:rPr sz="1140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실전프로젝트 IV · 2026년 2학기</a:t>
            </a:r>
          </a:p>
        </p:txBody>
      </p:sp>
    </p:spTree>
    <p:extLst>
      <p:ext uri="{BB962C8B-B14F-4D97-AF65-F5344CB8AC3E}">
        <p14:creationId xmlns:p14="http://schemas.microsoft.com/office/powerpoint/2010/main" val="107812979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0435C254-62A2-409C-A43F-523F3B97507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RAG는 질문에 맞는 자료를 먼저 찾는다</a:t>
            </a:r>
          </a:p>
        </p:txBody>
      </p:sp>
      <p:sp>
        <p:nvSpPr>
          <p:cNvPr id="2" name="eyebrow-2">
            <a:extLst xmlns:a="http://schemas.openxmlformats.org/drawingml/2006/main">
              <a:ext uri="{FF2B5EF4-FFF2-40B4-BE49-F238E27FC236}">
                <a16:creationId xmlns:a16="http://schemas.microsoft.com/office/drawing/2014/main" id="{998D1435-4605-46F5-81D8-DCB2E96F9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1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pPr>
            <a:r>
              <a:rPr sz="960" b="1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RAG IN ONE MINUTE</a:t>
            </a:r>
          </a:p>
        </p:txBody>
      </p:sp>
      <p:sp>
        <p:nvSpPr>
          <p:cNvPr id="3" name="gm-2">
            <a:extLst xmlns:a="http://schemas.openxmlformats.org/drawingml/2006/main">
              <a:ext uri="{FF2B5EF4-FFF2-40B4-BE49-F238E27FC236}">
                <a16:creationId xmlns:a16="http://schemas.microsoft.com/office/drawing/2014/main" id="{82FB0647-8E21-4106-9343-AE0DCD6E6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62293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40" b="1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pPr>
            <a:r>
              <a:rPr sz="1140" b="1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외부 문서를 근거로 사용하면 답변을 최신 정보와 수업 자료에 연결할 수 있다.</a:t>
            </a:r>
          </a:p>
        </p:txBody>
      </p:sp>
      <p:sp>
        <p:nvSpPr>
          <p:cNvPr id="4" name="page-2">
            <a:extLst xmlns:a="http://schemas.openxmlformats.org/drawingml/2006/main">
              <a:ext uri="{FF2B5EF4-FFF2-40B4-BE49-F238E27FC236}">
                <a16:creationId xmlns:a16="http://schemas.microsoft.com/office/drawing/2014/main" id="{F139ED1A-1DFC-43EF-9E45-5D2DD8ED1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96050"/>
            <a:ext cx="1371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60" b="0">
                <a:solidFill>
                  <a:srgbClr val="9CA3AF"/>
                </a:solidFill>
                <a:latin typeface="Malgun Gothic"/>
                <a:ea typeface="Malgun Gothic"/>
                <a:cs typeface="Malgun Gothic"/>
              </a:defRPr>
            </a:pPr>
            <a:r>
              <a:rPr sz="960" b="0">
                <a:solidFill>
                  <a:srgbClr val="9CA3AF"/>
                </a:solidFill>
                <a:latin typeface="Malgun Gothic"/>
                <a:ea typeface="Malgun Gothic"/>
                <a:cs typeface="Malgun Gothic"/>
              </a:rPr>
              <a:t>02 / 06</a:t>
            </a:r>
          </a:p>
        </p:txBody>
      </p:sp>
      <p:sp>
        <p:nvSpPr>
          <p:cNvPr id="5" name="rag-1-box">
            <a:extLst xmlns:a="http://schemas.openxmlformats.org/drawingml/2006/main">
              <a:ext uri="{FF2B5EF4-FFF2-40B4-BE49-F238E27FC236}">
                <a16:creationId xmlns:a16="http://schemas.microsoft.com/office/drawing/2014/main" id="{11AAE3B2-699A-4AA7-9E7D-88265EFEC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05050"/>
            <a:ext cx="16573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4D4"/>
            </a:solidFill>
            <a:prstDash val="solid"/>
          </a:ln>
        </p:spPr>
      </p:sp>
      <p:sp>
        <p:nvSpPr>
          <p:cNvPr id="6" name="rag-1-title">
            <a:extLst xmlns:a="http://schemas.openxmlformats.org/drawingml/2006/main">
              <a:ext uri="{FF2B5EF4-FFF2-40B4-BE49-F238E27FC236}">
                <a16:creationId xmlns:a16="http://schemas.microsoft.com/office/drawing/2014/main" id="{B071919B-AE1D-4F2F-A49D-071A872B9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28875"/>
            <a:ext cx="146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8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38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질문</a:t>
            </a:r>
          </a:p>
        </p:txBody>
      </p:sp>
      <p:sp>
        <p:nvSpPr>
          <p:cNvPr id="7" name="rag-1-subtitle">
            <a:extLst xmlns:a="http://schemas.openxmlformats.org/drawingml/2006/main">
              <a:ext uri="{FF2B5EF4-FFF2-40B4-BE49-F238E27FC236}">
                <a16:creationId xmlns:a16="http://schemas.microsoft.com/office/drawing/2014/main" id="{6F2E9916-B3BB-4083-BB5A-DC141E721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859786"/>
            <a:ext cx="1485900" cy="4549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60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pPr>
            <a:r>
              <a:rPr sz="960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사용자가 묻는다</a:t>
            </a:r>
          </a:p>
        </p:txBody>
      </p:sp>
      <p:sp>
        <p:nvSpPr>
          <p:cNvPr id="8" name="rag-2-box">
            <a:extLst xmlns:a="http://schemas.openxmlformats.org/drawingml/2006/main">
              <a:ext uri="{FF2B5EF4-FFF2-40B4-BE49-F238E27FC236}">
                <a16:creationId xmlns:a16="http://schemas.microsoft.com/office/drawing/2014/main" id="{574FD13C-66C3-409A-BB9D-087D14F61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305050"/>
            <a:ext cx="16573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8E5FC"/>
          </a:solidFill>
          <a:ln xmlns:a="http://schemas.openxmlformats.org/drawingml/2006/main" w="19050">
            <a:solidFill>
              <a:srgbClr val="4633E3"/>
            </a:solidFill>
            <a:prstDash val="solid"/>
          </a:ln>
        </p:spPr>
      </p:sp>
      <p:sp>
        <p:nvSpPr>
          <p:cNvPr id="9" name="rag-2-title">
            <a:extLst xmlns:a="http://schemas.openxmlformats.org/drawingml/2006/main">
              <a:ext uri="{FF2B5EF4-FFF2-40B4-BE49-F238E27FC236}">
                <a16:creationId xmlns:a16="http://schemas.microsoft.com/office/drawing/2014/main" id="{32B456D4-87AB-4A4B-BAF3-FA801DF39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428875"/>
            <a:ext cx="146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80" b="1">
                <a:solidFill>
                  <a:srgbClr val="2E1FB3"/>
                </a:solidFill>
                <a:latin typeface="Malgun Gothic"/>
                <a:ea typeface="Malgun Gothic"/>
                <a:cs typeface="Malgun Gothic"/>
              </a:defRPr>
            </a:pPr>
            <a:r>
              <a:rPr sz="1380" b="1">
                <a:solidFill>
                  <a:srgbClr val="2E1FB3"/>
                </a:solidFill>
                <a:latin typeface="Malgun Gothic"/>
                <a:ea typeface="Malgun Gothic"/>
                <a:cs typeface="Malgun Gothic"/>
              </a:rPr>
              <a:t>검색</a:t>
            </a:r>
          </a:p>
        </p:txBody>
      </p:sp>
      <p:sp>
        <p:nvSpPr>
          <p:cNvPr id="10" name="rag-2-subtitle">
            <a:extLst xmlns:a="http://schemas.openxmlformats.org/drawingml/2006/main">
              <a:ext uri="{FF2B5EF4-FFF2-40B4-BE49-F238E27FC236}">
                <a16:creationId xmlns:a16="http://schemas.microsoft.com/office/drawing/2014/main" id="{222F452B-5403-4D14-BCA9-8116019E8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2859786"/>
            <a:ext cx="1485900" cy="4549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60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pPr>
            <a:r>
              <a:rPr sz="960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관련 문서를 고른다</a:t>
            </a:r>
          </a:p>
        </p:txBody>
      </p:sp>
      <p:sp>
        <p:nvSpPr>
          <p:cNvPr id="11" name="rag-3-box">
            <a:extLst xmlns:a="http://schemas.openxmlformats.org/drawingml/2006/main">
              <a:ext uri="{FF2B5EF4-FFF2-40B4-BE49-F238E27FC236}">
                <a16:creationId xmlns:a16="http://schemas.microsoft.com/office/drawing/2014/main" id="{BFB99536-94D9-47C0-B4E8-596C675AA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305050"/>
            <a:ext cx="16573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8E5FC"/>
          </a:solidFill>
          <a:ln xmlns:a="http://schemas.openxmlformats.org/drawingml/2006/main" w="19050">
            <a:solidFill>
              <a:srgbClr val="4633E3"/>
            </a:solidFill>
            <a:prstDash val="solid"/>
          </a:ln>
        </p:spPr>
      </p:sp>
      <p:sp>
        <p:nvSpPr>
          <p:cNvPr id="12" name="rag-3-title">
            <a:extLst xmlns:a="http://schemas.openxmlformats.org/drawingml/2006/main">
              <a:ext uri="{FF2B5EF4-FFF2-40B4-BE49-F238E27FC236}">
                <a16:creationId xmlns:a16="http://schemas.microsoft.com/office/drawing/2014/main" id="{62A689A3-5874-4C00-9312-2A8BA90FA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428875"/>
            <a:ext cx="146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80" b="1">
                <a:solidFill>
                  <a:srgbClr val="2E1FB3"/>
                </a:solidFill>
                <a:latin typeface="Malgun Gothic"/>
                <a:ea typeface="Malgun Gothic"/>
                <a:cs typeface="Malgun Gothic"/>
              </a:defRPr>
            </a:pPr>
            <a:r>
              <a:rPr sz="1380" b="1">
                <a:solidFill>
                  <a:srgbClr val="2E1FB3"/>
                </a:solidFill>
                <a:latin typeface="Malgun Gothic"/>
                <a:ea typeface="Malgun Gothic"/>
                <a:cs typeface="Malgun Gothic"/>
              </a:rPr>
              <a:t>컨텍스트</a:t>
            </a:r>
          </a:p>
        </p:txBody>
      </p:sp>
      <p:sp>
        <p:nvSpPr>
          <p:cNvPr id="13" name="rag-3-subtitle">
            <a:extLst xmlns:a="http://schemas.openxmlformats.org/drawingml/2006/main">
              <a:ext uri="{FF2B5EF4-FFF2-40B4-BE49-F238E27FC236}">
                <a16:creationId xmlns:a16="http://schemas.microsoft.com/office/drawing/2014/main" id="{4AD3A0F9-082B-42A2-A32E-0166C88AD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2859786"/>
            <a:ext cx="1485900" cy="4549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60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pPr>
            <a:r>
              <a:rPr sz="960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필요한 근거를 묶는다</a:t>
            </a:r>
          </a:p>
        </p:txBody>
      </p:sp>
      <p:sp>
        <p:nvSpPr>
          <p:cNvPr id="14" name="rag-4-box">
            <a:extLst xmlns:a="http://schemas.openxmlformats.org/drawingml/2006/main">
              <a:ext uri="{FF2B5EF4-FFF2-40B4-BE49-F238E27FC236}">
                <a16:creationId xmlns:a16="http://schemas.microsoft.com/office/drawing/2014/main" id="{7BCE0C0A-CBBC-4DD8-AAA7-23AFD722C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305050"/>
            <a:ext cx="16573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4D4"/>
            </a:solidFill>
            <a:prstDash val="solid"/>
          </a:ln>
        </p:spPr>
      </p:sp>
      <p:sp>
        <p:nvSpPr>
          <p:cNvPr id="15" name="rag-4-title">
            <a:extLst xmlns:a="http://schemas.openxmlformats.org/drawingml/2006/main">
              <a:ext uri="{FF2B5EF4-FFF2-40B4-BE49-F238E27FC236}">
                <a16:creationId xmlns:a16="http://schemas.microsoft.com/office/drawing/2014/main" id="{ED31D1B4-4E9A-4C1E-988B-8023AC885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428875"/>
            <a:ext cx="146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8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38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LLM</a:t>
            </a:r>
          </a:p>
        </p:txBody>
      </p:sp>
      <p:sp>
        <p:nvSpPr>
          <p:cNvPr id="16" name="rag-4-subtitle">
            <a:extLst xmlns:a="http://schemas.openxmlformats.org/drawingml/2006/main">
              <a:ext uri="{FF2B5EF4-FFF2-40B4-BE49-F238E27FC236}">
                <a16:creationId xmlns:a16="http://schemas.microsoft.com/office/drawing/2014/main" id="{7029EDAD-5E62-4573-BFF5-EFE1E9BDE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2859786"/>
            <a:ext cx="1485900" cy="4549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60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pPr>
            <a:r>
              <a:rPr sz="960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근거를 읽고 답한다</a:t>
            </a:r>
          </a:p>
        </p:txBody>
      </p:sp>
      <p:sp>
        <p:nvSpPr>
          <p:cNvPr id="17" name="rag-5-box">
            <a:extLst xmlns:a="http://schemas.openxmlformats.org/drawingml/2006/main">
              <a:ext uri="{FF2B5EF4-FFF2-40B4-BE49-F238E27FC236}">
                <a16:creationId xmlns:a16="http://schemas.microsoft.com/office/drawing/2014/main" id="{FF09CCEE-C167-4A60-821B-79B2C890B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305050"/>
            <a:ext cx="16573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4D4"/>
            </a:solidFill>
            <a:prstDash val="solid"/>
          </a:ln>
        </p:spPr>
      </p:sp>
      <p:sp>
        <p:nvSpPr>
          <p:cNvPr id="18" name="rag-5-title">
            <a:extLst xmlns:a="http://schemas.openxmlformats.org/drawingml/2006/main">
              <a:ext uri="{FF2B5EF4-FFF2-40B4-BE49-F238E27FC236}">
                <a16:creationId xmlns:a16="http://schemas.microsoft.com/office/drawing/2014/main" id="{CAABB881-BA3F-4759-9651-25FD2726C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428875"/>
            <a:ext cx="146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8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38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답변</a:t>
            </a:r>
          </a:p>
        </p:txBody>
      </p:sp>
      <p:sp>
        <p:nvSpPr>
          <p:cNvPr id="19" name="rag-5-subtitle">
            <a:extLst xmlns:a="http://schemas.openxmlformats.org/drawingml/2006/main">
              <a:ext uri="{FF2B5EF4-FFF2-40B4-BE49-F238E27FC236}">
                <a16:creationId xmlns:a16="http://schemas.microsoft.com/office/drawing/2014/main" id="{28AE61DF-2B25-4D57-BE31-E9823A4BA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2859786"/>
            <a:ext cx="1485900" cy="4549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60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pPr>
            <a:r>
              <a:rPr sz="960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출처와 함께 보여준다</a:t>
            </a:r>
          </a:p>
        </p:txBody>
      </p:sp>
      <p:cxnSp>
        <p:nvCxnSpPr>
          <p:cNvPr id="47" name=""/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190750" y="2838450"/>
            <a:ext cx="5905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4D4D4"/>
            </a:solidFill>
            <a:prstDash val="solid"/>
            <a:tailEnd type="triangle" w="sm" len="sm"/>
          </a:ln>
        </p:spPr>
      </p:cxnSp>
      <p:cxnSp>
        <p:nvCxnSpPr>
          <p:cNvPr id="48" name=""/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4438650" y="2838450"/>
            <a:ext cx="5905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4D4D4"/>
            </a:solidFill>
            <a:prstDash val="solid"/>
            <a:tailEnd type="triangle" w="sm" len="sm"/>
          </a:ln>
        </p:spPr>
      </p:cxnSp>
      <p:cxnSp>
        <p:nvCxnSpPr>
          <p:cNvPr id="49" name=""/>
          <p:cNvCxnSpPr>
            <a:stCxn xmlns:a="http://schemas.openxmlformats.org/drawingml/2006/main" id="11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6686550" y="2838450"/>
            <a:ext cx="5905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4D4D4"/>
            </a:solidFill>
            <a:prstDash val="solid"/>
            <a:tailEnd type="triangle" w="sm" len="sm"/>
          </a:ln>
        </p:spPr>
      </p:cxnSp>
      <p:cxnSp>
        <p:nvCxnSpPr>
          <p:cNvPr id="50" name=""/>
          <p:cNvCxnSpPr>
            <a:stCxn xmlns:a="http://schemas.openxmlformats.org/drawingml/2006/main" id="14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8934450" y="2838450"/>
            <a:ext cx="5905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4D4D4"/>
            </a:solidFill>
            <a:prstDash val="solid"/>
            <a:tailEnd type="triangle" w="sm" len="sm"/>
          </a:ln>
        </p:spPr>
      </p:cxnSp>
      <p:sp>
        <p:nvSpPr>
          <p:cNvPr id="24" name="rag-definition-line">
            <a:extLst xmlns:a="http://schemas.openxmlformats.org/drawingml/2006/main">
              <a:ext uri="{FF2B5EF4-FFF2-40B4-BE49-F238E27FC236}">
                <a16:creationId xmlns:a16="http://schemas.microsoft.com/office/drawing/2014/main" id="{84E220EF-E44D-41CF-A553-39F396045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95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E5E7EB"/>
            </a:solidFill>
          </a:ln>
        </p:spPr>
      </p:sp>
      <p:sp>
        <p:nvSpPr>
          <p:cNvPr id="25" name="rag-definition-lead">
            <a:extLst xmlns:a="http://schemas.openxmlformats.org/drawingml/2006/main">
              <a:ext uri="{FF2B5EF4-FFF2-40B4-BE49-F238E27FC236}">
                <a16:creationId xmlns:a16="http://schemas.microsoft.com/office/drawing/2014/main" id="{65051F1E-15AC-46C0-A83A-63C149063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38650"/>
            <a:ext cx="914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80" b="1">
                <a:solidFill>
                  <a:srgbClr val="2E1FB3"/>
                </a:solidFill>
                <a:latin typeface="Malgun Gothic"/>
                <a:ea typeface="Malgun Gothic"/>
                <a:cs typeface="Malgun Gothic"/>
              </a:defRPr>
            </a:pPr>
            <a:r>
              <a:rPr sz="1380" b="1">
                <a:solidFill>
                  <a:srgbClr val="2E1FB3"/>
                </a:solidFill>
                <a:latin typeface="Malgun Gothic"/>
                <a:ea typeface="Malgun Gothic"/>
                <a:cs typeface="Malgun Gothic"/>
              </a:rPr>
              <a:t>핵심</a:t>
            </a:r>
          </a:p>
        </p:txBody>
      </p:sp>
      <p:sp>
        <p:nvSpPr>
          <p:cNvPr id="26" name="rag-definition">
            <a:extLst xmlns:a="http://schemas.openxmlformats.org/drawingml/2006/main">
              <a:ext uri="{FF2B5EF4-FFF2-40B4-BE49-F238E27FC236}">
                <a16:creationId xmlns:a16="http://schemas.microsoft.com/office/drawing/2014/main" id="{9A5EA97E-739F-468B-9494-8909D49B8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438650"/>
            <a:ext cx="962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8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38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모델이 모든 지식을 외우게 하지 않고, 필요한 순간에 외부 문서를 찾아 함께 제공한다.</a:t>
            </a:r>
          </a:p>
        </p:txBody>
      </p:sp>
      <p:sp>
        <p:nvSpPr>
          <p:cNvPr id="27" name="rag-origin-caption">
            <a:extLst xmlns:a="http://schemas.openxmlformats.org/drawingml/2006/main">
              <a:ext uri="{FF2B5EF4-FFF2-40B4-BE49-F238E27FC236}">
                <a16:creationId xmlns:a16="http://schemas.microsoft.com/office/drawing/2014/main" id="{CD5A2B19-6AC4-4890-BA50-0BB272653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8958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40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pPr>
            <a:r>
              <a:rPr sz="1140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Retrieval-Augmented Generation = 검색(Retrieval) + 생성(Generation)</a:t>
            </a:r>
          </a:p>
        </p:txBody>
      </p:sp>
    </p:spTree>
    <p:extLst>
      <p:ext uri="{BB962C8B-B14F-4D97-AF65-F5344CB8AC3E}">
        <p14:creationId xmlns:p14="http://schemas.microsoft.com/office/powerpoint/2010/main" val="163122946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0435C254-62A2-409C-A43F-523F3B97507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모던 RAG 아키텍처</a:t>
            </a:r>
          </a:p>
        </p:txBody>
      </p:sp>
      <p:sp>
        <p:nvSpPr>
          <p:cNvPr id="2" name="eyebrow-3">
            <a:extLst xmlns:a="http://schemas.openxmlformats.org/drawingml/2006/main">
              <a:ext uri="{FF2B5EF4-FFF2-40B4-BE49-F238E27FC236}">
                <a16:creationId xmlns:a16="http://schemas.microsoft.com/office/drawing/2014/main" id="{0E4E7F8E-FFA9-4650-AA66-4893E7565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1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pPr>
            <a:r>
              <a:rPr sz="960" b="1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TWO CONNECTED PIPELINES</a:t>
            </a:r>
          </a:p>
        </p:txBody>
      </p:sp>
      <p:sp>
        <p:nvSpPr>
          <p:cNvPr id="3" name="gm-3">
            <a:extLst xmlns:a="http://schemas.openxmlformats.org/drawingml/2006/main">
              <a:ext uri="{FF2B5EF4-FFF2-40B4-BE49-F238E27FC236}">
                <a16:creationId xmlns:a16="http://schemas.microsoft.com/office/drawing/2014/main" id="{9C9D219D-DB93-4EC1-AC35-179B98189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62293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40" b="1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pPr>
            <a:r>
              <a:rPr sz="1140" b="1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좋은 RAG는 문서 준비, 다단계 검색, 생성, 평가가 서로 연결된 시스템이다.</a:t>
            </a:r>
          </a:p>
        </p:txBody>
      </p:sp>
      <p:sp>
        <p:nvSpPr>
          <p:cNvPr id="4" name="page-3">
            <a:extLst xmlns:a="http://schemas.openxmlformats.org/drawingml/2006/main">
              <a:ext uri="{FF2B5EF4-FFF2-40B4-BE49-F238E27FC236}">
                <a16:creationId xmlns:a16="http://schemas.microsoft.com/office/drawing/2014/main" id="{43F0DE51-071F-47B4-8D7C-6896A9DD6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96050"/>
            <a:ext cx="1371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60" b="0">
                <a:solidFill>
                  <a:srgbClr val="9CA3AF"/>
                </a:solidFill>
                <a:latin typeface="Malgun Gothic"/>
                <a:ea typeface="Malgun Gothic"/>
                <a:cs typeface="Malgun Gothic"/>
              </a:defRPr>
            </a:pPr>
            <a:r>
              <a:rPr sz="960" b="0">
                <a:solidFill>
                  <a:srgbClr val="9CA3AF"/>
                </a:solidFill>
                <a:latin typeface="Malgun Gothic"/>
                <a:ea typeface="Malgun Gothic"/>
                <a:cs typeface="Malgun Gothic"/>
              </a:rPr>
              <a:t>03 / 06</a:t>
            </a:r>
          </a:p>
        </p:txBody>
      </p:sp>
      <p:sp>
        <p:nvSpPr>
          <p:cNvPr id="5" name="offline-label">
            <a:extLst xmlns:a="http://schemas.openxmlformats.org/drawingml/2006/main">
              <a:ext uri="{FF2B5EF4-FFF2-40B4-BE49-F238E27FC236}">
                <a16:creationId xmlns:a16="http://schemas.microsoft.com/office/drawing/2014/main" id="{C355A617-7621-48AD-836C-03C2E4999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811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1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pPr>
            <a:r>
              <a:rPr sz="960" b="1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준비 단계  문서가 들어올 때</a:t>
            </a:r>
          </a:p>
        </p:txBody>
      </p:sp>
      <p:sp>
        <p:nvSpPr>
          <p:cNvPr id="6" name="modern-top-1-box">
            <a:extLst xmlns:a="http://schemas.openxmlformats.org/drawingml/2006/main">
              <a:ext uri="{FF2B5EF4-FFF2-40B4-BE49-F238E27FC236}">
                <a16:creationId xmlns:a16="http://schemas.microsoft.com/office/drawing/2014/main" id="{998562A2-1B9F-4E30-A256-B54CE8F17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66900"/>
            <a:ext cx="17907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4D4"/>
            </a:solidFill>
            <a:prstDash val="solid"/>
          </a:ln>
        </p:spPr>
      </p:sp>
      <p:sp>
        <p:nvSpPr>
          <p:cNvPr id="7" name="modern-top-1-title">
            <a:extLst xmlns:a="http://schemas.openxmlformats.org/drawingml/2006/main">
              <a:ext uri="{FF2B5EF4-FFF2-40B4-BE49-F238E27FC236}">
                <a16:creationId xmlns:a16="http://schemas.microsoft.com/office/drawing/2014/main" id="{21D8B1E3-5AD9-4CD3-BC72-213C93EC9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90725"/>
            <a:ext cx="1600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4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14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데이터 소스</a:t>
            </a:r>
          </a:p>
        </p:txBody>
      </p:sp>
      <p:sp>
        <p:nvSpPr>
          <p:cNvPr id="8" name="modern-top-1-subtitle">
            <a:extLst xmlns:a="http://schemas.openxmlformats.org/drawingml/2006/main">
              <a:ext uri="{FF2B5EF4-FFF2-40B4-BE49-F238E27FC236}">
                <a16:creationId xmlns:a16="http://schemas.microsoft.com/office/drawing/2014/main" id="{659C48AB-A7AE-4228-AA24-8EC261DB9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29552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60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pPr>
            <a:r>
              <a:rPr sz="960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PDF·웹·DB</a:t>
            </a:r>
          </a:p>
        </p:txBody>
      </p:sp>
      <p:sp>
        <p:nvSpPr>
          <p:cNvPr id="9" name="modern-top-2-box">
            <a:extLst xmlns:a="http://schemas.openxmlformats.org/drawingml/2006/main">
              <a:ext uri="{FF2B5EF4-FFF2-40B4-BE49-F238E27FC236}">
                <a16:creationId xmlns:a16="http://schemas.microsoft.com/office/drawing/2014/main" id="{96DD4AC2-A42A-4D09-9C7B-AAEF44341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866900"/>
            <a:ext cx="17907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4D4"/>
            </a:solidFill>
            <a:prstDash val="solid"/>
          </a:ln>
        </p:spPr>
      </p:sp>
      <p:sp>
        <p:nvSpPr>
          <p:cNvPr id="10" name="modern-top-2-title">
            <a:extLst xmlns:a="http://schemas.openxmlformats.org/drawingml/2006/main">
              <a:ext uri="{FF2B5EF4-FFF2-40B4-BE49-F238E27FC236}">
                <a16:creationId xmlns:a16="http://schemas.microsoft.com/office/drawing/2014/main" id="{EAB4A1F4-B7B2-4C83-809F-38FF7FFF1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990725"/>
            <a:ext cx="1600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4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14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파싱·정제</a:t>
            </a:r>
          </a:p>
        </p:txBody>
      </p:sp>
      <p:sp>
        <p:nvSpPr>
          <p:cNvPr id="11" name="modern-top-2-subtitle">
            <a:extLst xmlns:a="http://schemas.openxmlformats.org/drawingml/2006/main">
              <a:ext uri="{FF2B5EF4-FFF2-40B4-BE49-F238E27FC236}">
                <a16:creationId xmlns:a16="http://schemas.microsoft.com/office/drawing/2014/main" id="{8038FE6B-8A46-426A-9D2D-898D35C41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229552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60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pPr>
            <a:r>
              <a:rPr sz="960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텍스트와 구조 추출</a:t>
            </a:r>
          </a:p>
        </p:txBody>
      </p:sp>
      <p:sp>
        <p:nvSpPr>
          <p:cNvPr id="12" name="modern-top-3-box">
            <a:extLst xmlns:a="http://schemas.openxmlformats.org/drawingml/2006/main">
              <a:ext uri="{FF2B5EF4-FFF2-40B4-BE49-F238E27FC236}">
                <a16:creationId xmlns:a16="http://schemas.microsoft.com/office/drawing/2014/main" id="{45E1F5C0-82BE-432B-96F8-758E1B907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866900"/>
            <a:ext cx="17907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4D4"/>
            </a:solidFill>
            <a:prstDash val="solid"/>
          </a:ln>
        </p:spPr>
      </p:sp>
      <p:sp>
        <p:nvSpPr>
          <p:cNvPr id="13" name="modern-top-3-title">
            <a:extLst xmlns:a="http://schemas.openxmlformats.org/drawingml/2006/main">
              <a:ext uri="{FF2B5EF4-FFF2-40B4-BE49-F238E27FC236}">
                <a16:creationId xmlns:a16="http://schemas.microsoft.com/office/drawing/2014/main" id="{C6B48727-A8CD-489F-B307-E33E6B9C6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990725"/>
            <a:ext cx="1600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4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14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청킹·메타데이터</a:t>
            </a:r>
          </a:p>
        </p:txBody>
      </p:sp>
      <p:sp>
        <p:nvSpPr>
          <p:cNvPr id="14" name="modern-top-3-subtitle">
            <a:extLst xmlns:a="http://schemas.openxmlformats.org/drawingml/2006/main">
              <a:ext uri="{FF2B5EF4-FFF2-40B4-BE49-F238E27FC236}">
                <a16:creationId xmlns:a16="http://schemas.microsoft.com/office/drawing/2014/main" id="{AE1898BE-A91B-4653-9CA0-9BA9950A9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229552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60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pPr>
            <a:r>
              <a:rPr sz="960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검색 단위와 출처</a:t>
            </a:r>
          </a:p>
        </p:txBody>
      </p:sp>
      <p:sp>
        <p:nvSpPr>
          <p:cNvPr id="15" name="modern-top-4-box">
            <a:extLst xmlns:a="http://schemas.openxmlformats.org/drawingml/2006/main">
              <a:ext uri="{FF2B5EF4-FFF2-40B4-BE49-F238E27FC236}">
                <a16:creationId xmlns:a16="http://schemas.microsoft.com/office/drawing/2014/main" id="{04E1B091-EE59-4366-9CC2-8B41D8198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866900"/>
            <a:ext cx="17907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4D4"/>
            </a:solidFill>
            <a:prstDash val="solid"/>
          </a:ln>
        </p:spPr>
      </p:sp>
      <p:sp>
        <p:nvSpPr>
          <p:cNvPr id="16" name="modern-top-4-title">
            <a:extLst xmlns:a="http://schemas.openxmlformats.org/drawingml/2006/main">
              <a:ext uri="{FF2B5EF4-FFF2-40B4-BE49-F238E27FC236}">
                <a16:creationId xmlns:a16="http://schemas.microsoft.com/office/drawing/2014/main" id="{F0DDBA3A-5649-4CAA-A240-79E47E66F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990725"/>
            <a:ext cx="1600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4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14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임베딩</a:t>
            </a:r>
          </a:p>
        </p:txBody>
      </p:sp>
      <p:sp>
        <p:nvSpPr>
          <p:cNvPr id="17" name="modern-top-4-subtitle">
            <a:extLst xmlns:a="http://schemas.openxmlformats.org/drawingml/2006/main">
              <a:ext uri="{FF2B5EF4-FFF2-40B4-BE49-F238E27FC236}">
                <a16:creationId xmlns:a16="http://schemas.microsoft.com/office/drawing/2014/main" id="{B2AFA1C2-7A4F-4191-B05B-B862CAFC6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229552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60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pPr>
            <a:r>
              <a:rPr sz="960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의미를 벡터로 표현</a:t>
            </a:r>
          </a:p>
        </p:txBody>
      </p:sp>
      <p:sp>
        <p:nvSpPr>
          <p:cNvPr id="18" name="modern-top-5-box">
            <a:extLst xmlns:a="http://schemas.openxmlformats.org/drawingml/2006/main">
              <a:ext uri="{FF2B5EF4-FFF2-40B4-BE49-F238E27FC236}">
                <a16:creationId xmlns:a16="http://schemas.microsoft.com/office/drawing/2014/main" id="{91E32FC6-42AC-4F55-A4F8-8E68A772E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866900"/>
            <a:ext cx="17907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8E5FC"/>
          </a:solidFill>
          <a:ln xmlns:a="http://schemas.openxmlformats.org/drawingml/2006/main" w="19050">
            <a:solidFill>
              <a:srgbClr val="4633E3"/>
            </a:solidFill>
            <a:prstDash val="solid"/>
          </a:ln>
        </p:spPr>
      </p:sp>
      <p:sp>
        <p:nvSpPr>
          <p:cNvPr id="19" name="modern-top-5-title">
            <a:extLst xmlns:a="http://schemas.openxmlformats.org/drawingml/2006/main">
              <a:ext uri="{FF2B5EF4-FFF2-40B4-BE49-F238E27FC236}">
                <a16:creationId xmlns:a16="http://schemas.microsoft.com/office/drawing/2014/main" id="{02028799-2378-457C-932D-A74868B6C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990725"/>
            <a:ext cx="1600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40" b="1">
                <a:solidFill>
                  <a:srgbClr val="2E1FB3"/>
                </a:solidFill>
                <a:latin typeface="Malgun Gothic"/>
                <a:ea typeface="Malgun Gothic"/>
                <a:cs typeface="Malgun Gothic"/>
              </a:defRPr>
            </a:pPr>
            <a:r>
              <a:rPr sz="1140" b="1">
                <a:solidFill>
                  <a:srgbClr val="2E1FB3"/>
                </a:solidFill>
                <a:latin typeface="Malgun Gothic"/>
                <a:ea typeface="Malgun Gothic"/>
                <a:cs typeface="Malgun Gothic"/>
              </a:rPr>
              <a:t>검색 인덱스</a:t>
            </a:r>
          </a:p>
        </p:txBody>
      </p:sp>
      <p:sp>
        <p:nvSpPr>
          <p:cNvPr id="20" name="modern-top-5-subtitle">
            <a:extLst xmlns:a="http://schemas.openxmlformats.org/drawingml/2006/main">
              <a:ext uri="{FF2B5EF4-FFF2-40B4-BE49-F238E27FC236}">
                <a16:creationId xmlns:a16="http://schemas.microsoft.com/office/drawing/2014/main" id="{110884B4-0F8C-42DD-8B26-FBBD110F9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229552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60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pPr>
            <a:r>
              <a:rPr sz="960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키워드 + 벡터</a:t>
            </a:r>
          </a:p>
        </p:txBody>
      </p:sp>
      <p:cxnSp>
        <p:nvCxnSpPr>
          <p:cNvPr id="73" name=""/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2324100" y="2257425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D4D4D4"/>
            </a:solidFill>
            <a:prstDash val="solid"/>
            <a:tailEnd type="triangle" w="sm" len="sm"/>
          </a:ln>
        </p:spPr>
      </p:cxnSp>
      <p:cxnSp>
        <p:nvCxnSpPr>
          <p:cNvPr id="74" name=""/>
          <p:cNvCxnSpPr>
            <a:stCxn xmlns:a="http://schemas.openxmlformats.org/drawingml/2006/main" id="9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4552950" y="2257425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D4D4D4"/>
            </a:solidFill>
            <a:prstDash val="solid"/>
            <a:tailEnd type="triangle" w="sm" len="sm"/>
          </a:ln>
        </p:spPr>
      </p:cxnSp>
      <p:cxnSp>
        <p:nvCxnSpPr>
          <p:cNvPr id="75" name=""/>
          <p:cNvCxnSpPr>
            <a:stCxn xmlns:a="http://schemas.openxmlformats.org/drawingml/2006/main" id="12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781800" y="2257425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D4D4D4"/>
            </a:solidFill>
            <a:prstDash val="solid"/>
            <a:tailEnd type="triangle" w="sm" len="sm"/>
          </a:ln>
        </p:spPr>
      </p:cxnSp>
      <p:cxnSp>
        <p:nvCxnSpPr>
          <p:cNvPr id="76" name=""/>
          <p:cNvCxnSpPr>
            <a:stCxn xmlns:a="http://schemas.openxmlformats.org/drawingml/2006/main" id="15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9010650" y="2257425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D4D4D4"/>
            </a:solidFill>
            <a:prstDash val="solid"/>
            <a:tailEnd type="triangle" w="sm" len="sm"/>
          </a:ln>
        </p:spPr>
      </p:cxnSp>
      <p:sp>
        <p:nvSpPr>
          <p:cNvPr id="25" name="online-label">
            <a:extLst xmlns:a="http://schemas.openxmlformats.org/drawingml/2006/main">
              <a:ext uri="{FF2B5EF4-FFF2-40B4-BE49-F238E27FC236}">
                <a16:creationId xmlns:a16="http://schemas.microsoft.com/office/drawing/2014/main" id="{46FD3DE6-6E4F-48ED-A76A-F86F6283D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051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1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pPr>
            <a:r>
              <a:rPr sz="960" b="1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실행 단계  질문이 들어올 때</a:t>
            </a:r>
          </a:p>
        </p:txBody>
      </p:sp>
      <p:sp>
        <p:nvSpPr>
          <p:cNvPr id="26" name="modern-lower-1-box">
            <a:extLst xmlns:a="http://schemas.openxmlformats.org/drawingml/2006/main">
              <a:ext uri="{FF2B5EF4-FFF2-40B4-BE49-F238E27FC236}">
                <a16:creationId xmlns:a16="http://schemas.microsoft.com/office/drawing/2014/main" id="{789B8D89-D145-45A9-8F16-682D9FFD3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90900"/>
            <a:ext cx="10668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4D4"/>
            </a:solidFill>
            <a:prstDash val="solid"/>
          </a:ln>
        </p:spPr>
      </p:sp>
      <p:sp>
        <p:nvSpPr>
          <p:cNvPr id="27" name="modern-lower-1-title">
            <a:extLst xmlns:a="http://schemas.openxmlformats.org/drawingml/2006/main">
              <a:ext uri="{FF2B5EF4-FFF2-40B4-BE49-F238E27FC236}">
                <a16:creationId xmlns:a16="http://schemas.microsoft.com/office/drawing/2014/main" id="{36C4E96B-BE59-4FB0-828C-66F78B02D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14725"/>
            <a:ext cx="876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4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14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질문</a:t>
            </a:r>
          </a:p>
        </p:txBody>
      </p:sp>
      <p:sp>
        <p:nvSpPr>
          <p:cNvPr id="28" name="modern-lower-1-subtitle">
            <a:extLst xmlns:a="http://schemas.openxmlformats.org/drawingml/2006/main">
              <a:ext uri="{FF2B5EF4-FFF2-40B4-BE49-F238E27FC236}">
                <a16:creationId xmlns:a16="http://schemas.microsoft.com/office/drawing/2014/main" id="{5A823E68-392C-4C5F-B09D-1802CA443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46576"/>
            <a:ext cx="895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15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pPr>
            <a:r>
              <a:rPr sz="915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사용자 입력</a:t>
            </a:r>
          </a:p>
        </p:txBody>
      </p:sp>
      <p:sp>
        <p:nvSpPr>
          <p:cNvPr id="29" name="modern-lower-2-box">
            <a:extLst xmlns:a="http://schemas.openxmlformats.org/drawingml/2006/main">
              <a:ext uri="{FF2B5EF4-FFF2-40B4-BE49-F238E27FC236}">
                <a16:creationId xmlns:a16="http://schemas.microsoft.com/office/drawing/2014/main" id="{3E6AC07A-2D52-44FC-A423-23254EE23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3390900"/>
            <a:ext cx="13525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4D4"/>
            </a:solidFill>
            <a:prstDash val="solid"/>
          </a:ln>
        </p:spPr>
      </p:sp>
      <p:sp>
        <p:nvSpPr>
          <p:cNvPr id="30" name="modern-lower-2-title">
            <a:extLst xmlns:a="http://schemas.openxmlformats.org/drawingml/2006/main">
              <a:ext uri="{FF2B5EF4-FFF2-40B4-BE49-F238E27FC236}">
                <a16:creationId xmlns:a16="http://schemas.microsoft.com/office/drawing/2014/main" id="{70A0BF10-F597-4979-9196-B3765A588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3514725"/>
            <a:ext cx="116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4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14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쿼리 처리</a:t>
            </a:r>
          </a:p>
        </p:txBody>
      </p:sp>
      <p:sp>
        <p:nvSpPr>
          <p:cNvPr id="31" name="modern-lower-2-subtitle">
            <a:extLst xmlns:a="http://schemas.openxmlformats.org/drawingml/2006/main">
              <a:ext uri="{FF2B5EF4-FFF2-40B4-BE49-F238E27FC236}">
                <a16:creationId xmlns:a16="http://schemas.microsoft.com/office/drawing/2014/main" id="{037E3088-E794-4583-8DEE-D10FBF073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3846576"/>
            <a:ext cx="1181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15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pPr>
            <a:r>
              <a:rPr sz="915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재작성·필터·라우팅</a:t>
            </a:r>
          </a:p>
        </p:txBody>
      </p:sp>
      <p:sp>
        <p:nvSpPr>
          <p:cNvPr id="32" name="modern-lower-3-box">
            <a:extLst xmlns:a="http://schemas.openxmlformats.org/drawingml/2006/main">
              <a:ext uri="{FF2B5EF4-FFF2-40B4-BE49-F238E27FC236}">
                <a16:creationId xmlns:a16="http://schemas.microsoft.com/office/drawing/2014/main" id="{1503EE50-BF4B-4590-8D71-1F5147EA8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390900"/>
            <a:ext cx="16764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8E5FC"/>
          </a:solidFill>
          <a:ln xmlns:a="http://schemas.openxmlformats.org/drawingml/2006/main" w="19050">
            <a:solidFill>
              <a:srgbClr val="4633E3"/>
            </a:solidFill>
            <a:prstDash val="solid"/>
          </a:ln>
        </p:spPr>
      </p:sp>
      <p:sp>
        <p:nvSpPr>
          <p:cNvPr id="33" name="modern-lower-3-title">
            <a:extLst xmlns:a="http://schemas.openxmlformats.org/drawingml/2006/main">
              <a:ext uri="{FF2B5EF4-FFF2-40B4-BE49-F238E27FC236}">
                <a16:creationId xmlns:a16="http://schemas.microsoft.com/office/drawing/2014/main" id="{E1D9B65C-2B13-496C-86C6-F330C0A6E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514725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40" b="1">
                <a:solidFill>
                  <a:srgbClr val="2E1FB3"/>
                </a:solidFill>
                <a:latin typeface="Malgun Gothic"/>
                <a:ea typeface="Malgun Gothic"/>
                <a:cs typeface="Malgun Gothic"/>
              </a:defRPr>
            </a:pPr>
            <a:r>
              <a:rPr sz="1140" b="1">
                <a:solidFill>
                  <a:srgbClr val="2E1FB3"/>
                </a:solidFill>
                <a:latin typeface="Malgun Gothic"/>
                <a:ea typeface="Malgun Gothic"/>
                <a:cs typeface="Malgun Gothic"/>
              </a:rPr>
              <a:t>하이브리드 검색</a:t>
            </a:r>
          </a:p>
        </p:txBody>
      </p:sp>
      <p:sp>
        <p:nvSpPr>
          <p:cNvPr id="34" name="modern-lower-3-subtitle">
            <a:extLst xmlns:a="http://schemas.openxmlformats.org/drawingml/2006/main">
              <a:ext uri="{FF2B5EF4-FFF2-40B4-BE49-F238E27FC236}">
                <a16:creationId xmlns:a16="http://schemas.microsoft.com/office/drawing/2014/main" id="{2B5A0450-C3B9-4863-AADF-2C99421CD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3846576"/>
            <a:ext cx="1504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15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pPr>
            <a:r>
              <a:rPr sz="915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BM25 + 벡터</a:t>
            </a:r>
          </a:p>
        </p:txBody>
      </p:sp>
      <p:sp>
        <p:nvSpPr>
          <p:cNvPr id="35" name="modern-lower-4-box">
            <a:extLst xmlns:a="http://schemas.openxmlformats.org/drawingml/2006/main">
              <a:ext uri="{FF2B5EF4-FFF2-40B4-BE49-F238E27FC236}">
                <a16:creationId xmlns:a16="http://schemas.microsoft.com/office/drawing/2014/main" id="{D51E8E7A-1B4D-44BC-9E6B-1C0C8F271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390900"/>
            <a:ext cx="13906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8E5FC"/>
          </a:solidFill>
          <a:ln xmlns:a="http://schemas.openxmlformats.org/drawingml/2006/main" w="19050">
            <a:solidFill>
              <a:srgbClr val="4633E3"/>
            </a:solidFill>
            <a:prstDash val="solid"/>
          </a:ln>
        </p:spPr>
      </p:sp>
      <p:sp>
        <p:nvSpPr>
          <p:cNvPr id="36" name="modern-lower-4-title">
            <a:extLst xmlns:a="http://schemas.openxmlformats.org/drawingml/2006/main">
              <a:ext uri="{FF2B5EF4-FFF2-40B4-BE49-F238E27FC236}">
                <a16:creationId xmlns:a16="http://schemas.microsoft.com/office/drawing/2014/main" id="{04D9F087-AA9E-4D49-ADFD-C796DB016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514725"/>
            <a:ext cx="1200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40" b="1">
                <a:solidFill>
                  <a:srgbClr val="2E1FB3"/>
                </a:solidFill>
                <a:latin typeface="Malgun Gothic"/>
                <a:ea typeface="Malgun Gothic"/>
                <a:cs typeface="Malgun Gothic"/>
              </a:defRPr>
            </a:pPr>
            <a:r>
              <a:rPr sz="1140" b="1">
                <a:solidFill>
                  <a:srgbClr val="2E1FB3"/>
                </a:solidFill>
                <a:latin typeface="Malgun Gothic"/>
                <a:ea typeface="Malgun Gothic"/>
                <a:cs typeface="Malgun Gothic"/>
              </a:rPr>
              <a:t>재순위</a:t>
            </a:r>
          </a:p>
        </p:txBody>
      </p:sp>
      <p:sp>
        <p:nvSpPr>
          <p:cNvPr id="37" name="modern-lower-4-subtitle">
            <a:extLst xmlns:a="http://schemas.openxmlformats.org/drawingml/2006/main">
              <a:ext uri="{FF2B5EF4-FFF2-40B4-BE49-F238E27FC236}">
                <a16:creationId xmlns:a16="http://schemas.microsoft.com/office/drawing/2014/main" id="{CD27B4A3-BFA5-4B83-81B4-4D187BA5F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846576"/>
            <a:ext cx="1219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15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pPr>
            <a:r>
              <a:rPr sz="915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상위 후보 정교화</a:t>
            </a:r>
          </a:p>
        </p:txBody>
      </p:sp>
      <p:sp>
        <p:nvSpPr>
          <p:cNvPr id="38" name="modern-lower-5-box">
            <a:extLst xmlns:a="http://schemas.openxmlformats.org/drawingml/2006/main">
              <a:ext uri="{FF2B5EF4-FFF2-40B4-BE49-F238E27FC236}">
                <a16:creationId xmlns:a16="http://schemas.microsoft.com/office/drawing/2014/main" id="{C53313B5-F265-4007-917B-6397802E6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390900"/>
            <a:ext cx="15621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8E5FC"/>
          </a:solidFill>
          <a:ln xmlns:a="http://schemas.openxmlformats.org/drawingml/2006/main" w="19050">
            <a:solidFill>
              <a:srgbClr val="4633E3"/>
            </a:solidFill>
            <a:prstDash val="solid"/>
          </a:ln>
        </p:spPr>
      </p:sp>
      <p:sp>
        <p:nvSpPr>
          <p:cNvPr id="39" name="modern-lower-5-title">
            <a:extLst xmlns:a="http://schemas.openxmlformats.org/drawingml/2006/main">
              <a:ext uri="{FF2B5EF4-FFF2-40B4-BE49-F238E27FC236}">
                <a16:creationId xmlns:a16="http://schemas.microsoft.com/office/drawing/2014/main" id="{F2B97BFF-A40F-42C9-A01A-D6267B43C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514725"/>
            <a:ext cx="1371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40" b="1">
                <a:solidFill>
                  <a:srgbClr val="2E1FB3"/>
                </a:solidFill>
                <a:latin typeface="Malgun Gothic"/>
                <a:ea typeface="Malgun Gothic"/>
                <a:cs typeface="Malgun Gothic"/>
              </a:defRPr>
            </a:pPr>
            <a:r>
              <a:rPr sz="1140" b="1">
                <a:solidFill>
                  <a:srgbClr val="2E1FB3"/>
                </a:solidFill>
                <a:latin typeface="Malgun Gothic"/>
                <a:ea typeface="Malgun Gothic"/>
                <a:cs typeface="Malgun Gothic"/>
              </a:rPr>
              <a:t>컨텍스트 구성</a:t>
            </a:r>
          </a:p>
        </p:txBody>
      </p:sp>
      <p:sp>
        <p:nvSpPr>
          <p:cNvPr id="40" name="modern-lower-5-subtitle">
            <a:extLst xmlns:a="http://schemas.openxmlformats.org/drawingml/2006/main">
              <a:ext uri="{FF2B5EF4-FFF2-40B4-BE49-F238E27FC236}">
                <a16:creationId xmlns:a16="http://schemas.microsoft.com/office/drawing/2014/main" id="{1B875F05-4A8E-4F32-AAC0-A2642747F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3846576"/>
            <a:ext cx="1390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15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pPr>
            <a:r>
              <a:rPr sz="915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근거·출처 정리</a:t>
            </a:r>
          </a:p>
        </p:txBody>
      </p:sp>
      <p:sp>
        <p:nvSpPr>
          <p:cNvPr id="41" name="modern-lower-6-box">
            <a:extLst xmlns:a="http://schemas.openxmlformats.org/drawingml/2006/main">
              <a:ext uri="{FF2B5EF4-FFF2-40B4-BE49-F238E27FC236}">
                <a16:creationId xmlns:a16="http://schemas.microsoft.com/office/drawing/2014/main" id="{98B0753E-265B-40F1-8A6B-9EB3D7CD9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390900"/>
            <a:ext cx="16954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4D4"/>
            </a:solidFill>
            <a:prstDash val="solid"/>
          </a:ln>
        </p:spPr>
      </p:sp>
      <p:sp>
        <p:nvSpPr>
          <p:cNvPr id="42" name="modern-lower-6-title">
            <a:extLst xmlns:a="http://schemas.openxmlformats.org/drawingml/2006/main">
              <a:ext uri="{FF2B5EF4-FFF2-40B4-BE49-F238E27FC236}">
                <a16:creationId xmlns:a16="http://schemas.microsoft.com/office/drawing/2014/main" id="{C5EEEC0D-5E92-41D0-BC09-B76FA9E94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514725"/>
            <a:ext cx="1504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4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14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LLM 답변</a:t>
            </a:r>
          </a:p>
        </p:txBody>
      </p:sp>
      <p:sp>
        <p:nvSpPr>
          <p:cNvPr id="43" name="modern-lower-6-subtitle">
            <a:extLst xmlns:a="http://schemas.openxmlformats.org/drawingml/2006/main">
              <a:ext uri="{FF2B5EF4-FFF2-40B4-BE49-F238E27FC236}">
                <a16:creationId xmlns:a16="http://schemas.microsoft.com/office/drawing/2014/main" id="{046E0DAA-B93F-45CD-809E-BF4DECCC4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846576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15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pPr>
            <a:r>
              <a:rPr sz="915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생성 + 출처 표시</a:t>
            </a:r>
          </a:p>
        </p:txBody>
      </p:sp>
      <p:cxnSp>
        <p:nvCxnSpPr>
          <p:cNvPr id="96" name=""/>
          <p:cNvCxnSpPr>
            <a:stCxn xmlns:a="http://schemas.openxmlformats.org/drawingml/2006/main" id="26" idx="3"/>
            <a:endCxn xmlns:a="http://schemas.openxmlformats.org/drawingml/2006/main" id="29" idx="1"/>
          </p:cNvCxnSpPr>
          <p:nvPr/>
        </p:nvCxnSpPr>
        <p:spPr>
          <a:xfrm xmlns:a="http://schemas.openxmlformats.org/drawingml/2006/main">
            <a:off x="1600200" y="3829050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D4D4D4"/>
            </a:solidFill>
            <a:prstDash val="solid"/>
            <a:tailEnd type="triangle" w="sm" len="sm"/>
          </a:ln>
        </p:spPr>
      </p:cxnSp>
      <p:cxnSp>
        <p:nvCxnSpPr>
          <p:cNvPr id="97" name=""/>
          <p:cNvCxnSpPr>
            <a:stCxn xmlns:a="http://schemas.openxmlformats.org/drawingml/2006/main" id="29" idx="3"/>
            <a:endCxn xmlns:a="http://schemas.openxmlformats.org/drawingml/2006/main" id="32" idx="1"/>
          </p:cNvCxnSpPr>
          <p:nvPr/>
        </p:nvCxnSpPr>
        <p:spPr>
          <a:xfrm xmlns:a="http://schemas.openxmlformats.org/drawingml/2006/main">
            <a:off x="3238500" y="3829050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D4D4D4"/>
            </a:solidFill>
            <a:prstDash val="solid"/>
            <a:tailEnd type="triangle" w="sm" len="sm"/>
          </a:ln>
        </p:spPr>
      </p:cxnSp>
      <p:cxnSp>
        <p:nvCxnSpPr>
          <p:cNvPr id="98" name=""/>
          <p:cNvCxnSpPr>
            <a:stCxn xmlns:a="http://schemas.openxmlformats.org/drawingml/2006/main" id="32" idx="3"/>
            <a:endCxn xmlns:a="http://schemas.openxmlformats.org/drawingml/2006/main" id="35" idx="1"/>
          </p:cNvCxnSpPr>
          <p:nvPr/>
        </p:nvCxnSpPr>
        <p:spPr>
          <a:xfrm xmlns:a="http://schemas.openxmlformats.org/drawingml/2006/main">
            <a:off x="5200650" y="3829050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D4D4D4"/>
            </a:solidFill>
            <a:prstDash val="solid"/>
            <a:tailEnd type="triangle" w="sm" len="sm"/>
          </a:ln>
        </p:spPr>
      </p:cxnSp>
      <p:cxnSp>
        <p:nvCxnSpPr>
          <p:cNvPr id="99" name=""/>
          <p:cNvCxnSpPr>
            <a:stCxn xmlns:a="http://schemas.openxmlformats.org/drawingml/2006/main" id="35" idx="3"/>
            <a:endCxn xmlns:a="http://schemas.openxmlformats.org/drawingml/2006/main" id="38" idx="1"/>
          </p:cNvCxnSpPr>
          <p:nvPr/>
        </p:nvCxnSpPr>
        <p:spPr>
          <a:xfrm xmlns:a="http://schemas.openxmlformats.org/drawingml/2006/main">
            <a:off x="6877050" y="3829050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D4D4D4"/>
            </a:solidFill>
            <a:prstDash val="solid"/>
            <a:tailEnd type="triangle" w="sm" len="sm"/>
          </a:ln>
        </p:spPr>
      </p:cxnSp>
      <p:cxnSp>
        <p:nvCxnSpPr>
          <p:cNvPr id="100" name=""/>
          <p:cNvCxnSpPr>
            <a:stCxn xmlns:a="http://schemas.openxmlformats.org/drawingml/2006/main" id="38" idx="3"/>
            <a:endCxn xmlns:a="http://schemas.openxmlformats.org/drawingml/2006/main" id="41" idx="1"/>
          </p:cNvCxnSpPr>
          <p:nvPr/>
        </p:nvCxnSpPr>
        <p:spPr>
          <a:xfrm xmlns:a="http://schemas.openxmlformats.org/drawingml/2006/main">
            <a:off x="8724900" y="3829050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D4D4D4"/>
            </a:solidFill>
            <a:prstDash val="solid"/>
            <a:tailEnd type="triangle" w="sm" len="sm"/>
          </a:ln>
        </p:spPr>
      </p:cxnSp>
      <p:cxnSp>
        <p:nvCxnSpPr>
          <p:cNvPr id="101" name=""/>
          <p:cNvCxnSpPr>
            <a:stCxn xmlns:a="http://schemas.openxmlformats.org/drawingml/2006/main" id="18" idx="2"/>
            <a:endCxn xmlns:a="http://schemas.openxmlformats.org/drawingml/2006/main" id="32" idx="0"/>
          </p:cNvCxnSpPr>
          <p:nvPr/>
        </p:nvCxnSpPr>
        <p:spPr>
          <a:xfrm xmlns:a="http://schemas.openxmlformats.org/drawingml/2006/main" flipH="1">
            <a:off x="4362450" y="2647950"/>
            <a:ext cx="5981700" cy="7429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4633E3"/>
            </a:solidFill>
            <a:prstDash val="solid"/>
            <a:tailEnd type="triangle" w="sm" len="sm"/>
          </a:ln>
        </p:spPr>
      </p:cxnSp>
      <p:sp>
        <p:nvSpPr>
          <p:cNvPr id="50" name="quality-loop-band">
            <a:extLst xmlns:a="http://schemas.openxmlformats.org/drawingml/2006/main">
              <a:ext uri="{FF2B5EF4-FFF2-40B4-BE49-F238E27FC236}">
                <a16:creationId xmlns:a16="http://schemas.microsoft.com/office/drawing/2014/main" id="{9396D5EB-4E6B-4D99-A5AE-7896862A9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0"/>
            <a:ext cx="101727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5F5F4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51" name="quality-loop-title">
            <a:extLst xmlns:a="http://schemas.openxmlformats.org/drawingml/2006/main">
              <a:ext uri="{FF2B5EF4-FFF2-40B4-BE49-F238E27FC236}">
                <a16:creationId xmlns:a16="http://schemas.microsoft.com/office/drawing/2014/main" id="{F31018D8-A62D-4104-B519-3F4EB8EEA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53000"/>
            <a:ext cx="114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8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38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품질 루프</a:t>
            </a:r>
          </a:p>
        </p:txBody>
      </p:sp>
      <p:sp>
        <p:nvSpPr>
          <p:cNvPr id="52" name="quality-loop-copy">
            <a:extLst xmlns:a="http://schemas.openxmlformats.org/drawingml/2006/main">
              <a:ext uri="{FF2B5EF4-FFF2-40B4-BE49-F238E27FC236}">
                <a16:creationId xmlns:a16="http://schemas.microsoft.com/office/drawing/2014/main" id="{E02462D5-D680-44F9-9E90-8A7E7A0A4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953000"/>
            <a:ext cx="819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40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pPr>
            <a:r>
              <a:rPr sz="1140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로그와 평가셋으로 검색 결과를 측정하고, 실패 원인을 데이터와 검색 설정에 다시 반영한다.</a:t>
            </a:r>
          </a:p>
        </p:txBody>
      </p:sp>
    </p:spTree>
    <p:extLst>
      <p:ext uri="{BB962C8B-B14F-4D97-AF65-F5344CB8AC3E}">
        <p14:creationId xmlns:p14="http://schemas.microsoft.com/office/powerpoint/2010/main" val="94221982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0435C254-62A2-409C-A43F-523F3B97507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이번 커리큘럼의 구현 범위</a:t>
            </a:r>
          </a:p>
        </p:txBody>
      </p:sp>
      <p:sp>
        <p:nvSpPr>
          <p:cNvPr id="2" name="eyebrow-4">
            <a:extLst xmlns:a="http://schemas.openxmlformats.org/drawingml/2006/main">
              <a:ext uri="{FF2B5EF4-FFF2-40B4-BE49-F238E27FC236}">
                <a16:creationId xmlns:a16="http://schemas.microsoft.com/office/drawing/2014/main" id="{A38AAD6F-5E35-4CAC-B99D-AD6906001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1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pPr>
            <a:r>
              <a:rPr sz="960" b="1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COURSE SCOPE</a:t>
            </a:r>
          </a:p>
        </p:txBody>
      </p:sp>
      <p:sp>
        <p:nvSpPr>
          <p:cNvPr id="3" name="gm-4">
            <a:extLst xmlns:a="http://schemas.openxmlformats.org/drawingml/2006/main">
              <a:ext uri="{FF2B5EF4-FFF2-40B4-BE49-F238E27FC236}">
                <a16:creationId xmlns:a16="http://schemas.microsoft.com/office/drawing/2014/main" id="{365FE57A-D1DD-4FA6-8EEA-50F17B3DE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62293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40" b="1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pPr>
            <a:r>
              <a:rPr sz="1140" b="1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완료 지점은 검색 결과와 원문 정보가 담긴 컨텍스트이며, LLM 답변 생성은 제외한다.</a:t>
            </a:r>
          </a:p>
        </p:txBody>
      </p:sp>
      <p:sp>
        <p:nvSpPr>
          <p:cNvPr id="4" name="page-4">
            <a:extLst xmlns:a="http://schemas.openxmlformats.org/drawingml/2006/main">
              <a:ext uri="{FF2B5EF4-FFF2-40B4-BE49-F238E27FC236}">
                <a16:creationId xmlns:a16="http://schemas.microsoft.com/office/drawing/2014/main" id="{1B697517-B296-4EA8-8E89-CE95BEF3E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96050"/>
            <a:ext cx="1371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60" b="0">
                <a:solidFill>
                  <a:srgbClr val="9CA3AF"/>
                </a:solidFill>
                <a:latin typeface="Malgun Gothic"/>
                <a:ea typeface="Malgun Gothic"/>
                <a:cs typeface="Malgun Gothic"/>
              </a:defRPr>
            </a:pPr>
            <a:r>
              <a:rPr sz="960" b="0">
                <a:solidFill>
                  <a:srgbClr val="9CA3AF"/>
                </a:solidFill>
                <a:latin typeface="Malgun Gothic"/>
                <a:ea typeface="Malgun Gothic"/>
                <a:cs typeface="Malgun Gothic"/>
              </a:rPr>
              <a:t>04 / 06</a:t>
            </a:r>
          </a:p>
        </p:txBody>
      </p:sp>
      <p:sp>
        <p:nvSpPr>
          <p:cNvPr id="5" name="scope-headline">
            <a:extLst xmlns:a="http://schemas.openxmlformats.org/drawingml/2006/main">
              <a:ext uri="{FF2B5EF4-FFF2-40B4-BE49-F238E27FC236}">
                <a16:creationId xmlns:a16="http://schemas.microsoft.com/office/drawing/2014/main" id="{79FA82C1-931B-4379-BF41-DDA9FAA85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57350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2E1FB3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E1FB3"/>
                </a:solidFill>
                <a:latin typeface="Malgun Gothic"/>
                <a:ea typeface="Malgun Gothic"/>
                <a:cs typeface="Malgun Gothic"/>
              </a:rPr>
              <a:t>검색 가능한 데이터를 만들고, 잘 찾는지 평가하는 단계까지 구현</a:t>
            </a:r>
          </a:p>
        </p:txBody>
      </p:sp>
      <p:sp>
        <p:nvSpPr>
          <p:cNvPr id="6" name="scope-1-box">
            <a:extLst xmlns:a="http://schemas.openxmlformats.org/drawingml/2006/main">
              <a:ext uri="{FF2B5EF4-FFF2-40B4-BE49-F238E27FC236}">
                <a16:creationId xmlns:a16="http://schemas.microsoft.com/office/drawing/2014/main" id="{29895F2C-78D3-40EB-BC3A-7EC4B0F79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57450"/>
            <a:ext cx="12001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8E5FC"/>
          </a:solidFill>
          <a:ln xmlns:a="http://schemas.openxmlformats.org/drawingml/2006/main" w="19050">
            <a:solidFill>
              <a:srgbClr val="4633E3"/>
            </a:solidFill>
            <a:prstDash val="solid"/>
          </a:ln>
        </p:spPr>
      </p:sp>
      <p:sp>
        <p:nvSpPr>
          <p:cNvPr id="7" name="scope-1-title">
            <a:extLst xmlns:a="http://schemas.openxmlformats.org/drawingml/2006/main">
              <a:ext uri="{FF2B5EF4-FFF2-40B4-BE49-F238E27FC236}">
                <a16:creationId xmlns:a16="http://schemas.microsoft.com/office/drawing/2014/main" id="{B19924A5-8AC3-4C30-A961-8F858BC0C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57450"/>
            <a:ext cx="10096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88" b="1">
                <a:solidFill>
                  <a:srgbClr val="2E1FB3"/>
                </a:solidFill>
                <a:latin typeface="Malgun Gothic"/>
                <a:ea typeface="Malgun Gothic"/>
                <a:cs typeface="Malgun Gothic"/>
              </a:defRPr>
            </a:pPr>
            <a:r>
              <a:rPr sz="1088" b="1">
                <a:solidFill>
                  <a:srgbClr val="2E1FB3"/>
                </a:solidFill>
                <a:latin typeface="Malgun Gothic"/>
                <a:ea typeface="Malgun Gothic"/>
                <a:cs typeface="Malgun Gothic"/>
              </a:rPr>
              <a:t>문서·메타데이터</a:t>
            </a:r>
          </a:p>
        </p:txBody>
      </p:sp>
      <p:sp>
        <p:nvSpPr>
          <p:cNvPr id="8" name="scope-2-box">
            <a:extLst xmlns:a="http://schemas.openxmlformats.org/drawingml/2006/main">
              <a:ext uri="{FF2B5EF4-FFF2-40B4-BE49-F238E27FC236}">
                <a16:creationId xmlns:a16="http://schemas.microsoft.com/office/drawing/2014/main" id="{FBDF6414-3AFC-456B-A6F0-E251C1379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457450"/>
            <a:ext cx="10668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8E5FC"/>
          </a:solidFill>
          <a:ln xmlns:a="http://schemas.openxmlformats.org/drawingml/2006/main" w="19050">
            <a:solidFill>
              <a:srgbClr val="4633E3"/>
            </a:solidFill>
            <a:prstDash val="solid"/>
          </a:ln>
        </p:spPr>
      </p:sp>
      <p:sp>
        <p:nvSpPr>
          <p:cNvPr id="9" name="scope-2-title">
            <a:extLst xmlns:a="http://schemas.openxmlformats.org/drawingml/2006/main">
              <a:ext uri="{FF2B5EF4-FFF2-40B4-BE49-F238E27FC236}">
                <a16:creationId xmlns:a16="http://schemas.microsoft.com/office/drawing/2014/main" id="{0EDE7796-D834-4B23-B23D-84BE6F1FB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457450"/>
            <a:ext cx="8763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88" b="1">
                <a:solidFill>
                  <a:srgbClr val="2E1FB3"/>
                </a:solidFill>
                <a:latin typeface="Malgun Gothic"/>
                <a:ea typeface="Malgun Gothic"/>
                <a:cs typeface="Malgun Gothic"/>
              </a:defRPr>
            </a:pPr>
            <a:r>
              <a:rPr sz="1088" b="1">
                <a:solidFill>
                  <a:srgbClr val="2E1FB3"/>
                </a:solidFill>
                <a:latin typeface="Malgun Gothic"/>
                <a:ea typeface="Malgun Gothic"/>
                <a:cs typeface="Malgun Gothic"/>
              </a:rPr>
              <a:t>파싱·청킹</a:t>
            </a:r>
          </a:p>
        </p:txBody>
      </p:sp>
      <p:sp>
        <p:nvSpPr>
          <p:cNvPr id="10" name="scope-3-box">
            <a:extLst xmlns:a="http://schemas.openxmlformats.org/drawingml/2006/main">
              <a:ext uri="{FF2B5EF4-FFF2-40B4-BE49-F238E27FC236}">
                <a16:creationId xmlns:a16="http://schemas.microsoft.com/office/drawing/2014/main" id="{1AAA6B6D-1100-46A0-9713-71BE17F95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457450"/>
            <a:ext cx="12001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8E5FC"/>
          </a:solidFill>
          <a:ln xmlns:a="http://schemas.openxmlformats.org/drawingml/2006/main" w="19050">
            <a:solidFill>
              <a:srgbClr val="4633E3"/>
            </a:solidFill>
            <a:prstDash val="solid"/>
          </a:ln>
        </p:spPr>
      </p:sp>
      <p:sp>
        <p:nvSpPr>
          <p:cNvPr id="11" name="scope-3-title">
            <a:extLst xmlns:a="http://schemas.openxmlformats.org/drawingml/2006/main">
              <a:ext uri="{FF2B5EF4-FFF2-40B4-BE49-F238E27FC236}">
                <a16:creationId xmlns:a16="http://schemas.microsoft.com/office/drawing/2014/main" id="{97952D32-9C26-49D6-AA93-20651BCFF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457450"/>
            <a:ext cx="10096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88" b="1">
                <a:solidFill>
                  <a:srgbClr val="2E1FB3"/>
                </a:solidFill>
                <a:latin typeface="Malgun Gothic"/>
                <a:ea typeface="Malgun Gothic"/>
                <a:cs typeface="Malgun Gothic"/>
              </a:defRPr>
            </a:pPr>
            <a:r>
              <a:rPr sz="1088" b="1">
                <a:solidFill>
                  <a:srgbClr val="2E1FB3"/>
                </a:solidFill>
                <a:latin typeface="Malgun Gothic"/>
                <a:ea typeface="Malgun Gothic"/>
                <a:cs typeface="Malgun Gothic"/>
              </a:rPr>
              <a:t>임베딩·색인</a:t>
            </a:r>
          </a:p>
        </p:txBody>
      </p:sp>
      <p:sp>
        <p:nvSpPr>
          <p:cNvPr id="12" name="scope-4-box">
            <a:extLst xmlns:a="http://schemas.openxmlformats.org/drawingml/2006/main">
              <a:ext uri="{FF2B5EF4-FFF2-40B4-BE49-F238E27FC236}">
                <a16:creationId xmlns:a16="http://schemas.microsoft.com/office/drawing/2014/main" id="{1437CA50-8AA4-40EA-971C-16301DBF3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457450"/>
            <a:ext cx="10668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8E5FC"/>
          </a:solidFill>
          <a:ln xmlns:a="http://schemas.openxmlformats.org/drawingml/2006/main" w="19050">
            <a:solidFill>
              <a:srgbClr val="4633E3"/>
            </a:solidFill>
            <a:prstDash val="solid"/>
          </a:ln>
        </p:spPr>
      </p:sp>
      <p:sp>
        <p:nvSpPr>
          <p:cNvPr id="13" name="scope-4-title">
            <a:extLst xmlns:a="http://schemas.openxmlformats.org/drawingml/2006/main">
              <a:ext uri="{FF2B5EF4-FFF2-40B4-BE49-F238E27FC236}">
                <a16:creationId xmlns:a16="http://schemas.microsoft.com/office/drawing/2014/main" id="{34C199AE-DA33-4B6D-80CD-5BB6A9217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457450"/>
            <a:ext cx="8763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88" b="1">
                <a:solidFill>
                  <a:srgbClr val="2E1FB3"/>
                </a:solidFill>
                <a:latin typeface="Malgun Gothic"/>
                <a:ea typeface="Malgun Gothic"/>
                <a:cs typeface="Malgun Gothic"/>
              </a:defRPr>
            </a:pPr>
            <a:r>
              <a:rPr sz="1088" b="1">
                <a:solidFill>
                  <a:srgbClr val="2E1FB3"/>
                </a:solidFill>
                <a:latin typeface="Malgun Gothic"/>
                <a:ea typeface="Malgun Gothic"/>
                <a:cs typeface="Malgun Gothic"/>
              </a:rPr>
              <a:t>BM25·kNN</a:t>
            </a:r>
          </a:p>
        </p:txBody>
      </p:sp>
      <p:sp>
        <p:nvSpPr>
          <p:cNvPr id="14" name="scope-5-box">
            <a:extLst xmlns:a="http://schemas.openxmlformats.org/drawingml/2006/main">
              <a:ext uri="{FF2B5EF4-FFF2-40B4-BE49-F238E27FC236}">
                <a16:creationId xmlns:a16="http://schemas.microsoft.com/office/drawing/2014/main" id="{FBB9F1E1-4DA8-43E6-8BE0-EA7554F51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457450"/>
            <a:ext cx="12192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8E5FC"/>
          </a:solidFill>
          <a:ln xmlns:a="http://schemas.openxmlformats.org/drawingml/2006/main" w="19050">
            <a:solidFill>
              <a:srgbClr val="4633E3"/>
            </a:solidFill>
            <a:prstDash val="solid"/>
          </a:ln>
        </p:spPr>
      </p:sp>
      <p:sp>
        <p:nvSpPr>
          <p:cNvPr id="15" name="scope-5-title">
            <a:extLst xmlns:a="http://schemas.openxmlformats.org/drawingml/2006/main">
              <a:ext uri="{FF2B5EF4-FFF2-40B4-BE49-F238E27FC236}">
                <a16:creationId xmlns:a16="http://schemas.microsoft.com/office/drawing/2014/main" id="{BB3AF2EB-7DBC-44AC-B337-B1863CD00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457450"/>
            <a:ext cx="1028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88" b="1">
                <a:solidFill>
                  <a:srgbClr val="2E1FB3"/>
                </a:solidFill>
                <a:latin typeface="Malgun Gothic"/>
                <a:ea typeface="Malgun Gothic"/>
                <a:cs typeface="Malgun Gothic"/>
              </a:defRPr>
            </a:pPr>
            <a:r>
              <a:rPr sz="1088" b="1">
                <a:solidFill>
                  <a:srgbClr val="2E1FB3"/>
                </a:solidFill>
                <a:latin typeface="Malgun Gothic"/>
                <a:ea typeface="Malgun Gothic"/>
                <a:cs typeface="Malgun Gothic"/>
              </a:rPr>
              <a:t>하이브리드 검색</a:t>
            </a:r>
          </a:p>
        </p:txBody>
      </p:sp>
      <p:sp>
        <p:nvSpPr>
          <p:cNvPr id="16" name="scope-6-box">
            <a:extLst xmlns:a="http://schemas.openxmlformats.org/drawingml/2006/main">
              <a:ext uri="{FF2B5EF4-FFF2-40B4-BE49-F238E27FC236}">
                <a16:creationId xmlns:a16="http://schemas.microsoft.com/office/drawing/2014/main" id="{D28B9B0A-8636-41B2-830E-1A4AEAD79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457450"/>
            <a:ext cx="10668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8E5FC"/>
          </a:solidFill>
          <a:ln xmlns:a="http://schemas.openxmlformats.org/drawingml/2006/main" w="19050">
            <a:solidFill>
              <a:srgbClr val="4633E3"/>
            </a:solidFill>
            <a:prstDash val="solid"/>
          </a:ln>
        </p:spPr>
      </p:sp>
      <p:sp>
        <p:nvSpPr>
          <p:cNvPr id="17" name="scope-6-title">
            <a:extLst xmlns:a="http://schemas.openxmlformats.org/drawingml/2006/main">
              <a:ext uri="{FF2B5EF4-FFF2-40B4-BE49-F238E27FC236}">
                <a16:creationId xmlns:a16="http://schemas.microsoft.com/office/drawing/2014/main" id="{A8249EDA-4237-410A-9555-3745256B7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457450"/>
            <a:ext cx="8763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88" b="1">
                <a:solidFill>
                  <a:srgbClr val="2E1FB3"/>
                </a:solidFill>
                <a:latin typeface="Malgun Gothic"/>
                <a:ea typeface="Malgun Gothic"/>
                <a:cs typeface="Malgun Gothic"/>
              </a:defRPr>
            </a:pPr>
            <a:r>
              <a:rPr sz="1088" b="1">
                <a:solidFill>
                  <a:srgbClr val="2E1FB3"/>
                </a:solidFill>
                <a:latin typeface="Malgun Gothic"/>
                <a:ea typeface="Malgun Gothic"/>
                <a:cs typeface="Malgun Gothic"/>
              </a:rPr>
              <a:t>검색 API</a:t>
            </a:r>
          </a:p>
        </p:txBody>
      </p:sp>
      <p:sp>
        <p:nvSpPr>
          <p:cNvPr id="18" name="scope-7-box">
            <a:extLst xmlns:a="http://schemas.openxmlformats.org/drawingml/2006/main">
              <a:ext uri="{FF2B5EF4-FFF2-40B4-BE49-F238E27FC236}">
                <a16:creationId xmlns:a16="http://schemas.microsoft.com/office/drawing/2014/main" id="{7316439C-B1D8-4266-B94F-A2816B7A3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457450"/>
            <a:ext cx="13525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8E5FC"/>
          </a:solidFill>
          <a:ln xmlns:a="http://schemas.openxmlformats.org/drawingml/2006/main" w="19050">
            <a:solidFill>
              <a:srgbClr val="4633E3"/>
            </a:solidFill>
            <a:prstDash val="solid"/>
          </a:ln>
        </p:spPr>
      </p:sp>
      <p:sp>
        <p:nvSpPr>
          <p:cNvPr id="19" name="scope-7-title">
            <a:extLst xmlns:a="http://schemas.openxmlformats.org/drawingml/2006/main">
              <a:ext uri="{FF2B5EF4-FFF2-40B4-BE49-F238E27FC236}">
                <a16:creationId xmlns:a16="http://schemas.microsoft.com/office/drawing/2014/main" id="{786C867B-FD89-45F7-9044-8E9EC5F72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457450"/>
            <a:ext cx="11620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88" b="1">
                <a:solidFill>
                  <a:srgbClr val="2E1FB3"/>
                </a:solidFill>
                <a:latin typeface="Malgun Gothic"/>
                <a:ea typeface="Malgun Gothic"/>
                <a:cs typeface="Malgun Gothic"/>
              </a:defRPr>
            </a:pPr>
            <a:r>
              <a:rPr sz="1088" b="1">
                <a:solidFill>
                  <a:srgbClr val="2E1FB3"/>
                </a:solidFill>
                <a:latin typeface="Malgun Gothic"/>
                <a:ea typeface="Malgun Gothic"/>
                <a:cs typeface="Malgun Gothic"/>
              </a:rPr>
              <a:t>컨텍스트·원문</a:t>
            </a:r>
          </a:p>
        </p:txBody>
      </p:sp>
      <p:sp>
        <p:nvSpPr>
          <p:cNvPr id="20" name="scope-8-box">
            <a:extLst xmlns:a="http://schemas.openxmlformats.org/drawingml/2006/main">
              <a:ext uri="{FF2B5EF4-FFF2-40B4-BE49-F238E27FC236}">
                <a16:creationId xmlns:a16="http://schemas.microsoft.com/office/drawing/2014/main" id="{947DF060-1F0D-43E1-83F7-1F65C7A80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457450"/>
            <a:ext cx="11620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5F5F4"/>
          </a:solidFill>
          <a:ln xmlns:a="http://schemas.openxmlformats.org/drawingml/2006/main" w="9525">
            <a:solidFill>
              <a:srgbClr val="D4D4D4"/>
            </a:solidFill>
            <a:prstDash val="solid"/>
          </a:ln>
        </p:spPr>
      </p:sp>
      <p:sp>
        <p:nvSpPr>
          <p:cNvPr id="21" name="scope-8-title">
            <a:extLst xmlns:a="http://schemas.openxmlformats.org/drawingml/2006/main">
              <a:ext uri="{FF2B5EF4-FFF2-40B4-BE49-F238E27FC236}">
                <a16:creationId xmlns:a16="http://schemas.microsoft.com/office/drawing/2014/main" id="{20797B77-5098-4A78-B1F8-7437C9EA3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457450"/>
            <a:ext cx="9715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88" b="1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pPr>
            <a:r>
              <a:rPr sz="1088" b="1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LLM·에이전트</a:t>
            </a:r>
          </a:p>
        </p:txBody>
      </p:sp>
      <p:cxnSp>
        <p:nvCxnSpPr>
          <p:cNvPr id="59" name="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733550" y="2819400"/>
            <a:ext cx="952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4633E3"/>
            </a:solidFill>
            <a:prstDash val="solid"/>
            <a:tailEnd type="triangle" w="sm" len="sm"/>
          </a:ln>
        </p:spPr>
      </p:cxnSp>
      <p:cxnSp>
        <p:nvCxnSpPr>
          <p:cNvPr id="60" name=""/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2895600" y="2819400"/>
            <a:ext cx="952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4633E3"/>
            </a:solidFill>
            <a:prstDash val="solid"/>
            <a:tailEnd type="triangle" w="sm" len="sm"/>
          </a:ln>
        </p:spPr>
      </p:cxnSp>
      <p:cxnSp>
        <p:nvCxnSpPr>
          <p:cNvPr id="61" name=""/>
          <p:cNvCxnSpPr>
            <a:stCxn xmlns:a="http://schemas.openxmlformats.org/drawingml/2006/main" id="10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4191000" y="2819400"/>
            <a:ext cx="952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4633E3"/>
            </a:solidFill>
            <a:prstDash val="solid"/>
            <a:tailEnd type="triangle" w="sm" len="sm"/>
          </a:ln>
        </p:spPr>
      </p:cxnSp>
      <p:cxnSp>
        <p:nvCxnSpPr>
          <p:cNvPr id="62" name=""/>
          <p:cNvCxnSpPr>
            <a:stCxn xmlns:a="http://schemas.openxmlformats.org/drawingml/2006/main" id="12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353050" y="2819400"/>
            <a:ext cx="952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4633E3"/>
            </a:solidFill>
            <a:prstDash val="solid"/>
            <a:tailEnd type="triangle" w="sm" len="sm"/>
          </a:ln>
        </p:spPr>
      </p:cxnSp>
      <p:cxnSp>
        <p:nvCxnSpPr>
          <p:cNvPr id="63" name=""/>
          <p:cNvCxnSpPr>
            <a:stCxn xmlns:a="http://schemas.openxmlformats.org/drawingml/2006/main" id="14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6667500" y="2819400"/>
            <a:ext cx="952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4633E3"/>
            </a:solidFill>
            <a:prstDash val="solid"/>
            <a:tailEnd type="triangle" w="sm" len="sm"/>
          </a:ln>
        </p:spPr>
      </p:cxnSp>
      <p:cxnSp>
        <p:nvCxnSpPr>
          <p:cNvPr id="64" name=""/>
          <p:cNvCxnSpPr>
            <a:stCxn xmlns:a="http://schemas.openxmlformats.org/drawingml/2006/main" id="16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7829550" y="2819400"/>
            <a:ext cx="952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4633E3"/>
            </a:solidFill>
            <a:prstDash val="solid"/>
            <a:tailEnd type="triangle" w="sm" len="sm"/>
          </a:ln>
        </p:spPr>
      </p:cxnSp>
      <p:cxnSp>
        <p:nvCxnSpPr>
          <p:cNvPr id="65" name=""/>
          <p:cNvCxnSpPr>
            <a:stCxn xmlns:a="http://schemas.openxmlformats.org/drawingml/2006/main" id="18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9277350" y="2819400"/>
            <a:ext cx="952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D4D4D4"/>
            </a:solidFill>
            <a:prstDash val="solid"/>
            <a:tailEnd type="triangle" w="sm" len="sm"/>
          </a:ln>
        </p:spPr>
      </p:cxnSp>
      <p:sp>
        <p:nvSpPr>
          <p:cNvPr id="29" name="scope-implemented-rule">
            <a:extLst xmlns:a="http://schemas.openxmlformats.org/drawingml/2006/main">
              <a:ext uri="{FF2B5EF4-FFF2-40B4-BE49-F238E27FC236}">
                <a16:creationId xmlns:a16="http://schemas.microsoft.com/office/drawing/2014/main" id="{F0624B01-32D4-4596-97CC-2268DE2C5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09950"/>
            <a:ext cx="88201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33E3"/>
          </a:solidFill>
          <a:ln xmlns:a="http://schemas.openxmlformats.org/drawingml/2006/main" w="0">
            <a:solidFill>
              <a:srgbClr val="4633E3"/>
            </a:solidFill>
          </a:ln>
        </p:spPr>
      </p:sp>
      <p:sp>
        <p:nvSpPr>
          <p:cNvPr id="30" name="scope-implemented-label">
            <a:extLst xmlns:a="http://schemas.openxmlformats.org/drawingml/2006/main">
              <a:ext uri="{FF2B5EF4-FFF2-40B4-BE49-F238E27FC236}">
                <a16:creationId xmlns:a16="http://schemas.microsoft.com/office/drawing/2014/main" id="{F33FE765-B904-4624-98B6-32BABEC3F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242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40" b="1">
                <a:solidFill>
                  <a:srgbClr val="2E1FB3"/>
                </a:solidFill>
                <a:latin typeface="Malgun Gothic"/>
                <a:ea typeface="Malgun Gothic"/>
                <a:cs typeface="Malgun Gothic"/>
              </a:defRPr>
            </a:pPr>
            <a:r>
              <a:rPr sz="1140" b="1">
                <a:solidFill>
                  <a:srgbClr val="2E1FB3"/>
                </a:solidFill>
                <a:latin typeface="Malgun Gothic"/>
                <a:ea typeface="Malgun Gothic"/>
                <a:cs typeface="Malgun Gothic"/>
              </a:rPr>
              <a:t>이번 수업에서 직접 구현</a:t>
            </a:r>
          </a:p>
        </p:txBody>
      </p:sp>
      <p:sp>
        <p:nvSpPr>
          <p:cNvPr id="31" name="scope-outside-rule">
            <a:extLst xmlns:a="http://schemas.openxmlformats.org/drawingml/2006/main">
              <a:ext uri="{FF2B5EF4-FFF2-40B4-BE49-F238E27FC236}">
                <a16:creationId xmlns:a16="http://schemas.microsoft.com/office/drawing/2014/main" id="{726D4B33-6C3F-4DAE-8B2A-0A3FF277A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409950"/>
            <a:ext cx="1162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solidFill>
              <a:srgbClr val="D4D4D4"/>
            </a:solidFill>
          </a:ln>
        </p:spPr>
      </p:sp>
      <p:sp>
        <p:nvSpPr>
          <p:cNvPr id="32" name="scope-outside-label">
            <a:extLst xmlns:a="http://schemas.openxmlformats.org/drawingml/2006/main">
              <a:ext uri="{FF2B5EF4-FFF2-40B4-BE49-F238E27FC236}">
                <a16:creationId xmlns:a16="http://schemas.microsoft.com/office/drawing/2014/main" id="{86315024-61C6-4F96-8BBC-35D71C3ED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524250"/>
            <a:ext cx="1162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40" b="1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pPr>
            <a:r>
              <a:rPr sz="1140" b="1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추후 확장</a:t>
            </a:r>
          </a:p>
        </p:txBody>
      </p:sp>
      <p:sp>
        <p:nvSpPr>
          <p:cNvPr id="33" name="scope-divider">
            <a:extLst xmlns:a="http://schemas.openxmlformats.org/drawingml/2006/main">
              <a:ext uri="{FF2B5EF4-FFF2-40B4-BE49-F238E27FC236}">
                <a16:creationId xmlns:a16="http://schemas.microsoft.com/office/drawing/2014/main" id="{DD8329EF-2574-482F-AE82-FBBC312CE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57650"/>
            <a:ext cx="9525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E5E7EB"/>
            </a:solidFill>
          </a:ln>
        </p:spPr>
      </p:sp>
      <p:sp>
        <p:nvSpPr>
          <p:cNvPr id="34" name="scope-eval-title">
            <a:extLst xmlns:a="http://schemas.openxmlformats.org/drawingml/2006/main">
              <a:ext uri="{FF2B5EF4-FFF2-40B4-BE49-F238E27FC236}">
                <a16:creationId xmlns:a16="http://schemas.microsoft.com/office/drawing/2014/main" id="{DD980FF5-BA0D-4B47-9292-142CA3EA1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576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8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38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함께 평가하는 것</a:t>
            </a:r>
          </a:p>
        </p:txBody>
      </p:sp>
      <p:sp>
        <p:nvSpPr>
          <p:cNvPr id="35" name="scope-eval-copy">
            <a:extLst xmlns:a="http://schemas.openxmlformats.org/drawingml/2006/main">
              <a:ext uri="{FF2B5EF4-FFF2-40B4-BE49-F238E27FC236}">
                <a16:creationId xmlns:a16="http://schemas.microsoft.com/office/drawing/2014/main" id="{B4DF81AA-9115-493B-8E09-059F78A3E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0"/>
            <a:ext cx="4953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검색 결과, 점수, Hit@k, MRR, 원문 정보를 Notebook에서 비교한다.</a:t>
            </a:r>
          </a:p>
        </p:txBody>
      </p:sp>
      <p:sp>
        <p:nvSpPr>
          <p:cNvPr id="36" name="scope-out-title">
            <a:extLst xmlns:a="http://schemas.openxmlformats.org/drawingml/2006/main">
              <a:ext uri="{FF2B5EF4-FFF2-40B4-BE49-F238E27FC236}">
                <a16:creationId xmlns:a16="http://schemas.microsoft.com/office/drawing/2014/main" id="{FF8ED596-5598-4600-974F-E453A1BB7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576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8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38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이번 수업에서 다루지 않는 것</a:t>
            </a:r>
          </a:p>
        </p:txBody>
      </p:sp>
      <p:sp>
        <p:nvSpPr>
          <p:cNvPr id="37" name="scope-out-copy">
            <a:extLst xmlns:a="http://schemas.openxmlformats.org/drawingml/2006/main">
              <a:ext uri="{FF2B5EF4-FFF2-40B4-BE49-F238E27FC236}">
                <a16:creationId xmlns:a16="http://schemas.microsoft.com/office/drawing/2014/main" id="{5B807E51-316D-4F38-93FF-9FAFEC938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476750"/>
            <a:ext cx="4762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고급 쿼리 재작성, semantic reranking, LLM 답변 생성, agent loop는 전체 구조에서 위치만 이해한다.</a:t>
            </a:r>
          </a:p>
        </p:txBody>
      </p:sp>
    </p:spTree>
    <p:extLst>
      <p:ext uri="{BB962C8B-B14F-4D97-AF65-F5344CB8AC3E}">
        <p14:creationId xmlns:p14="http://schemas.microsoft.com/office/powerpoint/2010/main" val="188439048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0435C254-62A2-409C-A43F-523F3B97507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검색 품질이 답변 품질의 상한을 정한다</a:t>
            </a:r>
          </a:p>
        </p:txBody>
      </p:sp>
      <p:sp>
        <p:nvSpPr>
          <p:cNvPr id="2" name="eyebrow-5">
            <a:extLst xmlns:a="http://schemas.openxmlformats.org/drawingml/2006/main">
              <a:ext uri="{FF2B5EF4-FFF2-40B4-BE49-F238E27FC236}">
                <a16:creationId xmlns:a16="http://schemas.microsoft.com/office/drawing/2014/main" id="{6B58B969-A80A-4C45-ACD8-F17D68167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1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pPr>
            <a:r>
              <a:rPr sz="960" b="1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WHY RETRIEVAL MATTERS</a:t>
            </a:r>
          </a:p>
        </p:txBody>
      </p:sp>
      <p:sp>
        <p:nvSpPr>
          <p:cNvPr id="3" name="gm-5">
            <a:extLst xmlns:a="http://schemas.openxmlformats.org/drawingml/2006/main">
              <a:ext uri="{FF2B5EF4-FFF2-40B4-BE49-F238E27FC236}">
                <a16:creationId xmlns:a16="http://schemas.microsoft.com/office/drawing/2014/main" id="{3EF14DC7-AAD2-405D-9AA0-73F35F7EF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62293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40" b="1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pPr>
            <a:r>
              <a:rPr sz="1140" b="1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검색이 핵심 근거를 놓치면 생성 단계가 정답을 보장하기 어렵다.</a:t>
            </a:r>
          </a:p>
        </p:txBody>
      </p:sp>
      <p:sp>
        <p:nvSpPr>
          <p:cNvPr id="4" name="page-5">
            <a:extLst xmlns:a="http://schemas.openxmlformats.org/drawingml/2006/main">
              <a:ext uri="{FF2B5EF4-FFF2-40B4-BE49-F238E27FC236}">
                <a16:creationId xmlns:a16="http://schemas.microsoft.com/office/drawing/2014/main" id="{015DB8C2-63F9-49E1-BA3C-4BC7F3DD0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96050"/>
            <a:ext cx="1371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60" b="0">
                <a:solidFill>
                  <a:srgbClr val="9CA3AF"/>
                </a:solidFill>
                <a:latin typeface="Malgun Gothic"/>
                <a:ea typeface="Malgun Gothic"/>
                <a:cs typeface="Malgun Gothic"/>
              </a:defRPr>
            </a:pPr>
            <a:r>
              <a:rPr sz="960" b="0">
                <a:solidFill>
                  <a:srgbClr val="9CA3AF"/>
                </a:solidFill>
                <a:latin typeface="Malgun Gothic"/>
                <a:ea typeface="Malgun Gothic"/>
                <a:cs typeface="Malgun Gothic"/>
              </a:rPr>
              <a:t>05 / 06</a:t>
            </a:r>
          </a:p>
        </p:txBody>
      </p:sp>
      <p:sp>
        <p:nvSpPr>
          <p:cNvPr id="5" name="search-question-box">
            <a:extLst xmlns:a="http://schemas.openxmlformats.org/drawingml/2006/main">
              <a:ext uri="{FF2B5EF4-FFF2-40B4-BE49-F238E27FC236}">
                <a16:creationId xmlns:a16="http://schemas.microsoft.com/office/drawing/2014/main" id="{2C4A2F1C-CDC7-48E7-B7BA-0578B7431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1657350"/>
            <a:ext cx="72771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4D4"/>
            </a:solidFill>
            <a:prstDash val="solid"/>
          </a:ln>
        </p:spPr>
      </p:sp>
      <p:sp>
        <p:nvSpPr>
          <p:cNvPr id="6" name="search-question-label">
            <a:extLst xmlns:a="http://schemas.openxmlformats.org/drawingml/2006/main">
              <a:ext uri="{FF2B5EF4-FFF2-40B4-BE49-F238E27FC236}">
                <a16:creationId xmlns:a16="http://schemas.microsoft.com/office/drawing/2014/main" id="{FA8BC2C8-5A42-40DD-B963-79B62310E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1819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40" b="1">
                <a:solidFill>
                  <a:srgbClr val="2E1FB3"/>
                </a:solidFill>
                <a:latin typeface="Malgun Gothic"/>
                <a:ea typeface="Malgun Gothic"/>
                <a:cs typeface="Malgun Gothic"/>
              </a:defRPr>
            </a:pPr>
            <a:r>
              <a:rPr sz="1140" b="1">
                <a:solidFill>
                  <a:srgbClr val="2E1FB3"/>
                </a:solidFill>
                <a:latin typeface="Malgun Gothic"/>
                <a:ea typeface="Malgun Gothic"/>
                <a:cs typeface="Malgun Gothic"/>
              </a:rPr>
              <a:t>질문</a:t>
            </a:r>
          </a:p>
        </p:txBody>
      </p:sp>
      <p:sp>
        <p:nvSpPr>
          <p:cNvPr id="7" name="search-question">
            <a:extLst xmlns:a="http://schemas.openxmlformats.org/drawingml/2006/main">
              <a:ext uri="{FF2B5EF4-FFF2-40B4-BE49-F238E27FC236}">
                <a16:creationId xmlns:a16="http://schemas.microsoft.com/office/drawing/2014/main" id="{D97508F6-9E52-4D5C-9BB2-83D99F71E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819275"/>
            <a:ext cx="581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평소 수업은 어디에서 하나요?</a:t>
            </a:r>
          </a:p>
        </p:txBody>
      </p:sp>
      <p:sp>
        <p:nvSpPr>
          <p:cNvPr id="8" name="search-divider">
            <a:extLst xmlns:a="http://schemas.openxmlformats.org/drawingml/2006/main">
              <a:ext uri="{FF2B5EF4-FFF2-40B4-BE49-F238E27FC236}">
                <a16:creationId xmlns:a16="http://schemas.microsoft.com/office/drawing/2014/main" id="{A94E4DB8-3DAF-4688-BDDD-B1916820D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2647950"/>
            <a:ext cx="9525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E5E7EB"/>
            </a:solidFill>
          </a:ln>
        </p:spPr>
      </p:sp>
      <p:sp>
        <p:nvSpPr>
          <p:cNvPr id="9" name="poor-label">
            <a:extLst xmlns:a="http://schemas.openxmlformats.org/drawingml/2006/main">
              <a:ext uri="{FF2B5EF4-FFF2-40B4-BE49-F238E27FC236}">
                <a16:creationId xmlns:a16="http://schemas.microsoft.com/office/drawing/2014/main" id="{A7803EA4-8D98-4CD8-97C9-8573E7AFE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4795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80" b="1">
                <a:solidFill>
                  <a:srgbClr val="E11D48"/>
                </a:solidFill>
                <a:latin typeface="Malgun Gothic"/>
                <a:ea typeface="Malgun Gothic"/>
                <a:cs typeface="Malgun Gothic"/>
              </a:defRPr>
            </a:pPr>
            <a:r>
              <a:rPr sz="1380" b="1">
                <a:solidFill>
                  <a:srgbClr val="E11D48"/>
                </a:solidFill>
                <a:latin typeface="Malgun Gothic"/>
                <a:ea typeface="Malgun Gothic"/>
                <a:cs typeface="Malgun Gothic"/>
              </a:rPr>
              <a:t>핵심 근거를 찾지 못한 경우</a:t>
            </a:r>
          </a:p>
        </p:txBody>
      </p:sp>
      <p:sp>
        <p:nvSpPr>
          <p:cNvPr id="10" name="poor-chunk-box">
            <a:extLst xmlns:a="http://schemas.openxmlformats.org/drawingml/2006/main">
              <a:ext uri="{FF2B5EF4-FFF2-40B4-BE49-F238E27FC236}">
                <a16:creationId xmlns:a16="http://schemas.microsoft.com/office/drawing/2014/main" id="{149E8F1F-7099-494D-8DD3-11CCA996E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05150"/>
            <a:ext cx="4953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11D48"/>
            </a:solidFill>
            <a:prstDash val="solid"/>
          </a:ln>
        </p:spPr>
      </p:sp>
      <p:sp>
        <p:nvSpPr>
          <p:cNvPr id="11" name="poor-chunk-title">
            <a:extLst xmlns:a="http://schemas.openxmlformats.org/drawingml/2006/main">
              <a:ext uri="{FF2B5EF4-FFF2-40B4-BE49-F238E27FC236}">
                <a16:creationId xmlns:a16="http://schemas.microsoft.com/office/drawing/2014/main" id="{80CDE294-C72D-47C1-92BC-EFEB7AB84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28975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40" b="1">
                <a:solidFill>
                  <a:srgbClr val="E11D48"/>
                </a:solidFill>
                <a:latin typeface="Malgun Gothic"/>
                <a:ea typeface="Malgun Gothic"/>
                <a:cs typeface="Malgun Gothic"/>
              </a:defRPr>
            </a:pPr>
            <a:r>
              <a:rPr sz="1140" b="1">
                <a:solidFill>
                  <a:srgbClr val="E11D48"/>
                </a:solidFill>
                <a:latin typeface="Malgun Gothic"/>
                <a:ea typeface="Malgun Gothic"/>
                <a:cs typeface="Malgun Gothic"/>
              </a:rPr>
              <a:t>검색 결과</a:t>
            </a:r>
          </a:p>
        </p:txBody>
      </p:sp>
      <p:sp>
        <p:nvSpPr>
          <p:cNvPr id="12" name="poor-chunk-subtitle">
            <a:extLst xmlns:a="http://schemas.openxmlformats.org/drawingml/2006/main">
              <a:ext uri="{FF2B5EF4-FFF2-40B4-BE49-F238E27FC236}">
                <a16:creationId xmlns:a16="http://schemas.microsoft.com/office/drawing/2014/main" id="{A0BFBB91-52DE-47F6-8305-5E9ED9484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533775"/>
            <a:ext cx="4781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40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pPr>
            <a:r>
              <a:rPr sz="1140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10/09 한글날, Zoom 온라인 수업</a:t>
            </a:r>
          </a:p>
        </p:txBody>
      </p:sp>
      <p:sp>
        <p:nvSpPr>
          <p:cNvPr id="13" name="poor-answer-box">
            <a:extLst xmlns:a="http://schemas.openxmlformats.org/drawingml/2006/main">
              <a:ext uri="{FF2B5EF4-FFF2-40B4-BE49-F238E27FC236}">
                <a16:creationId xmlns:a16="http://schemas.microsoft.com/office/drawing/2014/main" id="{9D87010D-B5E2-43BA-BABC-80EE1B2DB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62450"/>
            <a:ext cx="4953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5F5F4"/>
          </a:solidFill>
          <a:ln xmlns:a="http://schemas.openxmlformats.org/drawingml/2006/main" w="9525">
            <a:solidFill>
              <a:srgbClr val="D4D4D4"/>
            </a:solidFill>
            <a:prstDash val="solid"/>
          </a:ln>
        </p:spPr>
      </p:sp>
      <p:sp>
        <p:nvSpPr>
          <p:cNvPr id="14" name="poor-answer-title">
            <a:extLst xmlns:a="http://schemas.openxmlformats.org/drawingml/2006/main">
              <a:ext uri="{FF2B5EF4-FFF2-40B4-BE49-F238E27FC236}">
                <a16:creationId xmlns:a16="http://schemas.microsoft.com/office/drawing/2014/main" id="{09BE1B90-45CF-43EF-B977-4FDC6B11E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86275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40" b="1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pPr>
            <a:r>
              <a:rPr sz="1140" b="1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생성된 답변</a:t>
            </a:r>
          </a:p>
        </p:txBody>
      </p:sp>
      <p:sp>
        <p:nvSpPr>
          <p:cNvPr id="15" name="poor-answer-subtitle">
            <a:extLst xmlns:a="http://schemas.openxmlformats.org/drawingml/2006/main">
              <a:ext uri="{FF2B5EF4-FFF2-40B4-BE49-F238E27FC236}">
                <a16:creationId xmlns:a16="http://schemas.microsoft.com/office/drawing/2014/main" id="{703743A8-1BFD-4796-A722-4DA288BAA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791075"/>
            <a:ext cx="4781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40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pPr>
            <a:r>
              <a:rPr sz="1140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“평소 수업 장소를 확인할 수 없습니다.”</a:t>
            </a:r>
          </a:p>
        </p:txBody>
      </p:sp>
      <p:cxnSp>
        <p:nvCxnSpPr>
          <p:cNvPr id="42" name=""/>
          <p:cNvCxnSpPr>
            <a:stCxn xmlns:a="http://schemas.openxmlformats.org/drawingml/2006/main" id="10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>
            <a:off x="3009900" y="3886200"/>
            <a:ext cx="0" cy="4762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11D48"/>
            </a:solidFill>
            <a:prstDash val="solid"/>
            <a:tailEnd type="triangle" w="sm" len="sm"/>
          </a:ln>
        </p:spPr>
      </p:cxnSp>
      <p:sp>
        <p:nvSpPr>
          <p:cNvPr id="17" name="poor-caption">
            <a:extLst xmlns:a="http://schemas.openxmlformats.org/drawingml/2006/main">
              <a:ext uri="{FF2B5EF4-FFF2-40B4-BE49-F238E27FC236}">
                <a16:creationId xmlns:a16="http://schemas.microsoft.com/office/drawing/2014/main" id="{3D831794-1DC1-4D31-9368-92473932D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197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60" b="0">
                <a:solidFill>
                  <a:srgbClr val="E11D48"/>
                </a:solidFill>
                <a:latin typeface="Malgun Gothic"/>
                <a:ea typeface="Malgun Gothic"/>
                <a:cs typeface="Malgun Gothic"/>
              </a:defRPr>
            </a:pPr>
            <a:r>
              <a:rPr sz="960" b="0">
                <a:solidFill>
                  <a:srgbClr val="E11D48"/>
                </a:solidFill>
                <a:latin typeface="Malgun Gothic"/>
                <a:ea typeface="Malgun Gothic"/>
                <a:cs typeface="Malgun Gothic"/>
              </a:rPr>
              <a:t>검색 누락으로 답변 불가</a:t>
            </a:r>
          </a:p>
        </p:txBody>
      </p:sp>
      <p:sp>
        <p:nvSpPr>
          <p:cNvPr id="18" name="good-label">
            <a:extLst xmlns:a="http://schemas.openxmlformats.org/drawingml/2006/main">
              <a:ext uri="{FF2B5EF4-FFF2-40B4-BE49-F238E27FC236}">
                <a16:creationId xmlns:a16="http://schemas.microsoft.com/office/drawing/2014/main" id="{1A66A23B-CE12-4802-831B-7D7513C71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64795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80" b="1">
                <a:solidFill>
                  <a:srgbClr val="2E1FB3"/>
                </a:solidFill>
                <a:latin typeface="Malgun Gothic"/>
                <a:ea typeface="Malgun Gothic"/>
                <a:cs typeface="Malgun Gothic"/>
              </a:defRPr>
            </a:pPr>
            <a:r>
              <a:rPr sz="1380" b="1">
                <a:solidFill>
                  <a:srgbClr val="2E1FB3"/>
                </a:solidFill>
                <a:latin typeface="Malgun Gothic"/>
                <a:ea typeface="Malgun Gothic"/>
                <a:cs typeface="Malgun Gothic"/>
              </a:rPr>
              <a:t>핵심 근거를 찾은 경우</a:t>
            </a:r>
          </a:p>
        </p:txBody>
      </p:sp>
      <p:sp>
        <p:nvSpPr>
          <p:cNvPr id="19" name="good-chunk-box">
            <a:extLst xmlns:a="http://schemas.openxmlformats.org/drawingml/2006/main">
              <a:ext uri="{FF2B5EF4-FFF2-40B4-BE49-F238E27FC236}">
                <a16:creationId xmlns:a16="http://schemas.microsoft.com/office/drawing/2014/main" id="{BE3FA78A-0F85-466B-88AD-4D6ADD88D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105150"/>
            <a:ext cx="4953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8E5FC"/>
          </a:solidFill>
          <a:ln xmlns:a="http://schemas.openxmlformats.org/drawingml/2006/main" w="19050">
            <a:solidFill>
              <a:srgbClr val="4633E3"/>
            </a:solidFill>
            <a:prstDash val="solid"/>
          </a:ln>
        </p:spPr>
      </p:sp>
      <p:sp>
        <p:nvSpPr>
          <p:cNvPr id="20" name="good-chunk-title">
            <a:extLst xmlns:a="http://schemas.openxmlformats.org/drawingml/2006/main">
              <a:ext uri="{FF2B5EF4-FFF2-40B4-BE49-F238E27FC236}">
                <a16:creationId xmlns:a16="http://schemas.microsoft.com/office/drawing/2014/main" id="{76BA76A1-EDDA-454E-A8F0-9D2E720F2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228975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40" b="1">
                <a:solidFill>
                  <a:srgbClr val="2E1FB3"/>
                </a:solidFill>
                <a:latin typeface="Malgun Gothic"/>
                <a:ea typeface="Malgun Gothic"/>
                <a:cs typeface="Malgun Gothic"/>
              </a:defRPr>
            </a:pPr>
            <a:r>
              <a:rPr sz="1140" b="1">
                <a:solidFill>
                  <a:srgbClr val="2E1FB3"/>
                </a:solidFill>
                <a:latin typeface="Malgun Gothic"/>
                <a:ea typeface="Malgun Gothic"/>
                <a:cs typeface="Malgun Gothic"/>
              </a:rPr>
              <a:t>검색 결과</a:t>
            </a:r>
          </a:p>
        </p:txBody>
      </p:sp>
      <p:sp>
        <p:nvSpPr>
          <p:cNvPr id="21" name="good-chunk-subtitle">
            <a:extLst xmlns:a="http://schemas.openxmlformats.org/drawingml/2006/main">
              <a:ext uri="{FF2B5EF4-FFF2-40B4-BE49-F238E27FC236}">
                <a16:creationId xmlns:a16="http://schemas.microsoft.com/office/drawing/2014/main" id="{01B80449-DFE0-4A49-B0B0-E2C7D88BA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3533775"/>
            <a:ext cx="4781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8042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88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pPr>
            <a:r>
              <a:rPr sz="1088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매주 금요일, 국민대 미래관 424호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88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pPr>
            <a:r>
              <a:rPr sz="1088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10/09는 Zoom 예외</a:t>
            </a:r>
          </a:p>
        </p:txBody>
      </p:sp>
      <p:sp>
        <p:nvSpPr>
          <p:cNvPr id="22" name="good-answer-box">
            <a:extLst xmlns:a="http://schemas.openxmlformats.org/drawingml/2006/main">
              <a:ext uri="{FF2B5EF4-FFF2-40B4-BE49-F238E27FC236}">
                <a16:creationId xmlns:a16="http://schemas.microsoft.com/office/drawing/2014/main" id="{7EEC0B95-A6BA-4E8D-8920-89E76C590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362450"/>
            <a:ext cx="4953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633E3"/>
            </a:solidFill>
            <a:prstDash val="solid"/>
          </a:ln>
        </p:spPr>
      </p:sp>
      <p:sp>
        <p:nvSpPr>
          <p:cNvPr id="23" name="good-answer-title">
            <a:extLst xmlns:a="http://schemas.openxmlformats.org/drawingml/2006/main">
              <a:ext uri="{FF2B5EF4-FFF2-40B4-BE49-F238E27FC236}">
                <a16:creationId xmlns:a16="http://schemas.microsoft.com/office/drawing/2014/main" id="{8EC93C74-68F9-407C-9468-B6867E083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486275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40" b="1">
                <a:solidFill>
                  <a:srgbClr val="2E1FB3"/>
                </a:solidFill>
                <a:latin typeface="Malgun Gothic"/>
                <a:ea typeface="Malgun Gothic"/>
                <a:cs typeface="Malgun Gothic"/>
              </a:defRPr>
            </a:pPr>
            <a:r>
              <a:rPr sz="1140" b="1">
                <a:solidFill>
                  <a:srgbClr val="2E1FB3"/>
                </a:solidFill>
                <a:latin typeface="Malgun Gothic"/>
                <a:ea typeface="Malgun Gothic"/>
                <a:cs typeface="Malgun Gothic"/>
              </a:rPr>
              <a:t>생성된 답변</a:t>
            </a:r>
          </a:p>
        </p:txBody>
      </p:sp>
      <p:sp>
        <p:nvSpPr>
          <p:cNvPr id="24" name="good-answer-subtitle">
            <a:extLst xmlns:a="http://schemas.openxmlformats.org/drawingml/2006/main">
              <a:ext uri="{FF2B5EF4-FFF2-40B4-BE49-F238E27FC236}">
                <a16:creationId xmlns:a16="http://schemas.microsoft.com/office/drawing/2014/main" id="{CA05D538-FB94-4EDE-833C-8E147EA83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4791075"/>
            <a:ext cx="4781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“평소에는 미래관 424호입니다.”</a:t>
            </a:r>
          </a:p>
        </p:txBody>
      </p:sp>
      <p:cxnSp>
        <p:nvCxnSpPr>
          <p:cNvPr id="51" name=""/>
          <p:cNvCxnSpPr>
            <a:stCxn xmlns:a="http://schemas.openxmlformats.org/drawingml/2006/main" id="19" idx="2"/>
            <a:endCxn xmlns:a="http://schemas.openxmlformats.org/drawingml/2006/main" id="22" idx="0"/>
          </p:cNvCxnSpPr>
          <p:nvPr/>
        </p:nvCxnSpPr>
        <p:spPr>
          <a:xfrm xmlns:a="http://schemas.openxmlformats.org/drawingml/2006/main">
            <a:off x="9182100" y="3886200"/>
            <a:ext cx="0" cy="4762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633E3"/>
            </a:solidFill>
            <a:prstDash val="solid"/>
            <a:tailEnd type="triangle" w="sm" len="sm"/>
          </a:ln>
        </p:spPr>
      </p:cxnSp>
      <p:sp>
        <p:nvSpPr>
          <p:cNvPr id="26" name="good-caption">
            <a:extLst xmlns:a="http://schemas.openxmlformats.org/drawingml/2006/main">
              <a:ext uri="{FF2B5EF4-FFF2-40B4-BE49-F238E27FC236}">
                <a16:creationId xmlns:a16="http://schemas.microsoft.com/office/drawing/2014/main" id="{26A9C182-CD7E-4F38-AAAB-630C8AB07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2197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60" b="0">
                <a:solidFill>
                  <a:srgbClr val="2E1FB3"/>
                </a:solidFill>
                <a:latin typeface="Malgun Gothic"/>
                <a:ea typeface="Malgun Gothic"/>
                <a:cs typeface="Malgun Gothic"/>
              </a:defRPr>
            </a:pPr>
            <a:r>
              <a:rPr sz="960" b="0">
                <a:solidFill>
                  <a:srgbClr val="2E1FB3"/>
                </a:solidFill>
                <a:latin typeface="Malgun Gothic"/>
                <a:ea typeface="Malgun Gothic"/>
                <a:cs typeface="Malgun Gothic"/>
              </a:rPr>
              <a:t>일반 규칙과 예외를 함께 설명</a:t>
            </a:r>
          </a:p>
        </p:txBody>
      </p:sp>
    </p:spTree>
    <p:extLst>
      <p:ext uri="{BB962C8B-B14F-4D97-AF65-F5344CB8AC3E}">
        <p14:creationId xmlns:p14="http://schemas.microsoft.com/office/powerpoint/2010/main" val="151296771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0435C254-62A2-409C-A43F-523F3B97507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파이프라인이 실험을 다시 실행하고 비교하게 만든다</a:t>
            </a:r>
          </a:p>
        </p:txBody>
      </p:sp>
      <p:sp>
        <p:nvSpPr>
          <p:cNvPr id="2" name="eyebrow-6">
            <a:extLst xmlns:a="http://schemas.openxmlformats.org/drawingml/2006/main">
              <a:ext uri="{FF2B5EF4-FFF2-40B4-BE49-F238E27FC236}">
                <a16:creationId xmlns:a16="http://schemas.microsoft.com/office/drawing/2014/main" id="{04D0453D-BB06-4280-9B6E-BECD637E4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1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pPr>
            <a:r>
              <a:rPr sz="960" b="1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WHY THE PIPELINE MATTERS</a:t>
            </a:r>
          </a:p>
        </p:txBody>
      </p:sp>
      <p:sp>
        <p:nvSpPr>
          <p:cNvPr id="3" name="gm-6">
            <a:extLst xmlns:a="http://schemas.openxmlformats.org/drawingml/2006/main">
              <a:ext uri="{FF2B5EF4-FFF2-40B4-BE49-F238E27FC236}">
                <a16:creationId xmlns:a16="http://schemas.microsoft.com/office/drawing/2014/main" id="{169C3F09-039B-4A91-A6B2-08D42140A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62293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40" b="1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pPr>
            <a:r>
              <a:rPr sz="1140" b="1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한 단계만 바꾸고 결과를 비교하면 개선 원인을 설명할 수 있다.</a:t>
            </a:r>
          </a:p>
        </p:txBody>
      </p:sp>
      <p:sp>
        <p:nvSpPr>
          <p:cNvPr id="4" name="page-6">
            <a:extLst xmlns:a="http://schemas.openxmlformats.org/drawingml/2006/main">
              <a:ext uri="{FF2B5EF4-FFF2-40B4-BE49-F238E27FC236}">
                <a16:creationId xmlns:a16="http://schemas.microsoft.com/office/drawing/2014/main" id="{7F538610-1F64-4795-8B37-B030133A4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96050"/>
            <a:ext cx="1371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60" b="0">
                <a:solidFill>
                  <a:srgbClr val="9CA3AF"/>
                </a:solidFill>
                <a:latin typeface="Malgun Gothic"/>
                <a:ea typeface="Malgun Gothic"/>
                <a:cs typeface="Malgun Gothic"/>
              </a:defRPr>
            </a:pPr>
            <a:r>
              <a:rPr sz="960" b="0">
                <a:solidFill>
                  <a:srgbClr val="9CA3AF"/>
                </a:solidFill>
                <a:latin typeface="Malgun Gothic"/>
                <a:ea typeface="Malgun Gothic"/>
                <a:cs typeface="Malgun Gothic"/>
              </a:rPr>
              <a:t>06 / 06</a:t>
            </a:r>
          </a:p>
        </p:txBody>
      </p:sp>
      <p:sp>
        <p:nvSpPr>
          <p:cNvPr id="5" name="pipeline-lead">
            <a:extLst xmlns:a="http://schemas.openxmlformats.org/drawingml/2006/main">
              <a:ext uri="{FF2B5EF4-FFF2-40B4-BE49-F238E27FC236}">
                <a16:creationId xmlns:a16="http://schemas.microsoft.com/office/drawing/2014/main" id="{7BFD8E0A-B519-4A7B-B5B6-90D7FCAED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192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8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38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같은 데이터와 설정으로 다시 실행할 수 있어야 검색 품질을 비교할 수 있다.</a:t>
            </a:r>
          </a:p>
        </p:txBody>
      </p:sp>
      <p:sp>
        <p:nvSpPr>
          <p:cNvPr id="6" name="pipeline-1-box">
            <a:extLst xmlns:a="http://schemas.openxmlformats.org/drawingml/2006/main">
              <a:ext uri="{FF2B5EF4-FFF2-40B4-BE49-F238E27FC236}">
                <a16:creationId xmlns:a16="http://schemas.microsoft.com/office/drawing/2014/main" id="{7EFB3662-6698-43A5-8F9F-0710E9F53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24100"/>
            <a:ext cx="1714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4D4"/>
            </a:solidFill>
            <a:prstDash val="solid"/>
          </a:ln>
        </p:spPr>
      </p:sp>
      <p:sp>
        <p:nvSpPr>
          <p:cNvPr id="7" name="pipeline-1-title">
            <a:extLst xmlns:a="http://schemas.openxmlformats.org/drawingml/2006/main">
              <a:ext uri="{FF2B5EF4-FFF2-40B4-BE49-F238E27FC236}">
                <a16:creationId xmlns:a16="http://schemas.microsoft.com/office/drawing/2014/main" id="{5EBD76CF-7D65-4C5C-A57E-102113F2E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47925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입력 원문</a:t>
            </a:r>
          </a:p>
        </p:txBody>
      </p:sp>
      <p:sp>
        <p:nvSpPr>
          <p:cNvPr id="8" name="pipeline-1-subtitle">
            <a:extLst xmlns:a="http://schemas.openxmlformats.org/drawingml/2006/main">
              <a:ext uri="{FF2B5EF4-FFF2-40B4-BE49-F238E27FC236}">
                <a16:creationId xmlns:a16="http://schemas.microsoft.com/office/drawing/2014/main" id="{5374D1CE-5A8C-4A68-B70E-3522FB219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799588"/>
            <a:ext cx="1543050" cy="3817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60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pPr>
            <a:r>
              <a:rPr sz="960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같은 데이터</a:t>
            </a:r>
          </a:p>
        </p:txBody>
      </p:sp>
      <p:sp>
        <p:nvSpPr>
          <p:cNvPr id="9" name="pipeline-2-box">
            <a:extLst xmlns:a="http://schemas.openxmlformats.org/drawingml/2006/main">
              <a:ext uri="{FF2B5EF4-FFF2-40B4-BE49-F238E27FC236}">
                <a16:creationId xmlns:a16="http://schemas.microsoft.com/office/drawing/2014/main" id="{1367A616-44D7-4164-A1C8-F2ECE0F4A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324100"/>
            <a:ext cx="1714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4D4"/>
            </a:solidFill>
            <a:prstDash val="solid"/>
          </a:ln>
        </p:spPr>
      </p:sp>
      <p:sp>
        <p:nvSpPr>
          <p:cNvPr id="10" name="pipeline-2-title">
            <a:extLst xmlns:a="http://schemas.openxmlformats.org/drawingml/2006/main">
              <a:ext uri="{FF2B5EF4-FFF2-40B4-BE49-F238E27FC236}">
                <a16:creationId xmlns:a16="http://schemas.microsoft.com/office/drawing/2014/main" id="{1DFC07BA-305C-4FD7-ACFC-72441AEF6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447925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설정</a:t>
            </a:r>
          </a:p>
        </p:txBody>
      </p:sp>
      <p:sp>
        <p:nvSpPr>
          <p:cNvPr id="11" name="pipeline-2-subtitle">
            <a:extLst xmlns:a="http://schemas.openxmlformats.org/drawingml/2006/main">
              <a:ext uri="{FF2B5EF4-FFF2-40B4-BE49-F238E27FC236}">
                <a16:creationId xmlns:a16="http://schemas.microsoft.com/office/drawing/2014/main" id="{0D45C3B5-AFE4-4D9A-8B4E-E10A897BC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2799588"/>
            <a:ext cx="1543050" cy="3817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60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pPr>
            <a:r>
              <a:rPr sz="960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청크·모델·검색 방식</a:t>
            </a:r>
          </a:p>
        </p:txBody>
      </p:sp>
      <p:sp>
        <p:nvSpPr>
          <p:cNvPr id="12" name="pipeline-3-box">
            <a:extLst xmlns:a="http://schemas.openxmlformats.org/drawingml/2006/main">
              <a:ext uri="{FF2B5EF4-FFF2-40B4-BE49-F238E27FC236}">
                <a16:creationId xmlns:a16="http://schemas.microsoft.com/office/drawing/2014/main" id="{B69A7247-0973-48FD-986C-3BE0ACFB0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324100"/>
            <a:ext cx="1714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4D4"/>
            </a:solidFill>
            <a:prstDash val="solid"/>
          </a:ln>
        </p:spPr>
      </p:sp>
      <p:sp>
        <p:nvSpPr>
          <p:cNvPr id="13" name="pipeline-3-title">
            <a:extLst xmlns:a="http://schemas.openxmlformats.org/drawingml/2006/main">
              <a:ext uri="{FF2B5EF4-FFF2-40B4-BE49-F238E27FC236}">
                <a16:creationId xmlns:a16="http://schemas.microsoft.com/office/drawing/2014/main" id="{DF283A9E-0871-4F49-8B10-102E3FB11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447925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통합 실행</a:t>
            </a:r>
          </a:p>
        </p:txBody>
      </p:sp>
      <p:sp>
        <p:nvSpPr>
          <p:cNvPr id="14" name="pipeline-3-subtitle">
            <a:extLst xmlns:a="http://schemas.openxmlformats.org/drawingml/2006/main">
              <a:ext uri="{FF2B5EF4-FFF2-40B4-BE49-F238E27FC236}">
                <a16:creationId xmlns:a16="http://schemas.microsoft.com/office/drawing/2014/main" id="{522B5478-852F-405E-8E11-6E8E5B83B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2799588"/>
            <a:ext cx="1543050" cy="3817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60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pPr>
            <a:r>
              <a:rPr sz="960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파싱부터 색인까지</a:t>
            </a:r>
          </a:p>
        </p:txBody>
      </p:sp>
      <p:sp>
        <p:nvSpPr>
          <p:cNvPr id="15" name="pipeline-4-box">
            <a:extLst xmlns:a="http://schemas.openxmlformats.org/drawingml/2006/main">
              <a:ext uri="{FF2B5EF4-FFF2-40B4-BE49-F238E27FC236}">
                <a16:creationId xmlns:a16="http://schemas.microsoft.com/office/drawing/2014/main" id="{6D6C7EB3-0D67-46F3-811B-81925C962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324100"/>
            <a:ext cx="1714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4D4"/>
            </a:solidFill>
            <a:prstDash val="solid"/>
          </a:ln>
        </p:spPr>
      </p:sp>
      <p:sp>
        <p:nvSpPr>
          <p:cNvPr id="16" name="pipeline-4-title">
            <a:extLst xmlns:a="http://schemas.openxmlformats.org/drawingml/2006/main">
              <a:ext uri="{FF2B5EF4-FFF2-40B4-BE49-F238E27FC236}">
                <a16:creationId xmlns:a16="http://schemas.microsoft.com/office/drawing/2014/main" id="{F542FF81-3E53-47DF-A337-30CC52349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447925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검색 API</a:t>
            </a:r>
          </a:p>
        </p:txBody>
      </p:sp>
      <p:sp>
        <p:nvSpPr>
          <p:cNvPr id="17" name="pipeline-4-subtitle">
            <a:extLst xmlns:a="http://schemas.openxmlformats.org/drawingml/2006/main">
              <a:ext uri="{FF2B5EF4-FFF2-40B4-BE49-F238E27FC236}">
                <a16:creationId xmlns:a16="http://schemas.microsoft.com/office/drawing/2014/main" id="{526B9A7F-B124-4569-82BD-F648718D7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2799588"/>
            <a:ext cx="1543050" cy="3817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60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pPr>
            <a:r>
              <a:rPr sz="960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같은 요청 반복</a:t>
            </a:r>
          </a:p>
        </p:txBody>
      </p:sp>
      <p:sp>
        <p:nvSpPr>
          <p:cNvPr id="18" name="pipeline-5-box">
            <a:extLst xmlns:a="http://schemas.openxmlformats.org/drawingml/2006/main">
              <a:ext uri="{FF2B5EF4-FFF2-40B4-BE49-F238E27FC236}">
                <a16:creationId xmlns:a16="http://schemas.microsoft.com/office/drawing/2014/main" id="{B001011E-8BC4-4E5A-9B47-3534A0DD9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324100"/>
            <a:ext cx="21907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8E5FC"/>
          </a:solidFill>
          <a:ln xmlns:a="http://schemas.openxmlformats.org/drawingml/2006/main" w="19050">
            <a:solidFill>
              <a:srgbClr val="4633E3"/>
            </a:solidFill>
            <a:prstDash val="solid"/>
          </a:ln>
        </p:spPr>
      </p:sp>
      <p:sp>
        <p:nvSpPr>
          <p:cNvPr id="19" name="pipeline-5-title">
            <a:extLst xmlns:a="http://schemas.openxmlformats.org/drawingml/2006/main">
              <a:ext uri="{FF2B5EF4-FFF2-40B4-BE49-F238E27FC236}">
                <a16:creationId xmlns:a16="http://schemas.microsoft.com/office/drawing/2014/main" id="{1FB6A403-4871-4354-BE20-A8A3EA65E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447925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2E1FB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2E1FB3"/>
                </a:solidFill>
                <a:latin typeface="Malgun Gothic"/>
                <a:ea typeface="Malgun Gothic"/>
                <a:cs typeface="Malgun Gothic"/>
              </a:rPr>
              <a:t>평가 Notebook</a:t>
            </a:r>
          </a:p>
        </p:txBody>
      </p:sp>
      <p:sp>
        <p:nvSpPr>
          <p:cNvPr id="20" name="pipeline-5-subtitle">
            <a:extLst xmlns:a="http://schemas.openxmlformats.org/drawingml/2006/main">
              <a:ext uri="{FF2B5EF4-FFF2-40B4-BE49-F238E27FC236}">
                <a16:creationId xmlns:a16="http://schemas.microsoft.com/office/drawing/2014/main" id="{F0DCAE8F-CFC1-4DD3-9C39-2E9109CF4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799588"/>
            <a:ext cx="2019300" cy="3817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60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pPr>
            <a:r>
              <a:rPr sz="960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결과와 지표 비교</a:t>
            </a:r>
          </a:p>
        </p:txBody>
      </p:sp>
      <p:cxnSp>
        <p:nvCxnSpPr>
          <p:cNvPr id="55" name=""/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2247900" y="2781300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D4D4D4"/>
            </a:solidFill>
            <a:prstDash val="solid"/>
            <a:tailEnd type="triangle" w="sm" len="sm"/>
          </a:ln>
        </p:spPr>
      </p:cxnSp>
      <p:cxnSp>
        <p:nvCxnSpPr>
          <p:cNvPr id="56" name=""/>
          <p:cNvCxnSpPr>
            <a:stCxn xmlns:a="http://schemas.openxmlformats.org/drawingml/2006/main" id="9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4362450" y="2781300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D4D4D4"/>
            </a:solidFill>
            <a:prstDash val="solid"/>
            <a:tailEnd type="triangle" w="sm" len="sm"/>
          </a:ln>
        </p:spPr>
      </p:cxnSp>
      <p:cxnSp>
        <p:nvCxnSpPr>
          <p:cNvPr id="57" name=""/>
          <p:cNvCxnSpPr>
            <a:stCxn xmlns:a="http://schemas.openxmlformats.org/drawingml/2006/main" id="12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477000" y="2781300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D4D4D4"/>
            </a:solidFill>
            <a:prstDash val="solid"/>
            <a:tailEnd type="triangle" w="sm" len="sm"/>
          </a:ln>
        </p:spPr>
      </p:cxnSp>
      <p:cxnSp>
        <p:nvCxnSpPr>
          <p:cNvPr id="58" name=""/>
          <p:cNvCxnSpPr>
            <a:stCxn xmlns:a="http://schemas.openxmlformats.org/drawingml/2006/main" id="15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8591550" y="2781300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D4D4D4"/>
            </a:solidFill>
            <a:prstDash val="solid"/>
            <a:tailEnd type="triangle" w="sm" len="sm"/>
          </a:ln>
        </p:spPr>
      </p:cxnSp>
      <p:sp>
        <p:nvSpPr>
          <p:cNvPr id="25" name="experiment-divider">
            <a:extLst xmlns:a="http://schemas.openxmlformats.org/drawingml/2006/main">
              <a:ext uri="{FF2B5EF4-FFF2-40B4-BE49-F238E27FC236}">
                <a16:creationId xmlns:a16="http://schemas.microsoft.com/office/drawing/2014/main" id="{685A0280-C822-4B63-879C-C7DF2CA17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14750"/>
            <a:ext cx="10648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E5E7EB"/>
            </a:solidFill>
          </a:ln>
        </p:spPr>
      </p:sp>
      <p:sp>
        <p:nvSpPr>
          <p:cNvPr id="26" name="experiment-a-label">
            <a:extLst xmlns:a="http://schemas.openxmlformats.org/drawingml/2006/main">
              <a:ext uri="{FF2B5EF4-FFF2-40B4-BE49-F238E27FC236}">
                <a16:creationId xmlns:a16="http://schemas.microsoft.com/office/drawing/2014/main" id="{8FE7E1B6-599D-4AE5-BAF0-AE3C8364A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38600"/>
            <a:ext cx="914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40" b="1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pPr>
            <a:r>
              <a:rPr sz="1140" b="1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실험 A</a:t>
            </a:r>
          </a:p>
        </p:txBody>
      </p:sp>
      <p:sp>
        <p:nvSpPr>
          <p:cNvPr id="27" name="experiment-a">
            <a:extLst xmlns:a="http://schemas.openxmlformats.org/drawingml/2006/main">
              <a:ext uri="{FF2B5EF4-FFF2-40B4-BE49-F238E27FC236}">
                <a16:creationId xmlns:a16="http://schemas.microsoft.com/office/drawing/2014/main" id="{E6419494-9FC3-4E38-B9FD-90D2DFA3F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0386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8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38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BM25 검색</a:t>
            </a:r>
          </a:p>
        </p:txBody>
      </p:sp>
      <p:sp>
        <p:nvSpPr>
          <p:cNvPr id="28" name="experiment-a-result">
            <a:extLst xmlns:a="http://schemas.openxmlformats.org/drawingml/2006/main">
              <a:ext uri="{FF2B5EF4-FFF2-40B4-BE49-F238E27FC236}">
                <a16:creationId xmlns:a16="http://schemas.microsoft.com/office/drawing/2014/main" id="{DD7E8492-756A-4DBD-A6EE-7BC27EB76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0386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40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pPr>
            <a:r>
              <a:rPr sz="1140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결과 A와 평가 지표를 저장</a:t>
            </a:r>
          </a:p>
        </p:txBody>
      </p:sp>
      <p:sp>
        <p:nvSpPr>
          <p:cNvPr id="29" name="experiment-a-rule">
            <a:extLst xmlns:a="http://schemas.openxmlformats.org/drawingml/2006/main">
              <a:ext uri="{FF2B5EF4-FFF2-40B4-BE49-F238E27FC236}">
                <a16:creationId xmlns:a16="http://schemas.microsoft.com/office/drawing/2014/main" id="{9B90161C-C4CA-49B0-A4F7-A1C5F07C4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19600"/>
            <a:ext cx="10648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E5E7EB"/>
            </a:solidFill>
          </a:ln>
        </p:spPr>
      </p:sp>
      <p:sp>
        <p:nvSpPr>
          <p:cNvPr id="30" name="experiment-b-label">
            <a:extLst xmlns:a="http://schemas.openxmlformats.org/drawingml/2006/main">
              <a:ext uri="{FF2B5EF4-FFF2-40B4-BE49-F238E27FC236}">
                <a16:creationId xmlns:a16="http://schemas.microsoft.com/office/drawing/2014/main" id="{C0679387-DE29-4BCF-8DFF-4915CCE5D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48200"/>
            <a:ext cx="914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40" b="1">
                <a:solidFill>
                  <a:srgbClr val="2E1FB3"/>
                </a:solidFill>
                <a:latin typeface="Malgun Gothic"/>
                <a:ea typeface="Malgun Gothic"/>
                <a:cs typeface="Malgun Gothic"/>
              </a:defRPr>
            </a:pPr>
            <a:r>
              <a:rPr sz="1140" b="1">
                <a:solidFill>
                  <a:srgbClr val="2E1FB3"/>
                </a:solidFill>
                <a:latin typeface="Malgun Gothic"/>
                <a:ea typeface="Malgun Gothic"/>
                <a:cs typeface="Malgun Gothic"/>
              </a:rPr>
              <a:t>실험 B</a:t>
            </a:r>
          </a:p>
        </p:txBody>
      </p:sp>
      <p:sp>
        <p:nvSpPr>
          <p:cNvPr id="31" name="experiment-b">
            <a:extLst xmlns:a="http://schemas.openxmlformats.org/drawingml/2006/main">
              <a:ext uri="{FF2B5EF4-FFF2-40B4-BE49-F238E27FC236}">
                <a16:creationId xmlns:a16="http://schemas.microsoft.com/office/drawing/2014/main" id="{D64E7788-ED80-45E5-B191-3C2140D37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6482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80" b="1">
                <a:solidFill>
                  <a:srgbClr val="2E1FB3"/>
                </a:solidFill>
                <a:latin typeface="Malgun Gothic"/>
                <a:ea typeface="Malgun Gothic"/>
                <a:cs typeface="Malgun Gothic"/>
              </a:defRPr>
            </a:pPr>
            <a:r>
              <a:rPr sz="1380" b="1">
                <a:solidFill>
                  <a:srgbClr val="2E1FB3"/>
                </a:solidFill>
                <a:latin typeface="Malgun Gothic"/>
                <a:ea typeface="Malgun Gothic"/>
                <a:cs typeface="Malgun Gothic"/>
              </a:rPr>
              <a:t>BM25 + kNN 하이브리드 검색</a:t>
            </a:r>
          </a:p>
        </p:txBody>
      </p:sp>
      <p:sp>
        <p:nvSpPr>
          <p:cNvPr id="32" name="experiment-b-result">
            <a:extLst xmlns:a="http://schemas.openxmlformats.org/drawingml/2006/main">
              <a:ext uri="{FF2B5EF4-FFF2-40B4-BE49-F238E27FC236}">
                <a16:creationId xmlns:a16="http://schemas.microsoft.com/office/drawing/2014/main" id="{FB871A57-20AE-4EA8-B49C-8CFA84CB5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464820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40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pPr>
            <a:r>
              <a:rPr sz="1140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결과 B와 지표를 A와 비교</a:t>
            </a:r>
          </a:p>
        </p:txBody>
      </p:sp>
      <p:sp>
        <p:nvSpPr>
          <p:cNvPr id="33" name="experiment-b-rule">
            <a:extLst xmlns:a="http://schemas.openxmlformats.org/drawingml/2006/main">
              <a:ext uri="{FF2B5EF4-FFF2-40B4-BE49-F238E27FC236}">
                <a16:creationId xmlns:a16="http://schemas.microsoft.com/office/drawing/2014/main" id="{DEA813AD-D821-48F4-9C9E-43EB04F16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29200"/>
            <a:ext cx="10648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33E3"/>
          </a:solidFill>
          <a:ln xmlns:a="http://schemas.openxmlformats.org/drawingml/2006/main" w="0">
            <a:solidFill>
              <a:srgbClr val="4633E3"/>
            </a:solidFill>
          </a:ln>
        </p:spPr>
      </p:sp>
      <p:sp>
        <p:nvSpPr>
          <p:cNvPr id="34" name="pipeline-close">
            <a:extLst xmlns:a="http://schemas.openxmlformats.org/drawingml/2006/main">
              <a:ext uri="{FF2B5EF4-FFF2-40B4-BE49-F238E27FC236}">
                <a16:creationId xmlns:a16="http://schemas.microsoft.com/office/drawing/2014/main" id="{7CA20874-63DE-4102-AF91-9D1AF1DF3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14950"/>
            <a:ext cx="10648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파이프라인이 있으면 오류가 난 단계도 추적하고, 개선된 설정을 팀이 그대로 재현할 수 있다.</a:t>
            </a:r>
          </a:p>
        </p:txBody>
      </p:sp>
    </p:spTree>
    <p:extLst>
      <p:ext uri="{BB962C8B-B14F-4D97-AF65-F5344CB8AC3E}">
        <p14:creationId xmlns:p14="http://schemas.microsoft.com/office/powerpoint/2010/main" val="117205244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2026-09-09T15:20:03.0300000Z</dcterms:created>
  <dcterms:modified xsi:type="dcterms:W3CDTF">2026-09-09T15:20:03.0300000Z</dcterms:modified>
</coreProperties>
</file>